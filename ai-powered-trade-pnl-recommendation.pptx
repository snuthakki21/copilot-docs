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033" autoAdjust="0"/>
  </p:normalViewPr>
  <p:slideViewPr>
    <p:cSldViewPr snapToGrid="0">
      <p:cViewPr varScale="1">
        <p:scale>
          <a:sx n="59" d="100"/>
          <a:sy n="59" d="100"/>
        </p:scale>
        <p:origin x="158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 business context and framing</a:t>
            </a:r>
          </a:p>
          <a:p>
            <a:r>
              <a:t>Target time: 0:45</a:t>
            </a:r>
          </a:p>
          <a:p>
            <a:r>
              <a:t>Audience takeaway: We are presenting a governed AI solution that makes complex trade P&amp;L data easier to investigate and explain.</a:t>
            </a:r>
          </a:p>
          <a:p>
            <a:endParaRPr/>
          </a:p>
          <a:p>
            <a:r>
              <a:t>Plain-English context and definitions:</a:t>
            </a:r>
          </a:p>
          <a:p>
            <a:r>
              <a:t>• P&amp;L means profit and loss generated by trading positions.</a:t>
            </a:r>
          </a:p>
          <a:p>
            <a:r>
              <a:t>• Governed means the assistant works through bounded, read-only, auditable tools rather than unrestricted database access.</a:t>
            </a:r>
          </a:p>
          <a:p>
            <a:endParaRPr/>
          </a:p>
          <a:p>
            <a:r>
              <a:t>Talk-through points:</a:t>
            </a:r>
          </a:p>
          <a:p>
            <a:r>
              <a:t>• Introduce the platform name and the LEAP team. Replace the team label with the six names before presenting if the group wants names on the title slide.</a:t>
            </a:r>
          </a:p>
          <a:p>
            <a:r>
              <a:t>• State the goal in one sentence: help trading, risk, finance, and profitability users investigate P&amp;L questions through natural language and governed analytics.</a:t>
            </a:r>
          </a:p>
          <a:p>
            <a:r>
              <a:t>• Preview the story: first the business problem, then the proposed experience, the technical design, the controls, the expected value, and the improvements that strengthen reuse.</a:t>
            </a:r>
          </a:p>
          <a:p>
            <a:r>
              <a:t>• Set the audience expectation that this is a technical recommendation being reviewed for creativity and feasibility; the discussion is intended to improve the solution.</a:t>
            </a:r>
          </a:p>
          <a:p>
            <a:endParaRPr/>
          </a:p>
          <a:p>
            <a:r>
              <a:t>Concrete example: A user can ask, ‘What drove today’s P&amp;L movement for this book?’ and the solution can discover the relevant data and return structured analytical results.</a:t>
            </a:r>
          </a:p>
          <a:p>
            <a:endParaRPr/>
          </a:p>
          <a:p>
            <a:r>
              <a:t>Why this slide matters: A minimal opening lets the audience understand what the team built before introducing P&amp;L terminology or architecture.</a:t>
            </a:r>
          </a:p>
          <a:p>
            <a:endParaRPr/>
          </a:p>
          <a:p>
            <a:r>
              <a:t>Likely principal-engineer questions and answer prompts:</a:t>
            </a:r>
          </a:p>
          <a:p>
            <a:r>
              <a:t>1. Question: What exactly is the team proposing?</a:t>
            </a:r>
          </a:p>
          <a:p>
            <a:r>
              <a:t>   Answer: A natural-language analysis layer over governed MCP tools that query commodities P&amp;L, trade, taxonomy, and risk data through DuckDB and Parquet.</a:t>
            </a:r>
          </a:p>
          <a:p>
            <a:r>
              <a:t>2. Question: Is the AI making trading or accounting decisions?</a:t>
            </a:r>
          </a:p>
          <a:p>
            <a:r>
              <a:t>   Answer: No. The AI interprets the question and coordinates tools; it supports analyst investigation and review.</a:t>
            </a:r>
          </a:p>
          <a:p>
            <a:r>
              <a:t>3. Question: Who is the intended user?</a:t>
            </a:r>
          </a:p>
          <a:p>
            <a:r>
              <a:t>   Answer: Trading, risk, finance, profitability, and analytical users who need faster access to P&amp;L context without direct database access.</a:t>
            </a:r>
          </a:p>
          <a:p>
            <a:endParaRPr/>
          </a:p>
          <a:p>
            <a:r>
              <a:t>Boundaries and preparation notes:</a:t>
            </a:r>
          </a:p>
          <a:p>
            <a:r>
              <a:t>• Do not begin with architecture detail; keep this opening under one minute.</a:t>
            </a:r>
          </a:p>
          <a:p>
            <a:r>
              <a:t>• Do not describe measured benefits. The deck presents intended value and the technical design.</a:t>
            </a:r>
          </a:p>
          <a:p>
            <a:endParaRPr/>
          </a:p>
          <a:p>
            <a:r>
              <a:t>Handoff: To understand why this solution matters, start with the daily investigation problem it addresses.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 business context and framing</a:t>
            </a:r>
          </a:p>
          <a:p>
            <a:r>
              <a:t>Target time: 4:15</a:t>
            </a:r>
          </a:p>
          <a:p>
            <a:r>
              <a:t>Audience takeaway: Daily P&amp;L explanation is difficult because the answer depends on several datasets, versions, dates, and business relationships—not because the question itself is complicated.</a:t>
            </a:r>
          </a:p>
          <a:p>
            <a:endParaRPr/>
          </a:p>
          <a:p>
            <a:r>
              <a:t>Plain-English context and definitions:</a:t>
            </a:r>
          </a:p>
          <a:p>
            <a:r>
              <a:t>• P&amp;L is the profit or loss generated by trading positions over a period.</a:t>
            </a:r>
          </a:p>
          <a:p>
            <a:r>
              <a:t>• A position is the amount of an instrument or exposure currently held.</a:t>
            </a:r>
          </a:p>
          <a:p>
            <a:r>
              <a:t>• Risk data describes how the value may change when a market input changes.</a:t>
            </a:r>
          </a:p>
          <a:p>
            <a:r>
              <a:t>• Taxonomy is the hierarchy that organizes books within desks, groups, or businesses.</a:t>
            </a:r>
          </a:p>
          <a:p>
            <a:endParaRPr/>
          </a:p>
          <a:p>
            <a:r>
              <a:t>Talk-through points:</a:t>
            </a:r>
          </a:p>
          <a:p>
            <a:r>
              <a:t>• Start with the center question: ‘Why did today’s P&amp;L move?’ It sounds simple, but no single dataset normally contains the complete answer.</a:t>
            </a:r>
          </a:p>
          <a:p>
            <a:r>
              <a:t>• P&amp;L data tells us the amount and the reporting view, but the analyst still needs the correct version and business date.</a:t>
            </a:r>
          </a:p>
          <a:p>
            <a:r>
              <a:t>• Trades and positions show the activity and exposures that may have contributed. Market data supplies price, volatility, rate, or curve movement. Risk data supplies sensitivities. Taxonomy places the activity in the correct book and desk hierarchy.</a:t>
            </a:r>
          </a:p>
          <a:p>
            <a:r>
              <a:t>• The manual effort is locating the right dataset, understanding its grain, choosing valid dates and join keys, and reconciling differences before an explanation can be trusted.</a:t>
            </a:r>
          </a:p>
          <a:p>
            <a:r>
              <a:t>• This affects more than traders. Risk managers, finance teams, profitability teams, and analysts all need consistent answers and supporting context.</a:t>
            </a:r>
          </a:p>
          <a:p>
            <a:r>
              <a:t>• Avoid asserting a specific time saving. The supported claim is that the current process requires substantial discovery and ad hoc setup, which the solution is designed to reduce.</a:t>
            </a:r>
          </a:p>
          <a:p>
            <a:endParaRPr/>
          </a:p>
          <a:p>
            <a:r>
              <a:t>Concrete example: A book shows a large positive movement. The analyst may need the book-level flash explanation, individual trade changes, the commodity-price move, and the desk hierarchy before the movement can be explained.</a:t>
            </a:r>
          </a:p>
          <a:p>
            <a:endParaRPr/>
          </a:p>
          <a:p>
            <a:r>
              <a:t>Why this slide matters: Principal engineers need the business problem before they can evaluate whether the technical choices are proportional, useful, and feasible.</a:t>
            </a:r>
          </a:p>
          <a:p>
            <a:endParaRPr/>
          </a:p>
          <a:p>
            <a:r>
              <a:t>Likely principal-engineer questions and answer prompts:</a:t>
            </a:r>
          </a:p>
          <a:p>
            <a:r>
              <a:t>1. Question: Is this primarily a data problem or an AI problem?</a:t>
            </a:r>
          </a:p>
          <a:p>
            <a:r>
              <a:t>   Answer: It is a data-access and analysis-orchestration problem. AI improves the interface and tool selection, but reliable data definitions and controlled queries remain essential.</a:t>
            </a:r>
          </a:p>
          <a:p>
            <a:r>
              <a:t>2. Question: Could a dashboard solve this?</a:t>
            </a:r>
          </a:p>
          <a:p>
            <a:r>
              <a:t>   Answer: A dashboard is effective for predefined questions. P&amp;L investigations often branch based on what the analyst finds, so the solution also needs discovery, exploration, and flexible aggregation.</a:t>
            </a:r>
          </a:p>
          <a:p>
            <a:r>
              <a:t>3. Question: What is the critical business risk in the current process?</a:t>
            </a:r>
          </a:p>
          <a:p>
            <a:r>
              <a:t>   Answer: The key concern is inconsistent or slow investigation caused by context switching, manual schema discovery, and wrong-dataset or wrong-join choices.</a:t>
            </a:r>
          </a:p>
          <a:p>
            <a:r>
              <a:t>4. Question: Which users benefit first?</a:t>
            </a:r>
          </a:p>
          <a:p>
            <a:r>
              <a:t>   Answer: Users who repeatedly investigate daily P&amp;L movements and need book-, trade-, market-, or risk-level context.</a:t>
            </a:r>
          </a:p>
          <a:p>
            <a:endParaRPr/>
          </a:p>
          <a:p>
            <a:r>
              <a:t>Boundaries and preparation notes:</a:t>
            </a:r>
          </a:p>
          <a:p>
            <a:r>
              <a:t>• Do not imply that every source system is already integrated. The architecture shown later uses ingested, date-partitioned Parquet data.</a:t>
            </a:r>
          </a:p>
          <a:p>
            <a:r>
              <a:t>• Do not claim real-time operation; use intraday or same-day analysis when discussing the early P&amp;L view.</a:t>
            </a:r>
          </a:p>
          <a:p>
            <a:endParaRPr/>
          </a:p>
          <a:p>
            <a:r>
              <a:t>Handoff: The next two slides show how that one question becomes a chain of work—and how the solution reorganizes that work around the analyst’s question.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 investigation workflow and proposed experience</a:t>
            </a:r>
          </a:p>
          <a:p>
            <a:r>
              <a:t>Target time: 1:30</a:t>
            </a:r>
          </a:p>
          <a:p>
            <a:r>
              <a:t>Audience takeaway: The difficult part of P&amp;L investigation is the chain of discovery, enrichment, and checking that sits between noticing a movement and explaining it.</a:t>
            </a:r>
          </a:p>
          <a:p>
            <a:endParaRPr/>
          </a:p>
          <a:p>
            <a:r>
              <a:t>Plain-English context and definitions:</a:t>
            </a:r>
          </a:p>
          <a:p>
            <a:r>
              <a:t>• A movement is the change in P&amp;L between the compared business periods or views.</a:t>
            </a:r>
          </a:p>
          <a:p>
            <a:r>
              <a:t>• A book is a group of trades managed together.</a:t>
            </a:r>
          </a:p>
          <a:p>
            <a:r>
              <a:t>• A driver is a factor that contributed to the movement.</a:t>
            </a:r>
          </a:p>
          <a:p>
            <a:r>
              <a:t>• Reconciliation means checking that related values agree or understanding why they differ.</a:t>
            </a:r>
          </a:p>
          <a:p>
            <a:endParaRPr/>
          </a:p>
          <a:p>
            <a:r>
              <a:t>Talk-through points:</a:t>
            </a:r>
          </a:p>
          <a:p>
            <a:r>
              <a:t>• Walk from left to right. The analyst first notices a movement, then decides which P&amp;L view is appropriate for the question.</a:t>
            </a:r>
          </a:p>
          <a:p>
            <a:r>
              <a:t>• Next the analyst locates the relevant book and individual trades, adds market and risk context, checks differences, and finally explains the contributing drivers.</a:t>
            </a:r>
          </a:p>
          <a:p>
            <a:r>
              <a:t>• The chain is iterative. A finding at the trade level can send the analyst back to a different date, dataset, or market factor.</a:t>
            </a:r>
          </a:p>
          <a:p>
            <a:r>
              <a:t>• Three recurring sources of friction are visible: moving between contexts, selecting the correct dataset and join key, and repeating setup for similar questions.</a:t>
            </a:r>
          </a:p>
          <a:p>
            <a:r>
              <a:t>• The business need is therefore not only a faster SQL query. It is a consistent way to discover, select, execute, and explain the analysis.</a:t>
            </a:r>
          </a:p>
          <a:p>
            <a:endParaRPr/>
          </a:p>
          <a:p>
            <a:r>
              <a:t>Concrete example: If a movement appears at book level, the analyst may drill to trades, discover an amended transaction, then compare the market move and risk sensitivity before explaining the remaining difference.</a:t>
            </a:r>
          </a:p>
          <a:p>
            <a:endParaRPr/>
          </a:p>
          <a:p>
            <a:r>
              <a:t>Why this slide matters: This workflow establishes the design requirements for the solution: schema discovery, domain guidance, controlled analysis, and structured results.</a:t>
            </a:r>
          </a:p>
          <a:p>
            <a:endParaRPr/>
          </a:p>
          <a:p>
            <a:r>
              <a:t>Likely principal-engineer questions and answer prompts:</a:t>
            </a:r>
          </a:p>
          <a:p>
            <a:r>
              <a:t>1. Question: Which step creates the most risk of an incorrect answer?</a:t>
            </a:r>
          </a:p>
          <a:p>
            <a:r>
              <a:t>   Answer: Dataset and join selection is a major risk because similar data can exist at different grains or for different P&amp;L versions.</a:t>
            </a:r>
          </a:p>
          <a:p>
            <a:r>
              <a:t>2. Question: Can the investigation be fully automated?</a:t>
            </a:r>
          </a:p>
          <a:p>
            <a:r>
              <a:t>   Answer: The solution can automate discovery and analytical steps, but the analyst still interprets the business context and reviews the result.</a:t>
            </a:r>
          </a:p>
          <a:p>
            <a:r>
              <a:t>3. Question: How is reconciliation handled?</a:t>
            </a:r>
          </a:p>
          <a:p>
            <a:r>
              <a:t>   Answer: The current solution supports analytical comparison through queries. A separate formal reconciliation service is not part of the documented design.</a:t>
            </a:r>
          </a:p>
          <a:p>
            <a:endParaRPr/>
          </a:p>
          <a:p>
            <a:r>
              <a:t>Boundaries and preparation notes:</a:t>
            </a:r>
          </a:p>
          <a:p>
            <a:r>
              <a:t>• Do not describe the final explanation as automatically certified or formally reconciled.</a:t>
            </a:r>
          </a:p>
          <a:p>
            <a:r>
              <a:t>• Emphasize that the workflow can branch; the diagram is the common path, not every possible investigation.</a:t>
            </a:r>
          </a:p>
          <a:p>
            <a:endParaRPr/>
          </a:p>
          <a:p>
            <a:r>
              <a:t>Handoff: The proposed solution keeps this sequence but gives the analyst one governed interface for moving through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 investigation workflow and proposed experience</a:t>
            </a:r>
          </a:p>
          <a:p>
            <a:r>
              <a:t>Target time: 3:30</a:t>
            </a:r>
          </a:p>
          <a:p>
            <a:r>
              <a:t>Audience takeaway: The solution gives the analyst one natural-language interface while keeping data access and query execution inside governed analytical tools.</a:t>
            </a:r>
          </a:p>
          <a:p>
            <a:endParaRPr/>
          </a:p>
          <a:p>
            <a:r>
              <a:t>Plain-English context and definitions:</a:t>
            </a:r>
          </a:p>
          <a:p>
            <a:r>
              <a:t>• An LLM is the language model that interprets the user’s intent and coordinates tool calls.</a:t>
            </a:r>
          </a:p>
          <a:p>
            <a:r>
              <a:t>• MCP, or Model Context Protocol, is the interface used to expose structured tools to the assistant.</a:t>
            </a:r>
          </a:p>
          <a:p>
            <a:r>
              <a:t>• A structured result is data returned in a predictable format that the assistant and analyst can inspect.</a:t>
            </a:r>
          </a:p>
          <a:p>
            <a:endParaRPr/>
          </a:p>
          <a:p>
            <a:r>
              <a:t>Talk-through points:</a:t>
            </a:r>
          </a:p>
          <a:p>
            <a:r>
              <a:t>• Begin with the question on the left. The user describes the business problem in ordinary language rather than first locating a database and writing a query.</a:t>
            </a:r>
          </a:p>
          <a:p>
            <a:r>
              <a:t>• The middle is the key design choice: the LLM does not receive unrestricted data access. It selects from registered MCP tools for discovery, exploration, and analysis.</a:t>
            </a:r>
          </a:p>
          <a:p>
            <a:r>
              <a:t>• FastMCP exposes those tools. DuckDB performs analytical SQL over the relevant Parquet data. The result is returned in a structured form for explanation and analyst review.</a:t>
            </a:r>
          </a:p>
          <a:p>
            <a:r>
              <a:t>• Separate responsibilities clearly: the language model interprets intent, tools define the allowed capabilities, and the analytical engine executes the query.</a:t>
            </a:r>
          </a:p>
          <a:p>
            <a:r>
              <a:t>• This design supports both exploratory questions and repeatable analytics while keeping the raw database boundary out of the conversational layer.</a:t>
            </a:r>
          </a:p>
          <a:p>
            <a:endParaRPr/>
          </a:p>
          <a:p>
            <a:r>
              <a:t>Concrete example: For the question shown, the assistant can first list candidate datasets, inspect fields and dates, then use a bounded aggregation or read-only SQL query to return supporting rows and summaries.</a:t>
            </a:r>
          </a:p>
          <a:p>
            <a:endParaRPr/>
          </a:p>
          <a:p>
            <a:r>
              <a:t>Why this slide matters: This is the bridge between the business problem and the technical design; it explains what the AI contributes and what remains deterministic analytical execution.</a:t>
            </a:r>
          </a:p>
          <a:p>
            <a:endParaRPr/>
          </a:p>
          <a:p>
            <a:r>
              <a:t>Likely principal-engineer questions and answer prompts:</a:t>
            </a:r>
          </a:p>
          <a:p>
            <a:r>
              <a:t>1. Question: How do we prevent the model from inventing a calculation?</a:t>
            </a:r>
          </a:p>
          <a:p>
            <a:r>
              <a:t>   Answer: The model coordinates defined tools and receives structured data. Analytical calculations are performed through DuckDB queries or bounded analytics functions, not generated as unsupported narrative.</a:t>
            </a:r>
          </a:p>
          <a:p>
            <a:r>
              <a:t>2. Question: Why use MCP?</a:t>
            </a:r>
          </a:p>
          <a:p>
            <a:r>
              <a:t>   Answer: MCP provides a structured interface for registering discoverable tools with explicit parameters and responses, which is better suited to governed agent workflows than free-form database access.</a:t>
            </a:r>
          </a:p>
          <a:p>
            <a:r>
              <a:t>3. Question: What happens when the requested data does not exist?</a:t>
            </a:r>
          </a:p>
          <a:p>
            <a:r>
              <a:t>   Answer: The tool should return a clear error or empty result. More complete tool-response tests are one of the documented improvements.</a:t>
            </a:r>
          </a:p>
          <a:p>
            <a:endParaRPr/>
          </a:p>
          <a:p>
            <a:r>
              <a:t>Boundaries and preparation notes:</a:t>
            </a:r>
          </a:p>
          <a:p>
            <a:r>
              <a:t>• Do not imply that the LLM itself is a pricing engine or system of record.</a:t>
            </a:r>
          </a:p>
          <a:p>
            <a:r>
              <a:t>• Describe the returned output as structured analytical results and supporting context, not a certified explanation.</a:t>
            </a:r>
          </a:p>
          <a:p>
            <a:endParaRPr/>
          </a:p>
          <a:p>
            <a:r>
              <a:t>Handoff: Before going deeper into implementation, the next slide shows the outcome the design is intended to create and how the team would evaluate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3 — value and P&amp;L semantics</a:t>
            </a:r>
          </a:p>
          <a:p>
            <a:r>
              <a:t>Target time: 2:30</a:t>
            </a:r>
          </a:p>
          <a:p>
            <a:r>
              <a:t>Audience takeaway: The solution is valuable because it reduces investigation friction for users while giving engineers a modular and governed alternative to unrestricted database access.</a:t>
            </a:r>
          </a:p>
          <a:p>
            <a:endParaRPr/>
          </a:p>
          <a:p>
            <a:r>
              <a:t>Plain-English context and definitions:</a:t>
            </a:r>
          </a:p>
          <a:p>
            <a:r>
              <a:t>• Exploratory analysis answers changing questions as new findings emerge.</a:t>
            </a:r>
          </a:p>
          <a:p>
            <a:r>
              <a:t>• Repeatable analytics uses defined tools and query patterns that can be run consistently for common questions.</a:t>
            </a:r>
          </a:p>
          <a:p>
            <a:r>
              <a:t>• Response completeness means the result includes the data and context needed to understand its scope and limitations.</a:t>
            </a:r>
          </a:p>
          <a:p>
            <a:endParaRPr/>
          </a:p>
          <a:p>
            <a:r>
              <a:t>Talk-through points:</a:t>
            </a:r>
          </a:p>
          <a:p>
            <a:r>
              <a:t>• On the business side, natural-language access can reduce the effort of finding schemas and preparing ad hoc queries for complex commodities datasets.</a:t>
            </a:r>
          </a:p>
          <a:p>
            <a:r>
              <a:t>• The combination of discovery, exploration, and analytics supports both open-ended investigation and reusable question patterns.</a:t>
            </a:r>
          </a:p>
          <a:p>
            <a:r>
              <a:t>• Domain-specific guidance about P&amp;L versions, dates, grain, and join keys is designed to improve consistency and reduce wrong-dataset or wrong-join answers.</a:t>
            </a:r>
          </a:p>
          <a:p>
            <a:r>
              <a:t>• On the engineering side, MCP tools provide a governed boundary instead of raw database access. The modular tiers can be tested and extended independently.</a:t>
            </a:r>
          </a:p>
          <a:p>
            <a:r>
              <a:t>• DuckDB and Parquet provide a lightweight analytical foundation, while row limits, timeouts, safety checks, and audit logging constrain execution.</a:t>
            </a:r>
          </a:p>
          <a:p>
            <a:r>
              <a:t>• The bottom band lists measures to track. Present them as evaluation measures, not achieved results: time to explanation, manual steps, safe-query success, completeness, and adoption.</a:t>
            </a:r>
          </a:p>
          <a:p>
            <a:endParaRPr/>
          </a:p>
          <a:p>
            <a:r>
              <a:t>Concrete example: A repeat question such as ‘Summarize P&amp;L by book and identify the largest contributors’ can use the same governed discovery and aggregation pattern rather than recreating setup each day.</a:t>
            </a:r>
          </a:p>
          <a:p>
            <a:endParaRPr/>
          </a:p>
          <a:p>
            <a:r>
              <a:t>Why this slide matters: The challenge evaluates business-solution thinking as well as technical depth. This slide connects architecture choices to user and engineering outcomes without inventing quantitative benefits.</a:t>
            </a:r>
          </a:p>
          <a:p>
            <a:endParaRPr/>
          </a:p>
          <a:p>
            <a:r>
              <a:t>Likely principal-engineer questions and answer prompts:</a:t>
            </a:r>
          </a:p>
          <a:p>
            <a:r>
              <a:t>1. Question: How will the team know the solution is valuable?</a:t>
            </a:r>
          </a:p>
          <a:p>
            <a:r>
              <a:t>   Answer: Measure time to explanation, number of manual steps, safe-query success, response completeness, and adoption using representative desk questions and datasets.</a:t>
            </a:r>
          </a:p>
          <a:p>
            <a:r>
              <a:t>2. Question: What makes this more than a chatbot?</a:t>
            </a:r>
          </a:p>
          <a:p>
            <a:r>
              <a:t>   Answer: The assistant is backed by registered, structured, governed tools, domain-specific dataset guidance, analytical SQL execution, structured responses, and audit controls.</a:t>
            </a:r>
          </a:p>
          <a:p>
            <a:r>
              <a:t>3. Question: Which benefit is most defensible today?</a:t>
            </a:r>
          </a:p>
          <a:p>
            <a:r>
              <a:t>   Answer: The clearest benefit is a unified, governed interface for discovering and analyzing complex datasets without direct database access. Quantitative productivity improvements still need measurement.</a:t>
            </a:r>
          </a:p>
          <a:p>
            <a:r>
              <a:t>4. Question: Could the platform support other asset classes?</a:t>
            </a:r>
          </a:p>
          <a:p>
            <a:r>
              <a:t>   Answer: The architecture is reusable, but each domain needs its own data contracts, terminology, dataset guidance, controls, and representative query examples.</a:t>
            </a:r>
          </a:p>
          <a:p>
            <a:endParaRPr/>
          </a:p>
          <a:p>
            <a:r>
              <a:t>Boundaries and preparation notes:</a:t>
            </a:r>
          </a:p>
          <a:p>
            <a:r>
              <a:t>• Do not present the measures as targets already achieved.</a:t>
            </a:r>
          </a:p>
          <a:p>
            <a:r>
              <a:t>• Avoid specific time, cost, accuracy, or adoption percentages because none were provided or measured.</a:t>
            </a:r>
          </a:p>
          <a:p>
            <a:endParaRPr/>
          </a:p>
          <a:p>
            <a:r>
              <a:t>Handoff: Those benefits depend on preserving business meaning; the next slide distinguishes the flash and official end-of-day P&amp;L views and their analytical grain.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3 — value and P&amp;L semantics</a:t>
            </a:r>
          </a:p>
          <a:p>
            <a:r>
              <a:t>Target time: 2:30</a:t>
            </a:r>
          </a:p>
          <a:p>
            <a:r>
              <a:t>Audience takeaway: The platform must select the appropriate P&amp;L view because an early same-day investigation and an official end-of-day explanation answer different business questions.</a:t>
            </a:r>
          </a:p>
          <a:p>
            <a:endParaRPr/>
          </a:p>
          <a:p>
            <a:r>
              <a:t>Plain-English context and definitions:</a:t>
            </a:r>
          </a:p>
          <a:p>
            <a:r>
              <a:t>• Flash or preliminary P&amp;L is an early view used for intraday or same-day investigation.</a:t>
            </a:r>
          </a:p>
          <a:p>
            <a:r>
              <a:t>• Official or EOD P&amp;L is the end-of-day explanation used for official analysis.</a:t>
            </a:r>
          </a:p>
          <a:p>
            <a:r>
              <a:t>• Book-level means the result is grouped for a managed set of trades; trade-level means individual transactions are visible.</a:t>
            </a:r>
          </a:p>
          <a:p>
            <a:r>
              <a:t>• Attribution means breaking the movement into contributing drivers.</a:t>
            </a:r>
          </a:p>
          <a:p>
            <a:r>
              <a:t>• Bump-and-reset means changing one market input, measuring the effect, resetting it, and then testing another input.</a:t>
            </a:r>
          </a:p>
          <a:p>
            <a:r>
              <a:t>• Greek-based attribution uses risk sensitivities such as Delta and Rho. Delta is commodity-price sensitivity; Rho is interest-rate sensitivity.</a:t>
            </a:r>
          </a:p>
          <a:p>
            <a:endParaRPr/>
          </a:p>
          <a:p>
            <a:r>
              <a:t>Talk-through points:</a:t>
            </a:r>
          </a:p>
          <a:p>
            <a:r>
              <a:t>• Explain the left lane first. Flash P&amp;L is the early view used during the trading day or for same-day investigation. It can help narrow where a movement is coming from.</a:t>
            </a:r>
          </a:p>
          <a:p>
            <a:r>
              <a:t>• The fopla dataset supports book-level preliminary explanation. trade_explain supports trade-level preliminary explanation. The user can start broad and then drill into transactions.</a:t>
            </a:r>
          </a:p>
          <a:p>
            <a:r>
              <a:t>• The right lane is the official end-of-day explanation. kessel represents trade-level bump-and-reset attribution, while pnl_explained represents Greek-based attribution.</a:t>
            </a:r>
          </a:p>
          <a:p>
            <a:r>
              <a:t>• The important engineering point is semantic selection. The tool and dataset should match the user’s question, business date, and required grain.</a:t>
            </a:r>
          </a:p>
          <a:p>
            <a:r>
              <a:t>• Do not treat flash and EOD as better or worse versions of the same answer. They serve different points in the daily analysis cycle.</a:t>
            </a:r>
          </a:p>
          <a:p>
            <a:endParaRPr/>
          </a:p>
          <a:p>
            <a:r>
              <a:t>Concrete example: During the day, an analyst may use fopla to locate the affected book and trade_explain to inspect transactions. At end of day, the analyst can use kessel or pnl_explained for the corresponding official trade-level explanation.</a:t>
            </a:r>
          </a:p>
          <a:p>
            <a:endParaRPr/>
          </a:p>
          <a:p>
            <a:r>
              <a:t>Why this slide matters: This domain distinction demonstrates that the solution is not generic chat over tables; it contains guidance about P&amp;L versions, analytical methods, and grain.</a:t>
            </a:r>
          </a:p>
          <a:p>
            <a:endParaRPr/>
          </a:p>
          <a:p>
            <a:r>
              <a:t>Likely principal-engineer questions and answer prompts:</a:t>
            </a:r>
          </a:p>
          <a:p>
            <a:r>
              <a:t>1. Question: How does the assistant choose flash versus official/EOD?</a:t>
            </a:r>
          </a:p>
          <a:p>
            <a:r>
              <a:t>   Answer: The question should identify the intended analysis point, date, and grain. Domain guidance and dataset metadata direct the assistant to the appropriate dataset.</a:t>
            </a:r>
          </a:p>
          <a:p>
            <a:r>
              <a:t>2. Question: Does the MCP server calculate bump-and-reset or Greek attribution?</a:t>
            </a:r>
          </a:p>
          <a:p>
            <a:r>
              <a:t>   Answer: The named datasets contain those explanations. The documented MCP design queries and analyzes the data; it is not described as a separate trade repricing engine.</a:t>
            </a:r>
          </a:p>
          <a:p>
            <a:r>
              <a:t>3. Question: What if flash and EOD differ?</a:t>
            </a:r>
          </a:p>
          <a:p>
            <a:r>
              <a:t>   Answer: The difference is a valid investigation topic. The solution can query both views, but the business interpretation belongs with the responsible analyst and data owners.</a:t>
            </a:r>
          </a:p>
          <a:p>
            <a:endParaRPr/>
          </a:p>
          <a:p>
            <a:r>
              <a:t>Boundaries and preparation notes:</a:t>
            </a:r>
          </a:p>
          <a:p>
            <a:r>
              <a:t>• Do not describe official/EOD as certified financial reporting, regulatory reporting, or a system of record.</a:t>
            </a:r>
          </a:p>
          <a:p>
            <a:r>
              <a:t>• Do not imply that the early view is guaranteed to match the end-of-day view.</a:t>
            </a:r>
          </a:p>
          <a:p>
            <a:endParaRPr/>
          </a:p>
          <a:p>
            <a:r>
              <a:t>Handoff: Distinct P&amp;L views, multiple grains, changing questions, and controlled access become the criteria for selecting the technical approach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4 — design rationale and architecture</a:t>
            </a:r>
          </a:p>
          <a:p>
            <a:r>
              <a:t>Target time: 2:30</a:t>
            </a:r>
          </a:p>
          <a:p>
            <a:r>
              <a:t>Audience takeaway: MCP with DuckDB and Parquet was selected because it combines flexible investigation with a governed tool interface and avoids requiring a separate analytical database service for this solution.</a:t>
            </a:r>
          </a:p>
          <a:p>
            <a:endParaRPr/>
          </a:p>
          <a:p>
            <a:r>
              <a:t>Plain-English context and definitions:</a:t>
            </a:r>
          </a:p>
          <a:p>
            <a:r>
              <a:t>• Business intelligence, or BI, refers to dashboards and predefined reports.</a:t>
            </a:r>
          </a:p>
          <a:p>
            <a:r>
              <a:t>• An API is a defined interface through which software requests data or operations.</a:t>
            </a:r>
          </a:p>
          <a:p>
            <a:r>
              <a:t>• An embedded analytical engine runs within the application process instead of requiring a separate database server.</a:t>
            </a:r>
          </a:p>
          <a:p>
            <a:endParaRPr/>
          </a:p>
          <a:p>
            <a:r>
              <a:t>Talk-through points:</a:t>
            </a:r>
          </a:p>
          <a:p>
            <a:r>
              <a:t>• Explain that no single approach is universally best. The comparison shows why this design fits an investigation workflow with changing questions.</a:t>
            </a:r>
          </a:p>
          <a:p>
            <a:r>
              <a:t>• Dashboards are strong for standard metrics and recurring views, but less effective when the analyst must follow a new branch of investigation.</a:t>
            </a:r>
          </a:p>
          <a:p>
            <a:r>
              <a:t>• Direct SQL is very flexible, but it assumes specialist knowledge and creates a broader access surface. It also repeats schema discovery for less technical users.</a:t>
            </a:r>
          </a:p>
          <a:p>
            <a:r>
              <a:t>• A centralized API or enterprise data platform can provide strong standardization and scale, but requires more integration and service development before it can answer the current use case.</a:t>
            </a:r>
          </a:p>
          <a:p>
            <a:r>
              <a:t>• The selected combination exposes bounded tools through MCP and runs analytical SQL over Parquet using DuckDB. It is modular, flexible, and aligned with the solution already described.</a:t>
            </a:r>
          </a:p>
          <a:p>
            <a:r>
              <a:t>• Acknowledge the trade-off: the approach still needs robust SQL-safety tests, data contracts, validated packaging, and reusable examples. Those are addressed on the final slide.</a:t>
            </a:r>
          </a:p>
          <a:p>
            <a:endParaRPr/>
          </a:p>
          <a:p>
            <a:r>
              <a:t>Concrete example: A standard dashboard might answer ‘What is today’s P&amp;L by desk?’ The MCP approach can continue into ‘Which trades and sensitivities explain the largest movement for this book?’ using discovery and analytical tools.</a:t>
            </a:r>
          </a:p>
          <a:p>
            <a:endParaRPr/>
          </a:p>
          <a:p>
            <a:r>
              <a:t>Why this slide matters: Principal engineers will test whether the technical choices are intentional. This slide demonstrates that the team considered alternatives and selected the design based on the problem’s needs.</a:t>
            </a:r>
          </a:p>
          <a:p>
            <a:endParaRPr/>
          </a:p>
          <a:p>
            <a:r>
              <a:t>Likely principal-engineer questions and answer prompts:</a:t>
            </a:r>
          </a:p>
          <a:p>
            <a:r>
              <a:t>1. Question: Why not extend an existing BI dashboard?</a:t>
            </a:r>
          </a:p>
          <a:p>
            <a:r>
              <a:t>   Answer: That remains appropriate for recurring views. The proposed layer addresses exploratory questions that require schema discovery, branching analysis, and natural-language orchestration.</a:t>
            </a:r>
          </a:p>
          <a:p>
            <a:r>
              <a:t>2. Question: Why not build a centralized service first?</a:t>
            </a:r>
          </a:p>
          <a:p>
            <a:r>
              <a:t>   Answer: A centralized service may be appropriate at larger scale. The selected design provides a lighter path over existing Parquet data while preserving modular tool boundaries.</a:t>
            </a:r>
          </a:p>
          <a:p>
            <a:r>
              <a:t>3. Question: When would we reconsider this architecture?</a:t>
            </a:r>
          </a:p>
          <a:p>
            <a:r>
              <a:t>   Answer: Reconsider if workload concurrency, data volume, latency, or enterprise integration requirements exceed what an embedded DuckDB and file-based design can support.</a:t>
            </a:r>
          </a:p>
          <a:p>
            <a:r>
              <a:t>4. Question: Does custom SQL undermine the governed-tool model?</a:t>
            </a:r>
          </a:p>
          <a:p>
            <a:r>
              <a:t>   Answer: Custom SQL is one P0 capability and remains read-only with safety checks and limits. Common questions should use the more bounded exploration and analytics tools.</a:t>
            </a:r>
          </a:p>
          <a:p>
            <a:endParaRPr/>
          </a:p>
          <a:p>
            <a:r>
              <a:t>Boundaries and preparation notes:</a:t>
            </a:r>
          </a:p>
          <a:p>
            <a:r>
              <a:t>• The comparison is qualitative design reasoning, not a benchmark or cost study.</a:t>
            </a:r>
          </a:p>
          <a:p>
            <a:r>
              <a:t>• Do not claim that the selected approach has already proven enterprise-scale performance; representative scale and concurrency require validation.</a:t>
            </a:r>
          </a:p>
          <a:p>
            <a:endParaRPr/>
          </a:p>
          <a:p>
            <a:r>
              <a:t>Handoff: With the choice established, the next slide shows how responsibilities are separated from the analyst question to the dated data 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4 — design rationale and architecture</a:t>
            </a:r>
          </a:p>
          <a:p>
            <a:r>
              <a:t>Target time: 2:30</a:t>
            </a:r>
          </a:p>
          <a:p>
            <a:r>
              <a:t>Audience takeaway: The architecture is deliberately layered: the LLM handles intent, FastMCP exposes defined functions, DuckDB executes analytical queries, and Parquet stores date-partitioned data.</a:t>
            </a:r>
          </a:p>
          <a:p>
            <a:endParaRPr/>
          </a:p>
          <a:p>
            <a:r>
              <a:t>Plain-English context and definitions:</a:t>
            </a:r>
          </a:p>
          <a:p>
            <a:r>
              <a:t>• FastMCP is the server interface that registers the structured tools used by the LLM client.</a:t>
            </a:r>
          </a:p>
          <a:p>
            <a:r>
              <a:t>• DuckDB is an embedded analytical SQL engine that can query Parquet directly.</a:t>
            </a:r>
          </a:p>
          <a:p>
            <a:r>
              <a:t>• Parquet is a column-oriented data-file format designed for analytical workloads.</a:t>
            </a:r>
          </a:p>
          <a:p>
            <a:r>
              <a:t>• A date partition groups data files by business date so queries can scan only relevant dates.</a:t>
            </a:r>
          </a:p>
          <a:p>
            <a:endParaRPr/>
          </a:p>
          <a:p>
            <a:r>
              <a:t>Talk-through points:</a:t>
            </a:r>
          </a:p>
          <a:p>
            <a:r>
              <a:t>• Trace the center stack from top to bottom. The analyst asks a business question and reviews the response. The LLM client interprets the intent and selects a registered tool.</a:t>
            </a:r>
          </a:p>
          <a:p>
            <a:r>
              <a:t>• server.py is the FastMCP entry point. It exposes the P0, P1, and P2 tools without giving the conversational layer direct unrestricted database access.</a:t>
            </a:r>
          </a:p>
          <a:p>
            <a:r>
              <a:t>• The tool layer uses utility components for DuckDB view registration, SQL safety checks, and audit logging.</a:t>
            </a:r>
          </a:p>
          <a:p>
            <a:r>
              <a:t>• DuckDB operates over Parquet files that are organized by business date. That supports local analytical execution without a separate database service in this design.</a:t>
            </a:r>
          </a:p>
          <a:p>
            <a:r>
              <a:t>• The right rail shows the documented controls applied to the query path. The architecture does not add unprovided identity, entitlement, reconciliation, or ledger services.</a:t>
            </a:r>
          </a:p>
          <a:p>
            <a:endParaRPr/>
          </a:p>
          <a:p>
            <a:r>
              <a:t>Concrete example: A request for one business date can register only that date’s Parquet files as DuckDB views, then execute a bounded P2 aggregation and return a structured result.</a:t>
            </a:r>
          </a:p>
          <a:p>
            <a:endParaRPr/>
          </a:p>
          <a:p>
            <a:r>
              <a:t>Why this slide matters: This slide makes the solution technically inspectable and lets principal engineers evaluate separation of concerns, modularity, and feasibility.</a:t>
            </a:r>
          </a:p>
          <a:p>
            <a:endParaRPr/>
          </a:p>
          <a:p>
            <a:r>
              <a:t>Likely principal-engineer questions and answer prompts:</a:t>
            </a:r>
          </a:p>
          <a:p>
            <a:r>
              <a:t>1. Question: Why DuckDB and Parquet?</a:t>
            </a:r>
          </a:p>
          <a:p>
            <a:r>
              <a:t>   Answer: DuckDB provides fast analytical SQL directly over Parquet and keeps the solution lightweight. Date partitions limit the data scanned for a request.</a:t>
            </a:r>
          </a:p>
          <a:p>
            <a:r>
              <a:t>2. Question: How does this architecture scale?</a:t>
            </a:r>
          </a:p>
          <a:p>
            <a:r>
              <a:t>   Answer: The design supports efficient file-based analytical queries, but representative data volume, concurrency, and deployment behavior should be validated for the intended environment.</a:t>
            </a:r>
          </a:p>
          <a:p>
            <a:r>
              <a:t>3. Question: Where are controls enforced?</a:t>
            </a:r>
          </a:p>
          <a:p>
            <a:r>
              <a:t>   Answer: The tool and utility layers enforce read-only behavior, SQL safety checks, denied objects, row limits, timeouts, and audit logging.</a:t>
            </a:r>
          </a:p>
          <a:p>
            <a:r>
              <a:t>4. Question: Would a database service be better?</a:t>
            </a:r>
          </a:p>
          <a:p>
            <a:r>
              <a:t>   Answer: It may be preferable when concurrency, centralized management, or scale requirements exceed the file-based embedded design. That decision should follow workload testing.</a:t>
            </a:r>
          </a:p>
          <a:p>
            <a:endParaRPr/>
          </a:p>
          <a:p>
            <a:r>
              <a:t>Boundaries and preparation notes:</a:t>
            </a:r>
          </a:p>
          <a:p>
            <a:r>
              <a:t>• Do not add enterprise identity propagation, row-level entitlements, formal reconciliation, or evidence-ledger components; they are not in the current architecture.</a:t>
            </a:r>
          </a:p>
          <a:p>
            <a:r>
              <a:t>• Do not claim production-scale performance without representative testing.</a:t>
            </a:r>
          </a:p>
          <a:p>
            <a:endParaRPr/>
          </a:p>
          <a:p>
            <a:r>
              <a:t>Handoff: The next slide zooms into the governed P0, P1, and P2 tool boundary that the assistant actually invokes.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5 — tools and execution</a:t>
            </a:r>
          </a:p>
          <a:p>
            <a:r>
              <a:t>Target time: 2:30</a:t>
            </a:r>
          </a:p>
          <a:p>
            <a:r>
              <a:t>Audience takeaway: The tiered tool model separates core access, lightweight exploration, and repeatable analytics so the assistant does not need to jump immediately to arbitrary SQL.</a:t>
            </a:r>
          </a:p>
          <a:p>
            <a:endParaRPr/>
          </a:p>
          <a:p>
            <a:r>
              <a:t>Plain-English context and definitions:</a:t>
            </a:r>
          </a:p>
          <a:p>
            <a:r>
              <a:t>• Metadata describes available datasets, columns, data types, dates, and other structural information.</a:t>
            </a:r>
          </a:p>
          <a:p>
            <a:r>
              <a:t>• Profiling summarizes data quality or distribution, such as minimum, maximum, null count, or distinct values.</a:t>
            </a:r>
          </a:p>
          <a:p>
            <a:r>
              <a:t>• EXPLAIN ANALYZE is a database operation used to inspect how a query will run and what work it performs.</a:t>
            </a:r>
          </a:p>
          <a:p>
            <a:endParaRPr/>
          </a:p>
          <a:p>
            <a:r>
              <a:t>Talk-through points:</a:t>
            </a:r>
          </a:p>
          <a:p>
            <a:r>
              <a:t>• P0 Core confirms availability, lists datasets, describes fields, maps instrument types, and provides the controlled custom-SQL entry point.</a:t>
            </a:r>
          </a:p>
          <a:p>
            <a:r>
              <a:t>• P1 Exploration supports lightweight discovery. It can return sample rows, search table and column names, and explain how a query will execute.</a:t>
            </a:r>
          </a:p>
          <a:p>
            <a:r>
              <a:t>• P2 Analytics provides common row counts, distinct values, column statistics, and grouped aggregations such as sum, average, minimum, maximum, and count.</a:t>
            </a:r>
          </a:p>
          <a:p>
            <a:r>
              <a:t>• The tiers are not access levels or user ranks. They organize tool purpose and implementation so the assistant can choose an appropriate capability.</a:t>
            </a:r>
          </a:p>
          <a:p>
            <a:r>
              <a:t>• For common questions, P2 offers a more bounded interface than composing custom SQL. P0 custom SQL remains useful for questions the predefined tools do not cover.</a:t>
            </a:r>
          </a:p>
          <a:p>
            <a:endParaRPr/>
          </a:p>
          <a:p>
            <a:r>
              <a:t>Concrete example: The assistant can use P0 to list and describe datasets, P1 to inspect a sample and find the correct column, and P2 to aggregate P&amp;L by book without writing a custom query.</a:t>
            </a:r>
          </a:p>
          <a:p>
            <a:endParaRPr/>
          </a:p>
          <a:p>
            <a:r>
              <a:t>Why this slide matters: The exact tool inventory demonstrates technical feasibility and a modular design that can be tested, extended, and explained to reviewers.</a:t>
            </a:r>
          </a:p>
          <a:p>
            <a:endParaRPr/>
          </a:p>
          <a:p>
            <a:r>
              <a:t>Likely principal-engineer questions and answer prompts:</a:t>
            </a:r>
          </a:p>
          <a:p>
            <a:r>
              <a:t>1. Question: Why are there three tiers instead of one tool collection?</a:t>
            </a:r>
          </a:p>
          <a:p>
            <a:r>
              <a:t>   Answer: The separation makes responsibilities clearer and supports a progression from discovery to bounded analytics, improving maintainability and tool selection.</a:t>
            </a:r>
          </a:p>
          <a:p>
            <a:r>
              <a:t>2. Question: When should execute_custom_sql be used?</a:t>
            </a:r>
          </a:p>
          <a:p>
            <a:r>
              <a:t>   Answer: Use it for analytical questions not covered by the bounded tools. It remains read-only, safety checked, row limited, timed, and audited.</a:t>
            </a:r>
          </a:p>
          <a:p>
            <a:r>
              <a:t>3. Question: Could more domain-specific tools be added?</a:t>
            </a:r>
          </a:p>
          <a:p>
            <a:r>
              <a:t>   Answer: Yes. The modular tool layer can add higher-level functions while preserving the same governed interface and utilities.</a:t>
            </a:r>
          </a:p>
          <a:p>
            <a:r>
              <a:t>4. Question: How are tool responses tested?</a:t>
            </a:r>
          </a:p>
          <a:p>
            <a:r>
              <a:t>   Answer: Adding automated tests for SQL safety and tool responses is one of the four documented improvements.</a:t>
            </a:r>
          </a:p>
          <a:p>
            <a:endParaRPr/>
          </a:p>
          <a:p>
            <a:r>
              <a:t>Boundaries and preparation notes:</a:t>
            </a:r>
          </a:p>
          <a:p>
            <a:r>
              <a:t>• Do not describe P0, P1, and P2 as security clearance levels.</a:t>
            </a:r>
          </a:p>
          <a:p>
            <a:r>
              <a:t>• The tool list is the documented implementation inventory; do not add additional functions during the presentation.</a:t>
            </a:r>
          </a:p>
          <a:p>
            <a:endParaRPr/>
          </a:p>
          <a:p>
            <a:r>
              <a:t>Handoff: The next slide turns the tool inventory into the six-step request flow from question to structured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5 — tools and execution</a:t>
            </a:r>
          </a:p>
          <a:p>
            <a:r>
              <a:t>Target time: 2:30</a:t>
            </a:r>
          </a:p>
          <a:p>
            <a:r>
              <a:t>Audience takeaway: The solution discovers structure before it queries data, then executes through a bounded in-memory analytical path and returns structured results.</a:t>
            </a:r>
          </a:p>
          <a:p>
            <a:endParaRPr/>
          </a:p>
          <a:p>
            <a:r>
              <a:t>Plain-English context and definitions:</a:t>
            </a:r>
          </a:p>
          <a:p>
            <a:r>
              <a:t>• A join key is a field used to connect rows across datasets, such as a trade or book identifier.</a:t>
            </a:r>
          </a:p>
          <a:p>
            <a:r>
              <a:t>• A date-scoped view is a queryable view that includes only the requested business-date partitions.</a:t>
            </a:r>
          </a:p>
          <a:p>
            <a:r>
              <a:t>• In-memory means the DuckDB connection runs within the application process rather than connecting to a separate database server.</a:t>
            </a:r>
          </a:p>
          <a:p>
            <a:endParaRPr/>
          </a:p>
          <a:p>
            <a:r>
              <a:t>Talk-through points:</a:t>
            </a:r>
          </a:p>
          <a:p>
            <a:r>
              <a:t>• Step one is the business question. Step two is essential: the assistant discovers candidate datasets, fields, available dates, and join keys before composing the analysis.</a:t>
            </a:r>
          </a:p>
          <a:p>
            <a:r>
              <a:t>• Step three opens an in-memory DuckDB connection. Step four registers the relevant Parquet files as date-scoped views rather than loading every date.</a:t>
            </a:r>
          </a:p>
          <a:p>
            <a:r>
              <a:t>• Step five executes the query with SQL safety checks and row limits. The next slide shows those controls in detail.</a:t>
            </a:r>
          </a:p>
          <a:p>
            <a:r>
              <a:t>• Step six returns structured results to the assistant, which can summarize the findings and present the supporting data for analyst review.</a:t>
            </a:r>
          </a:p>
          <a:p>
            <a:r>
              <a:t>• The flow reduces guessing by making dataset and schema discovery explicit. It also keeps query execution inside the governed tool path.</a:t>
            </a:r>
          </a:p>
          <a:p>
            <a:endParaRPr/>
          </a:p>
          <a:p>
            <a:r>
              <a:t>Concrete example: For a question about &lt;YYYYMMDD&gt;, the assistant can verify that the needed datasets and fields exist, register only that business-date partition, aggregate by book, and return the result with relevant context.</a:t>
            </a:r>
          </a:p>
          <a:p>
            <a:endParaRPr/>
          </a:p>
          <a:p>
            <a:r>
              <a:t>Why this slide matters: Principal engineers can use this sequence to evaluate the control points, failure modes, and responsibility boundaries of each request.</a:t>
            </a:r>
          </a:p>
          <a:p>
            <a:endParaRPr/>
          </a:p>
          <a:p>
            <a:r>
              <a:t>Likely principal-engineer questions and answer prompts:</a:t>
            </a:r>
          </a:p>
          <a:p>
            <a:r>
              <a:t>1. Question: How does the assistant know which join key to use?</a:t>
            </a:r>
          </a:p>
          <a:p>
            <a:r>
              <a:t>   Answer: Dataset metadata and domain guidance should define valid keys. Formalizing those rules in data contracts is one of the documented improvements.</a:t>
            </a:r>
          </a:p>
          <a:p>
            <a:r>
              <a:t>2. Question: What happens if a requested date partition is missing?</a:t>
            </a:r>
          </a:p>
          <a:p>
            <a:r>
              <a:t>   Answer: The tool should return a clear missing-data response rather than silently substituting another date. Tool-response tests should cover this case.</a:t>
            </a:r>
          </a:p>
          <a:p>
            <a:r>
              <a:t>3. Question: How are truncated results communicated?</a:t>
            </a:r>
          </a:p>
          <a:p>
            <a:r>
              <a:t>   Answer: The result should indicate the applied row limit or incomplete result state. The current design has limits; response semantics should be validated in the test work.</a:t>
            </a:r>
          </a:p>
          <a:p>
            <a:r>
              <a:t>4. Question: Does a new DuckDB connection per question add overhead?</a:t>
            </a:r>
          </a:p>
          <a:p>
            <a:r>
              <a:t>   Answer: That is a workload characteristic to measure. The tool opens an in-memory DuckDB connection; connection reuse, pooling, concurrency, and isolation require validation.</a:t>
            </a:r>
          </a:p>
          <a:p>
            <a:endParaRPr/>
          </a:p>
          <a:p>
            <a:r>
              <a:t>Boundaries and preparation notes:</a:t>
            </a:r>
          </a:p>
          <a:p>
            <a:r>
              <a:t>• The current material does not specify concurrency, caching, or connection pooling; identify those as validation topics if asked.</a:t>
            </a:r>
          </a:p>
          <a:p>
            <a:r>
              <a:t>• Do not imply the assistant may substitute dates or join keys without explicit rules.</a:t>
            </a:r>
          </a:p>
          <a:p>
            <a:endParaRPr/>
          </a:p>
          <a:p>
            <a:r>
              <a:t>Handoff: The next slide focuses on the safeguards that bound each query before, during, and after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6 — controls, improvements, and close</a:t>
            </a:r>
          </a:p>
          <a:p>
            <a:r>
              <a:t>Target time: 2:30</a:t>
            </a:r>
          </a:p>
          <a:p>
            <a:r>
              <a:t>Audience takeaway: Governance is enforced through multiple configuration and execution controls rather than relying on the language model to behave safely.</a:t>
            </a:r>
          </a:p>
          <a:p>
            <a:endParaRPr/>
          </a:p>
          <a:p>
            <a:r>
              <a:t>Plain-English context and definitions:</a:t>
            </a:r>
          </a:p>
          <a:p>
            <a:r>
              <a:t>• DDL means data-definition language, such as commands that create, alter, or drop database objects.</a:t>
            </a:r>
          </a:p>
          <a:p>
            <a:r>
              <a:t>• A row limit caps how many result rows can be returned, protecting memory and response size.</a:t>
            </a:r>
          </a:p>
          <a:p>
            <a:r>
              <a:t>• A timeout stops or returns from a query that exceeds the configured duration.</a:t>
            </a:r>
          </a:p>
          <a:p>
            <a:r>
              <a:t>• Audit logging records information needed to trace tool execution, including parameters, status, row count, and timing.</a:t>
            </a:r>
          </a:p>
          <a:p>
            <a:endParaRPr/>
          </a:p>
          <a:p>
            <a:r>
              <a:t>Talk-through points:</a:t>
            </a:r>
          </a:p>
          <a:p>
            <a:r>
              <a:t>• Read-only mode is the default, with writes disabled in configuration. Write and DDL keywords are blocked by the SQL-safety layer.</a:t>
            </a:r>
          </a:p>
          <a:p>
            <a:r>
              <a:t>• Configuration can deny specific tables and columns, allowing sensitive or irrelevant objects to be excluded from tool access.</a:t>
            </a:r>
          </a:p>
          <a:p>
            <a:r>
              <a:t>• The default row cap is 1,000 and the hard maximum is 50,000. These limits bound result size and memory consumption.</a:t>
            </a:r>
          </a:p>
          <a:p>
            <a:r>
              <a:t>• The application-level query timeout is 30 seconds. Audit logging records tool parameters, success or failure status, row counts, and timing; the shown configuration enables logging to standard output.</a:t>
            </a:r>
          </a:p>
          <a:p>
            <a:r>
              <a:t>• The controls are layered, but they still need automated validation. SQL-safety and tool-response tests are the first documented improvement on the final slide.</a:t>
            </a:r>
          </a:p>
          <a:p>
            <a:endParaRPr/>
          </a:p>
          <a:p>
            <a:r>
              <a:t>Concrete example: If a user asks the custom-SQL tool to update a table, read-only configuration and blocked write operations should reject the request; the attempted tool call and status should be logged.</a:t>
            </a:r>
          </a:p>
          <a:p>
            <a:endParaRPr/>
          </a:p>
          <a:p>
            <a:r>
              <a:t>Why this slide matters: This slide answers the principal-engineer concern that natural-language access could bypass data controls. The control path is implemented in tools and utilities, not in prompt wording alone.</a:t>
            </a:r>
          </a:p>
          <a:p>
            <a:endParaRPr/>
          </a:p>
          <a:p>
            <a:r>
              <a:t>Likely principal-engineer questions and answer prompts:</a:t>
            </a:r>
          </a:p>
          <a:p>
            <a:r>
              <a:t>1. Question: Are blocked keywords sufficient for SQL safety?</a:t>
            </a:r>
          </a:p>
          <a:p>
            <a:r>
              <a:t>   Answer: They are one control combined with read-only operation, SQL parsing, denied objects, row limits, timeouts, and audit logging. Automated adversarial and response tests are still required.</a:t>
            </a:r>
          </a:p>
          <a:p>
            <a:r>
              <a:t>2. Question: Could audit logs expose sensitive values?</a:t>
            </a:r>
          </a:p>
          <a:p>
            <a:r>
              <a:t>   Answer: The current design records parameters and execution details. The logging policy should be reviewed to redact or minimize sensitive content before integration with an enterprise logging destination.</a:t>
            </a:r>
          </a:p>
          <a:p>
            <a:r>
              <a:t>3. Question: What happens when the hard row limit is reached?</a:t>
            </a:r>
          </a:p>
          <a:p>
            <a:r>
              <a:t>   Answer: The response should clearly identify that the result was capped. The exact response behavior should be covered by tool-response tests.</a:t>
            </a:r>
          </a:p>
          <a:p>
            <a:r>
              <a:t>4. Question: How are user entitlements enforced?</a:t>
            </a:r>
          </a:p>
          <a:p>
            <a:r>
              <a:t>   Answer: Enterprise identity and fine-grained entitlements are not specified in the current architecture. If required by the target environment, they are an integration design topic rather than a capability to claim here.</a:t>
            </a:r>
          </a:p>
          <a:p>
            <a:endParaRPr/>
          </a:p>
          <a:p>
            <a:r>
              <a:t>Boundaries and preparation notes:</a:t>
            </a:r>
          </a:p>
          <a:p>
            <a:r>
              <a:t>• Describe these as documented configuration and solution controls; do not imply they have completed enterprise validation.</a:t>
            </a:r>
          </a:p>
          <a:p>
            <a:r>
              <a:t>• Do not add unsupported controls such as a separate entitlement gateway, row-level identity propagation, kill switch, or evidence ledger.</a:t>
            </a:r>
          </a:p>
          <a:p>
            <a:endParaRPr/>
          </a:p>
          <a:p>
            <a:r>
              <a:t>Handoff: The controls are configured; the final slide identifies the concrete work that will prove and strengthen behavior, setup, and reuse.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6 — controls, improvements, and close</a:t>
            </a:r>
          </a:p>
          <a:p>
            <a:r>
              <a:t>Target time: 2:30</a:t>
            </a:r>
          </a:p>
          <a:p>
            <a:r>
              <a:t>Audience takeaway: The solution already has a coherent technical foundation; four documented actions improve its reliability, clarity, deployability, and reuse.</a:t>
            </a:r>
          </a:p>
          <a:p>
            <a:endParaRPr/>
          </a:p>
          <a:p>
            <a:r>
              <a:t>Plain-English context and definitions:</a:t>
            </a:r>
          </a:p>
          <a:p>
            <a:r>
              <a:t>• A data contract defines expected datasets, fields, data types, grain, dates, keys, and quality rules.</a:t>
            </a:r>
          </a:p>
          <a:p>
            <a:r>
              <a:t>• Packaging means preparing the server and dependencies so installation and execution are repeatable.</a:t>
            </a:r>
          </a:p>
          <a:p>
            <a:r>
              <a:t>• An MCP client is the application or LLM environment that connects to and invokes the MCP server tools.</a:t>
            </a:r>
          </a:p>
          <a:p>
            <a:r>
              <a:t>• A desk workflow example is a reusable question and query pattern for a common trading-analysis task.</a:t>
            </a:r>
          </a:p>
          <a:p>
            <a:endParaRPr/>
          </a:p>
          <a:p>
            <a:r>
              <a:t>Talk-through points:</a:t>
            </a:r>
          </a:p>
          <a:p>
            <a:r>
              <a:t>• Begin with the current foundation: the FastMCP entry point and tool layers, DuckDB over date-partitioned Parquet, the CSV/XLSX ingestion path, configuration, and setup guidance.</a:t>
            </a:r>
          </a:p>
          <a:p>
            <a:r>
              <a:t>• First, add tests for SQL safety and tool responses. This should include valid queries, denied operations, malformed inputs, missing data, capped results, timeouts, and error responses.</a:t>
            </a:r>
          </a:p>
          <a:p>
            <a:r>
              <a:t>• Second, document a sample configuration and data contracts. This makes dataset grain, fields, dates, join keys, and control expectations explicit.</a:t>
            </a:r>
          </a:p>
          <a:p>
            <a:r>
              <a:t>• Third, validate packaging and MCP-client setup so another engineer can install the dependencies, configure the data path, start the server, and connect a supported client consistently.</a:t>
            </a:r>
          </a:p>
          <a:p>
            <a:r>
              <a:t>• Fourth, publish common query examples for desk workflows. Examples make the platform easier to learn, encourage bounded tools for repeat questions, and support reuse across analysts.</a:t>
            </a:r>
          </a:p>
          <a:p>
            <a:r>
              <a:t>• Close by restating the recommendation: combine natural-language access with governed analytics over existing P&amp;L data, and use engineering feedback to refine feasibility, scalability, controls, and integration choices.</a:t>
            </a:r>
          </a:p>
          <a:p>
            <a:endParaRPr/>
          </a:p>
          <a:p>
            <a:r>
              <a:t>Concrete example: A reusable desk example might show how to ask for a book-level flash explanation, drill into trade-level contributors, apply a business date, and interpret a capped or missing-data response.</a:t>
            </a:r>
          </a:p>
          <a:p>
            <a:endParaRPr/>
          </a:p>
          <a:p>
            <a:r>
              <a:t>Why this slide matters: The close demonstrates a realistic improvement path without implying that the solution is incomplete or asking the reviewers to make a deployment decision.</a:t>
            </a:r>
          </a:p>
          <a:p>
            <a:endParaRPr/>
          </a:p>
          <a:p>
            <a:r>
              <a:t>Likely principal-engineer questions and answer prompts:</a:t>
            </a:r>
          </a:p>
          <a:p>
            <a:r>
              <a:t>1. Question: Which improvement should happen first?</a:t>
            </a:r>
          </a:p>
          <a:p>
            <a:r>
              <a:t>   Answer: SQL-safety and tool-response tests provide immediate evidence of reliable behavior. Data contracts should proceed in parallel because tests need explicit data expectations.</a:t>
            </a:r>
          </a:p>
          <a:p>
            <a:r>
              <a:t>2. Question: What enables broader reuse?</a:t>
            </a:r>
          </a:p>
          <a:p>
            <a:r>
              <a:t>   Answer: Stable data contracts, repeatable packaging and client setup, and common desk query examples. Domain-specific rules still need to be adapted for each new dataset or business area.</a:t>
            </a:r>
          </a:p>
          <a:p>
            <a:r>
              <a:t>3. Question: How should performance and accuracy be evaluated?</a:t>
            </a:r>
          </a:p>
          <a:p>
            <a:r>
              <a:t>   Answer: Use representative questions, datasets, data volumes, and concurrency. Compare returned results with agreed reference queries and record completeness, error behavior, latency, and control outcomes.</a:t>
            </a:r>
          </a:p>
          <a:p>
            <a:r>
              <a:t>4. Question: Who owns the next work?</a:t>
            </a:r>
          </a:p>
          <a:p>
            <a:r>
              <a:t>   Answer: Ownership should align to the work: tool maintainers for tests, data owners for contracts, platform engineers for packaging and client setup, and desk users plus analysts for workflow examples.</a:t>
            </a:r>
          </a:p>
          <a:p>
            <a:r>
              <a:t>5. Question: What would cause the architecture to change?</a:t>
            </a:r>
          </a:p>
          <a:p>
            <a:r>
              <a:t>   Answer: Evidence that data volume, concurrency, latency, centralized governance, or integration requirements exceed the embedded file-based design.</a:t>
            </a:r>
          </a:p>
          <a:p>
            <a:endParaRPr/>
          </a:p>
          <a:p>
            <a:r>
              <a:t>Boundaries and preparation notes:</a:t>
            </a:r>
          </a:p>
          <a:p>
            <a:r>
              <a:t>• Do not describe the reviewers as decision makers; invite technical critique and recommendations.</a:t>
            </a:r>
          </a:p>
          <a:p>
            <a:r>
              <a:t>• If asked about a capability not shown in the solution, state that it is a design or validation topic rather than inventing an answer.</a:t>
            </a:r>
          </a:p>
          <a:p>
            <a:endParaRPr/>
          </a:p>
          <a:p>
            <a:r>
              <a:t>Handoff: Invite questions. Presenter 6 moderates and routes them to the presenter who owns the relevant part of the story; use the appendix only when detail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Q&amp;A reference — domain semantics</a:t>
            </a:r>
          </a:p>
          <a:p>
            <a:r>
              <a:t>Target time: Use only when needed</a:t>
            </a:r>
          </a:p>
          <a:p>
            <a:r>
              <a:t>Audience takeaway: The named datasets serve different P&amp;L views, analytical methods, and grains, so correct semantic selection is essential.</a:t>
            </a:r>
          </a:p>
          <a:p>
            <a:endParaRPr/>
          </a:p>
          <a:p>
            <a:r>
              <a:t>Plain-English context and definitions:</a:t>
            </a:r>
          </a:p>
          <a:p>
            <a:r>
              <a:t>• P&amp;L: Profit or loss from trading positions.</a:t>
            </a:r>
          </a:p>
          <a:p>
            <a:r>
              <a:t>• Book: A managed group of trades.</a:t>
            </a:r>
          </a:p>
          <a:p>
            <a:r>
              <a:t>• Taxonomy: Hierarchy organizing books within desks and the business.</a:t>
            </a:r>
          </a:p>
          <a:p>
            <a:r>
              <a:t>• Attribution: Breakdown of contributing drivers.</a:t>
            </a:r>
          </a:p>
          <a:p>
            <a:r>
              <a:t>• Delta: Commodity-price sensitivity.</a:t>
            </a:r>
          </a:p>
          <a:p>
            <a:r>
              <a:t>• Rho: Interest-rate sensitivity.</a:t>
            </a:r>
          </a:p>
          <a:p>
            <a:endParaRPr/>
          </a:p>
          <a:p>
            <a:r>
              <a:t>Talk-through points:</a:t>
            </a:r>
          </a:p>
          <a:p>
            <a:r>
              <a:t>• Use the left side to define unfamiliar P&amp;L terms before answering a domain question.</a:t>
            </a:r>
          </a:p>
          <a:p>
            <a:r>
              <a:t>• Use the right table to identify which dataset matches flash versus EOD and book versus trade grain.</a:t>
            </a:r>
          </a:p>
          <a:p>
            <a:r>
              <a:t>• Call out that portfolio_taxonomy supplies book-level business metadata, while risk_report supplies risk measures.</a:t>
            </a:r>
          </a:p>
          <a:p>
            <a:r>
              <a:t>• Use fopla and trade_explain for preliminary explanation; kessel and pnl_explained for the official end-of-day explanation methods.</a:t>
            </a:r>
          </a:p>
          <a:p>
            <a:endParaRPr/>
          </a:p>
          <a:p>
            <a:r>
              <a:t>Concrete example: A preliminary book-level question points to fopla; an official trade-level sensitivity explanation points to pnl_explained.</a:t>
            </a:r>
          </a:p>
          <a:p>
            <a:endParaRPr/>
          </a:p>
          <a:p>
            <a:r>
              <a:t>Why this slide matters: This appendix prevents the team from improvising P&amp;L terminology during Q&amp;A.</a:t>
            </a:r>
          </a:p>
          <a:p>
            <a:endParaRPr/>
          </a:p>
          <a:p>
            <a:r>
              <a:t>Likely principal-engineer questions and answer prompts:</a:t>
            </a:r>
          </a:p>
          <a:p>
            <a:r>
              <a:t>1. Question: Is flash_pnl the same as trade_explain?</a:t>
            </a:r>
          </a:p>
          <a:p>
            <a:r>
              <a:t>   Answer: Both are trade-level and preliminary-related datasets, but flash_pnl is described as flash P&amp;L while trade_explain is the preliminary trade-level explanation.</a:t>
            </a:r>
          </a:p>
          <a:p>
            <a:r>
              <a:t>2. Question: Which dataset contains book hierarchy?</a:t>
            </a:r>
          </a:p>
          <a:p>
            <a:r>
              <a:t>   Answer: portfolio_taxonomy contains book-level metadata such as desk pod, MR group, and desk name.</a:t>
            </a:r>
          </a:p>
          <a:p>
            <a:r>
              <a:t>3. Question: Are dates stored as date types?</a:t>
            </a:r>
          </a:p>
          <a:p>
            <a:r>
              <a:t>   Answer: The described data stores date fields as YYYYMMDD strings and organizes Parquet by date directories.</a:t>
            </a:r>
          </a:p>
          <a:p>
            <a:endParaRPr/>
          </a:p>
          <a:p>
            <a:r>
              <a:t>Boundaries and preparation notes:</a:t>
            </a:r>
          </a:p>
          <a:p>
            <a:r>
              <a:t>• Do not infer additional certification, accounting, or regulatory meaning from the word official.</a:t>
            </a:r>
          </a:p>
          <a:p>
            <a:r>
              <a:t>• If asked about dataset fields not shown here, say that the data contract should define them explicitly.</a:t>
            </a:r>
          </a:p>
          <a:p>
            <a:endParaRPr/>
          </a:p>
          <a:p>
            <a:r>
              <a:t>Handoff: Return to the main answer, or move to the implementation inventory if the question concerns tools or modules.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Q&amp;A reference — implementation structure</a:t>
            </a:r>
          </a:p>
          <a:p>
            <a:r>
              <a:t>Target time: Use only when needed</a:t>
            </a:r>
          </a:p>
          <a:p>
            <a:r>
              <a:t>Audience takeaway: The codebase is modular: the entry point registers tools, the tool modules separate capability types, utilities centralize data access and controls, and ingestion prepares dated Parquet.</a:t>
            </a:r>
          </a:p>
          <a:p>
            <a:endParaRPr/>
          </a:p>
          <a:p>
            <a:r>
              <a:t>Plain-English context and definitions:</a:t>
            </a:r>
          </a:p>
          <a:p>
            <a:r>
              <a:t>• An entry point is the module that starts the service and registers its capabilities.</a:t>
            </a:r>
          </a:p>
          <a:p>
            <a:r>
              <a:t>• A utility module centralizes shared behavior such as database connections, SQL checks, or audit logging.</a:t>
            </a:r>
          </a:p>
          <a:p>
            <a:r>
              <a:t>• A dependency is a software package required by the solution.</a:t>
            </a:r>
          </a:p>
          <a:p>
            <a:endParaRPr/>
          </a:p>
          <a:p>
            <a:r>
              <a:t>Talk-through points:</a:t>
            </a:r>
          </a:p>
          <a:p>
            <a:r>
              <a:t>• Trace the query path from server.py through tools and utilities to date-partitioned data. Keep it separate from the ingestion path that converts CSV/XLSX through ingest.py into the same dated Parquet layer.</a:t>
            </a:r>
          </a:p>
          <a:p>
            <a:r>
              <a:t>• Use the right side to answer function-level questions about the P0, P1, and P2 inventories.</a:t>
            </a:r>
          </a:p>
          <a:p>
            <a:r>
              <a:t>• The separation supports independent testing and extension of tool capabilities.</a:t>
            </a:r>
          </a:p>
          <a:p>
            <a:r>
              <a:t>• The dependency list shows the main roles: FastMCP for the protocol layer, DuckDB for SQL, pandas and PyArrow for data handling, Excel readers for XLSX, PyYAML for configuration, and sqlparse for SQL parsing.</a:t>
            </a:r>
          </a:p>
          <a:p>
            <a:endParaRPr/>
          </a:p>
          <a:p>
            <a:r>
              <a:t>Concrete example: A new bounded analytical function would normally be added to p2_analytics.py and reuse the shared DuckDB, safety, and audit utilities.</a:t>
            </a:r>
          </a:p>
          <a:p>
            <a:endParaRPr/>
          </a:p>
          <a:p>
            <a:r>
              <a:t>Why this slide matters: This reference supports maintainability and implementation questions without crowding the main architecture slide.</a:t>
            </a:r>
          </a:p>
          <a:p>
            <a:endParaRPr/>
          </a:p>
          <a:p>
            <a:r>
              <a:t>Likely principal-engineer questions and answer prompts:</a:t>
            </a:r>
          </a:p>
          <a:p>
            <a:r>
              <a:t>1. Question: Where is SQL safety implemented?</a:t>
            </a:r>
          </a:p>
          <a:p>
            <a:r>
              <a:t>   Answer: The utility layer includes sql_parser.py, while the tool execution path applies read-only behavior, limits, timeouts, and audit logging.</a:t>
            </a:r>
          </a:p>
          <a:p>
            <a:r>
              <a:t>2. Question: Where are tools registered?</a:t>
            </a:r>
          </a:p>
          <a:p>
            <a:r>
              <a:t>   Answer: server.py is the FastMCP entry point that registers the tool functions and starts the server.</a:t>
            </a:r>
          </a:p>
          <a:p>
            <a:r>
              <a:t>3. Question: How would the implementation be extended?</a:t>
            </a:r>
          </a:p>
          <a:p>
            <a:r>
              <a:t>   Answer: Add a bounded tool to the appropriate module, define its parameters and response, reuse shared controls, document it, and add tests.</a:t>
            </a:r>
          </a:p>
          <a:p>
            <a:endParaRPr/>
          </a:p>
          <a:p>
            <a:r>
              <a:t>Boundaries and preparation notes:</a:t>
            </a:r>
          </a:p>
          <a:p>
            <a:r>
              <a:t>• Do not infer runtime throughput, availability, or concurrency from the module structure.</a:t>
            </a:r>
          </a:p>
          <a:p>
            <a:r>
              <a:t>• Use the term solution implementation rather than describing it as an experimental artifact.</a:t>
            </a:r>
          </a:p>
          <a:p>
            <a:endParaRPr/>
          </a:p>
          <a:p>
            <a:r>
              <a:t>Handoff: Move to the ingestion and configuration reference if the question concerns how files become queryable or how limits are 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Q&amp;A reference — ingestion and configuration</a:t>
            </a:r>
          </a:p>
          <a:p>
            <a:r>
              <a:t>Target time: Use only when needed</a:t>
            </a:r>
          </a:p>
          <a:p>
            <a:r>
              <a:t>Audience takeaway: The ingestion process standardizes fields and dates before writing date-partitioned Parquet, while configuration defines the data path, safety settings, limits, and audit behavior.</a:t>
            </a:r>
          </a:p>
          <a:p>
            <a:endParaRPr/>
          </a:p>
          <a:p>
            <a:r>
              <a:t>Plain-English context and definitions:</a:t>
            </a:r>
          </a:p>
          <a:p>
            <a:r>
              <a:t>• Business_Date is the partition date attached to every ingested row.</a:t>
            </a:r>
          </a:p>
          <a:p>
            <a:r>
              <a:t>• Normalization makes column names and date formats consistent across source files.</a:t>
            </a:r>
          </a:p>
          <a:p>
            <a:r>
              <a:t>• Standard output, or stdout, is the configured audit-log destination shown for the solution.</a:t>
            </a:r>
          </a:p>
          <a:p>
            <a:endParaRPr/>
          </a:p>
          <a:p>
            <a:r>
              <a:t>Talk-through points:</a:t>
            </a:r>
          </a:p>
          <a:p>
            <a:r>
              <a:t>• Explain the five ingestion steps from configured CSV/XLSX files through Parquet output.</a:t>
            </a:r>
          </a:p>
          <a:p>
            <a:r>
              <a:t>• Column names are normalized, configured fields are retained, and date values are converted to YYYYMMDD strings.</a:t>
            </a:r>
          </a:p>
          <a:p>
            <a:r>
              <a:t>• Business_Date is added to every row and the files are written under dated directories.</a:t>
            </a:r>
          </a:p>
          <a:p>
            <a:r>
              <a:t>• Use the lower panels to answer exact configuration questions about data location, row caps, timeout, read-only mode, and audit logging.</a:t>
            </a:r>
          </a:p>
          <a:p>
            <a:r>
              <a:t>• Connect this slide to the next improvements: sample configuration and formal data contracts make these expectations repeatable for new datasets and environments.</a:t>
            </a:r>
          </a:p>
          <a:p>
            <a:endParaRPr/>
          </a:p>
          <a:p>
            <a:r>
              <a:t>Concrete example: A spreadsheet for business date &lt;YYYYMMDD&gt; is normalized, given the matching Business_Date, and written into the corresponding date partition before the query layer registers it as a view.</a:t>
            </a:r>
          </a:p>
          <a:p>
            <a:endParaRPr/>
          </a:p>
          <a:p>
            <a:r>
              <a:t>Why this slide matters: This reference explains the data foundation behind the query flow and helps the team answer schema, date, and configuration questions precisely.</a:t>
            </a:r>
          </a:p>
          <a:p>
            <a:endParaRPr/>
          </a:p>
          <a:p>
            <a:r>
              <a:t>Likely principal-engineer questions and answer prompts:</a:t>
            </a:r>
          </a:p>
          <a:p>
            <a:r>
              <a:t>1. Question: How is schema drift handled?</a:t>
            </a:r>
          </a:p>
          <a:p>
            <a:r>
              <a:t>   Answer: The current ingestion normalizes configured fields. A formal data contract and validation tests should define required fields, types, acceptable changes, and failure behavior.</a:t>
            </a:r>
          </a:p>
          <a:p>
            <a:r>
              <a:t>2. Question: How is a partial or missing input handled?</a:t>
            </a:r>
          </a:p>
          <a:p>
            <a:r>
              <a:t>   Answer: The exact behavior should be defined in data contracts and tool-response tests. The solution should return explicit missing or incomplete states rather than silently substituting data.</a:t>
            </a:r>
          </a:p>
          <a:p>
            <a:r>
              <a:t>3. Question: Why use date partitions?</a:t>
            </a:r>
          </a:p>
          <a:p>
            <a:r>
              <a:t>   Answer: They make the business date explicit and allow queries to register only the required files, reducing unnecessary scanning.</a:t>
            </a:r>
          </a:p>
          <a:p>
            <a:r>
              <a:t>4. Question: Is stdout the final audit destination?</a:t>
            </a:r>
          </a:p>
          <a:p>
            <a:r>
              <a:t>   Answer: It is the shown configuration. Integration with the organization’s logging platform would be an environment-specific implementation decision.</a:t>
            </a:r>
          </a:p>
          <a:p>
            <a:endParaRPr/>
          </a:p>
          <a:p>
            <a:r>
              <a:t>Boundaries and preparation notes:</a:t>
            </a:r>
          </a:p>
          <a:p>
            <a:r>
              <a:t>• Do not claim streaming or real-time ingestion; the described path processes configured CSV/XLSX sources.</a:t>
            </a:r>
          </a:p>
          <a:p>
            <a:r>
              <a:t>• Do not infer data-retention, recovery, or atomic-publication behavior that is not specified.</a:t>
            </a:r>
          </a:p>
          <a:p>
            <a:endParaRPr/>
          </a:p>
          <a:p>
            <a:r>
              <a:t>Handoff: Return to the main answer, or use the final appendix slide to route broader principal-engineer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6 moderates Q&amp;A; route to the numbered owner</a:t>
            </a:r>
          </a:p>
          <a:p>
            <a:r>
              <a:t>Target time: Up to 10:00 after the presentation</a:t>
            </a:r>
          </a:p>
          <a:p>
            <a:r>
              <a:t>Audience takeaway: The team should answer with the documented design first, explain the rationale or control, and identify unknowns honestly as validation or improvement topics.</a:t>
            </a:r>
          </a:p>
          <a:p>
            <a:endParaRPr/>
          </a:p>
          <a:p>
            <a:r>
              <a:t>Plain-English context and definitions:</a:t>
            </a:r>
          </a:p>
          <a:p>
            <a:r>
              <a:t>• Question ownership identifies the presenter who gives the first response; other presenters may add detail.</a:t>
            </a:r>
          </a:p>
          <a:p>
            <a:r>
              <a:t>• A validation item is a behavior or requirement that must be tested or confirmed before the team makes a claim.</a:t>
            </a:r>
          </a:p>
          <a:p>
            <a:endParaRPr/>
          </a:p>
          <a:p>
            <a:r>
              <a:t>Talk-through points:</a:t>
            </a:r>
          </a:p>
          <a:p>
            <a:r>
              <a:t>• Presenter 6 listens to the full question, restates it briefly if needed, and routes it to the numbered owner.</a:t>
            </a:r>
          </a:p>
          <a:p>
            <a:r>
              <a:t>• Presenter 1 owns the problem and intended users. Presenter 2 owns the investigation workflow and proposed user experience.</a:t>
            </a:r>
          </a:p>
          <a:p>
            <a:r>
              <a:t>• Presenter 3 owns intended value and P&amp;L semantics. Presenter 4 owns the alternatives, FastMCP, DuckDB, Parquet, and architecture rationale.</a:t>
            </a:r>
          </a:p>
          <a:p>
            <a:r>
              <a:t>• Presenter 5 owns the tool tiers and query flow. Presenter 6 owns controls, improvements, broader reuse, and the close.</a:t>
            </a:r>
          </a:p>
          <a:p>
            <a:r>
              <a:t>• Keep answers to approximately 60 to 90 seconds. Lead with the direct answer, then give evidence or rationale, then identify any remaining validation item.</a:t>
            </a:r>
          </a:p>
          <a:p>
            <a:r>
              <a:t>• Use the other appendix slides for dataset roles, function names, configuration values, or ingestion details rather than reciting them from memory.</a:t>
            </a:r>
          </a:p>
          <a:p>
            <a:endParaRPr/>
          </a:p>
          <a:p>
            <a:r>
              <a:t>Concrete example: If asked about concurrency, answer: ‘The current architecture uses embedded DuckDB over Parquet. Representative concurrency has not been specified, so workload testing is a validation item that may influence deployment or architecture.’</a:t>
            </a:r>
          </a:p>
          <a:p>
            <a:endParaRPr/>
          </a:p>
          <a:p>
            <a:r>
              <a:t>Why this slide matters: A prepared routing and answer discipline helps the six presenters respond consistently and avoids unsupported claims under principal-engineer scrutiny.</a:t>
            </a:r>
          </a:p>
          <a:p>
            <a:endParaRPr/>
          </a:p>
          <a:p>
            <a:r>
              <a:t>Likely principal-engineer questions and answer prompts:</a:t>
            </a:r>
          </a:p>
          <a:p>
            <a:r>
              <a:t>1. Question: Why did the team choose this instead of a dashboard?</a:t>
            </a:r>
          </a:p>
          <a:p>
            <a:r>
              <a:t>   Answer: Dashboards remain valuable for predefined views. This design adds governed discovery and branching analysis for questions that are not known in advance.</a:t>
            </a:r>
          </a:p>
          <a:p>
            <a:r>
              <a:t>2. Question: What is the largest technical risk?</a:t>
            </a:r>
          </a:p>
          <a:p>
            <a:r>
              <a:t>   Answer: Incorrect semantic selection or unsafe query behavior. Data contracts, domain guidance, layered controls, and automated SQL/tool-response tests directly address those risks.</a:t>
            </a:r>
          </a:p>
          <a:p>
            <a:r>
              <a:t>3. Question: What happens at larger data volumes or concurrency?</a:t>
            </a:r>
          </a:p>
          <a:p>
            <a:r>
              <a:t>   Answer: The embedded design should be benchmarked with representative workloads. If requirements exceed it, a managed analytical service or different deployment model may be appropriate.</a:t>
            </a:r>
          </a:p>
          <a:p>
            <a:r>
              <a:t>4. Question: How is answer accuracy established?</a:t>
            </a:r>
          </a:p>
          <a:p>
            <a:r>
              <a:t>   Answer: Compare tool outputs with agreed reference queries for representative cases, verify dataset, date, grain, and joins, and track completeness and error behavior.</a:t>
            </a:r>
          </a:p>
          <a:p>
            <a:r>
              <a:t>5. Question: What would you improve next?</a:t>
            </a:r>
          </a:p>
          <a:p>
            <a:r>
              <a:t>   Answer: Automated safety and response tests, formal data contracts and sample configuration, validated packaging/client setup, and reusable desk workflow examples.</a:t>
            </a:r>
          </a:p>
          <a:p>
            <a:endParaRPr/>
          </a:p>
          <a:p>
            <a:r>
              <a:t>Boundaries and preparation notes:</a:t>
            </a:r>
          </a:p>
          <a:p>
            <a:r>
              <a:t>• Do not speculate about entitlements, operating models, service levels, or quantitative performance if no evidence is available.</a:t>
            </a:r>
          </a:p>
          <a:p>
            <a:r>
              <a:t>• Invite the reviewers to identify feasibility, scalability, control, and integration improvements; frame the discussion as technical critique and guidance.</a:t>
            </a:r>
          </a:p>
          <a:p>
            <a:endParaRPr/>
          </a:p>
          <a:p>
            <a:r>
              <a:t>Handoff: Conclude Q&amp;A by restating the solution’s purpose and the engineering feedback the team will carry forward.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194ECB8-0399-4330-8BC2-EF57E1E70459}"/>
              </a:ext>
            </a:extLst>
          </p:cNvPr>
          <p:cNvSpPr>
            <a:spLocks noGrp="1"/>
          </p:cNvSpPr>
          <p:nvPr/>
        </p:nvSpPr>
        <p:spPr>
          <a:xfrm>
            <a:off x="0" y="0"/>
            <a:ext cx="114300" cy="68580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0149ACFA-3897-4032-BBE8-0726F179D2C6}"/>
              </a:ext>
            </a:extLst>
          </p:cNvPr>
          <p:cNvSpPr>
            <a:spLocks noGrp="1"/>
          </p:cNvSpPr>
          <p:nvPr/>
        </p:nvSpPr>
        <p:spPr>
          <a:xfrm>
            <a:off x="114300" y="0"/>
            <a:ext cx="28575" cy="6858000"/>
          </a:xfrm>
          <a:prstGeom prst="rect">
            <a:avLst/>
          </a:prstGeom>
          <a:solidFill>
            <a:srgbClr val="FFCD41"/>
          </a:solidFill>
          <a:ln w="9525">
            <a:solidFill>
              <a:srgbClr val="FFCD41"/>
            </a:solidFill>
            <a:prstDash val="solid"/>
          </a:ln>
        </p:spPr>
      </p:sp>
      <p:sp>
        <p:nvSpPr>
          <p:cNvPr id="3" name="Rectangle 2">
            <a:extLst>
              <a:ext uri="{FF2B5EF4-FFF2-40B4-BE49-F238E27FC236}">
                <a16:creationId xmlns:a16="http://schemas.microsoft.com/office/drawing/2014/main" id="{05D7BD7A-3EC7-4610-B85A-1D10A71D4F5A}"/>
              </a:ext>
            </a:extLst>
          </p:cNvPr>
          <p:cNvSpPr>
            <a:spLocks noGrp="1"/>
          </p:cNvSpPr>
          <p:nvPr/>
        </p:nvSpPr>
        <p:spPr>
          <a:xfrm>
            <a:off x="800100" y="857250"/>
            <a:ext cx="4953000" cy="228600"/>
          </a:xfrm>
          <a:prstGeom prst="rect">
            <a:avLst/>
          </a:prstGeom>
          <a:noFill/>
          <a:ln w="0">
            <a:noFill/>
            <a:prstDash val="solid"/>
          </a:ln>
        </p:spPr>
        <p:txBody>
          <a:bodyPr lIns="0" tIns="0" rIns="0" bIns="0" anchor="t">
            <a:noAutofit/>
          </a:bodyPr>
          <a:lstStyle/>
          <a:p>
            <a:pPr algn="l">
              <a:lnSpc>
                <a:spcPct val="100000"/>
              </a:lnSpc>
              <a:buNone/>
              <a:defRPr sz="1050" b="1">
                <a:solidFill>
                  <a:srgbClr val="971B2F"/>
                </a:solidFill>
                <a:latin typeface="Aptos"/>
                <a:ea typeface="Aptos"/>
                <a:cs typeface="Aptos"/>
              </a:defRPr>
            </a:pPr>
            <a:r>
              <a:rPr sz="1050" b="1">
                <a:solidFill>
                  <a:srgbClr val="971B2F"/>
                </a:solidFill>
                <a:latin typeface="Aptos"/>
                <a:ea typeface="Aptos"/>
                <a:cs typeface="Aptos"/>
              </a:rPr>
              <a:t>LEAP TECHNICAL RECOMMENDATION</a:t>
            </a:r>
          </a:p>
        </p:txBody>
      </p:sp>
      <p:sp>
        <p:nvSpPr>
          <p:cNvPr id="4" name="Rectangle 3">
            <a:extLst>
              <a:ext uri="{FF2B5EF4-FFF2-40B4-BE49-F238E27FC236}">
                <a16:creationId xmlns:a16="http://schemas.microsoft.com/office/drawing/2014/main" id="{41411906-69EB-4A30-B600-F4A9FF08394A}"/>
              </a:ext>
            </a:extLst>
          </p:cNvPr>
          <p:cNvSpPr>
            <a:spLocks noGrp="1"/>
          </p:cNvSpPr>
          <p:nvPr/>
        </p:nvSpPr>
        <p:spPr>
          <a:xfrm>
            <a:off x="800100" y="1438275"/>
            <a:ext cx="7524750" cy="1504950"/>
          </a:xfrm>
          <a:prstGeom prst="rect">
            <a:avLst/>
          </a:prstGeom>
          <a:noFill/>
          <a:ln w="0">
            <a:noFill/>
            <a:prstDash val="solid"/>
          </a:ln>
        </p:spPr>
        <p:txBody>
          <a:bodyPr lIns="0" tIns="0" rIns="0" bIns="0" anchor="t">
            <a:noAutofit/>
          </a:bodyPr>
          <a:lstStyle/>
          <a:p>
            <a:pPr algn="l">
              <a:lnSpc>
                <a:spcPct val="92000"/>
              </a:lnSpc>
              <a:buNone/>
              <a:defRPr sz="4125" b="1">
                <a:solidFill>
                  <a:srgbClr val="20252B"/>
                </a:solidFill>
                <a:latin typeface="Aptos"/>
                <a:ea typeface="Aptos"/>
                <a:cs typeface="Aptos"/>
              </a:defRPr>
            </a:pPr>
            <a:r>
              <a:rPr sz="4125" b="1">
                <a:solidFill>
                  <a:srgbClr val="20252B"/>
                </a:solidFill>
                <a:latin typeface="Aptos"/>
                <a:ea typeface="Aptos"/>
                <a:cs typeface="Aptos"/>
              </a:rPr>
              <a:t>AI-Powered Trade</a:t>
            </a:r>
          </a:p>
          <a:p>
            <a:pPr algn="l">
              <a:lnSpc>
                <a:spcPct val="92000"/>
              </a:lnSpc>
              <a:buNone/>
              <a:defRPr sz="4125" b="1">
                <a:solidFill>
                  <a:srgbClr val="20252B"/>
                </a:solidFill>
                <a:latin typeface="Aptos"/>
                <a:ea typeface="Aptos"/>
                <a:cs typeface="Aptos"/>
              </a:defRPr>
            </a:pPr>
            <a:r>
              <a:rPr sz="4125" b="1">
                <a:solidFill>
                  <a:srgbClr val="20252B"/>
                </a:solidFill>
                <a:latin typeface="Aptos"/>
                <a:ea typeface="Aptos"/>
                <a:cs typeface="Aptos"/>
              </a:rPr>
              <a:t>P&amp;L Analysis Platform</a:t>
            </a:r>
          </a:p>
        </p:txBody>
      </p:sp>
      <p:sp>
        <p:nvSpPr>
          <p:cNvPr id="5" name="Rectangle 4">
            <a:extLst>
              <a:ext uri="{FF2B5EF4-FFF2-40B4-BE49-F238E27FC236}">
                <a16:creationId xmlns:a16="http://schemas.microsoft.com/office/drawing/2014/main" id="{A9A974A3-4F07-4BC6-A73E-97A4F4ADBC09}"/>
              </a:ext>
            </a:extLst>
          </p:cNvPr>
          <p:cNvSpPr>
            <a:spLocks noGrp="1"/>
          </p:cNvSpPr>
          <p:nvPr/>
        </p:nvSpPr>
        <p:spPr>
          <a:xfrm>
            <a:off x="819150" y="3219450"/>
            <a:ext cx="6858000" cy="590550"/>
          </a:xfrm>
          <a:prstGeom prst="rect">
            <a:avLst/>
          </a:prstGeom>
          <a:noFill/>
          <a:ln w="0">
            <a:noFill/>
            <a:prstDash val="solid"/>
          </a:ln>
        </p:spPr>
        <p:txBody>
          <a:bodyPr lIns="0" tIns="0" rIns="0" bIns="0" anchor="t">
            <a:noAutofit/>
          </a:bodyPr>
          <a:lstStyle/>
          <a:p>
            <a:pPr algn="l">
              <a:lnSpc>
                <a:spcPct val="108000"/>
              </a:lnSpc>
              <a:buNone/>
              <a:defRPr sz="1800" b="0">
                <a:solidFill>
                  <a:srgbClr val="3F4953"/>
                </a:solidFill>
                <a:latin typeface="Aptos"/>
                <a:ea typeface="Aptos"/>
                <a:cs typeface="Aptos"/>
              </a:defRPr>
            </a:pPr>
            <a:r>
              <a:rPr sz="1800" b="0">
                <a:solidFill>
                  <a:srgbClr val="3F4953"/>
                </a:solidFill>
                <a:latin typeface="Aptos"/>
                <a:ea typeface="Aptos"/>
                <a:cs typeface="Aptos"/>
              </a:rPr>
              <a:t>A governed AI assistant for faster, explainable trading analysis</a:t>
            </a:r>
          </a:p>
        </p:txBody>
      </p:sp>
      <p:sp>
        <p:nvSpPr>
          <p:cNvPr id="6" name="Straight Connector 5">
            <a:extLst>
              <a:ext uri="{FF2B5EF4-FFF2-40B4-BE49-F238E27FC236}">
                <a16:creationId xmlns:a16="http://schemas.microsoft.com/office/drawing/2014/main" id="{1523C565-8A8B-49E7-8BD7-019D8F1D38DC}"/>
              </a:ext>
            </a:extLst>
          </p:cNvPr>
          <p:cNvSpPr>
            <a:spLocks noGrp="1"/>
          </p:cNvSpPr>
          <p:nvPr/>
        </p:nvSpPr>
        <p:spPr>
          <a:xfrm>
            <a:off x="819150" y="4210050"/>
            <a:ext cx="4648200" cy="0"/>
          </a:xfrm>
          <a:prstGeom prst="line">
            <a:avLst/>
          </a:prstGeom>
          <a:noFill/>
          <a:ln w="38100">
            <a:solidFill>
              <a:srgbClr val="D71E28"/>
            </a:solidFill>
            <a:prstDash val="solid"/>
          </a:ln>
        </p:spPr>
      </p:sp>
      <p:sp>
        <p:nvSpPr>
          <p:cNvPr id="7" name="Rectangle 6">
            <a:extLst>
              <a:ext uri="{FF2B5EF4-FFF2-40B4-BE49-F238E27FC236}">
                <a16:creationId xmlns:a16="http://schemas.microsoft.com/office/drawing/2014/main" id="{31031712-BA63-4D7E-B313-4B684FAAF3A4}"/>
              </a:ext>
            </a:extLst>
          </p:cNvPr>
          <p:cNvSpPr>
            <a:spLocks noGrp="1"/>
          </p:cNvSpPr>
          <p:nvPr/>
        </p:nvSpPr>
        <p:spPr>
          <a:xfrm>
            <a:off x="819150" y="4524375"/>
            <a:ext cx="3429000" cy="323850"/>
          </a:xfrm>
          <a:prstGeom prst="rect">
            <a:avLst/>
          </a:prstGeom>
          <a:noFill/>
          <a:ln w="0">
            <a:noFill/>
            <a:prstDash val="solid"/>
          </a:ln>
        </p:spPr>
        <p:txBody>
          <a:bodyPr lIns="0" tIns="0" rIns="0" bIns="0" anchor="t">
            <a:noAutofit/>
          </a:bodyPr>
          <a:lstStyle/>
          <a:p>
            <a:pPr algn="l">
              <a:lnSpc>
                <a:spcPct val="100000"/>
              </a:lnSpc>
              <a:buNone/>
              <a:defRPr sz="1650" b="1">
                <a:solidFill>
                  <a:srgbClr val="20252B"/>
                </a:solidFill>
                <a:latin typeface="Aptos"/>
                <a:ea typeface="Aptos"/>
                <a:cs typeface="Aptos"/>
              </a:defRPr>
            </a:pPr>
            <a:r>
              <a:rPr sz="1650" b="1">
                <a:solidFill>
                  <a:srgbClr val="20252B"/>
                </a:solidFill>
                <a:latin typeface="Aptos"/>
                <a:ea typeface="Aptos"/>
                <a:cs typeface="Aptos"/>
              </a:rPr>
              <a:t>LEAP Team</a:t>
            </a:r>
          </a:p>
        </p:txBody>
      </p:sp>
      <p:sp>
        <p:nvSpPr>
          <p:cNvPr id="8" name="Rectangle 7">
            <a:extLst>
              <a:ext uri="{FF2B5EF4-FFF2-40B4-BE49-F238E27FC236}">
                <a16:creationId xmlns:a16="http://schemas.microsoft.com/office/drawing/2014/main" id="{14280DAD-EBA6-42E2-9B55-D4AD87A07440}"/>
              </a:ext>
            </a:extLst>
          </p:cNvPr>
          <p:cNvSpPr>
            <a:spLocks noGrp="1"/>
          </p:cNvSpPr>
          <p:nvPr/>
        </p:nvSpPr>
        <p:spPr>
          <a:xfrm>
            <a:off x="819150" y="4924425"/>
            <a:ext cx="4762500" cy="247650"/>
          </a:xfrm>
          <a:prstGeom prst="rect">
            <a:avLst/>
          </a:prstGeom>
          <a:noFill/>
          <a:ln w="0">
            <a:noFill/>
            <a:prstDash val="solid"/>
          </a:ln>
        </p:spPr>
        <p:txBody>
          <a:bodyPr lIns="0" tIns="0" rIns="0" bIns="0" anchor="t">
            <a:noAutofit/>
          </a:bodyPr>
          <a:lstStyle/>
          <a:p>
            <a:pPr algn="l">
              <a:lnSpc>
                <a:spcPct val="100000"/>
              </a:lnSpc>
              <a:buNone/>
              <a:defRPr sz="1275" b="0">
                <a:solidFill>
                  <a:srgbClr val="5D6772"/>
                </a:solidFill>
                <a:latin typeface="Aptos"/>
                <a:ea typeface="Aptos"/>
                <a:cs typeface="Aptos"/>
              </a:defRPr>
            </a:pPr>
            <a:r>
              <a:rPr sz="1275" b="0">
                <a:solidFill>
                  <a:srgbClr val="5D6772"/>
                </a:solidFill>
                <a:latin typeface="Aptos"/>
                <a:ea typeface="Aptos"/>
                <a:cs typeface="Aptos"/>
              </a:rPr>
              <a:t>Six-person engineering recommendation</a:t>
            </a:r>
          </a:p>
        </p:txBody>
      </p:sp>
      <p:sp>
        <p:nvSpPr>
          <p:cNvPr id="9" name="Rectangle: Rounded Corners 8">
            <a:extLst>
              <a:ext uri="{FF2B5EF4-FFF2-40B4-BE49-F238E27FC236}">
                <a16:creationId xmlns:a16="http://schemas.microsoft.com/office/drawing/2014/main" id="{3B1F9E8C-743A-46E9-B887-9A8429C00818}"/>
              </a:ext>
            </a:extLst>
          </p:cNvPr>
          <p:cNvSpPr>
            <a:spLocks noGrp="1"/>
          </p:cNvSpPr>
          <p:nvPr/>
        </p:nvSpPr>
        <p:spPr>
          <a:xfrm>
            <a:off x="8610600" y="1352550"/>
            <a:ext cx="2343150" cy="3143250"/>
          </a:xfrm>
          <a:prstGeom prst="roundRect">
            <a:avLst>
              <a:gd name="adj" fmla="val 9756"/>
            </a:avLst>
          </a:prstGeom>
          <a:solidFill>
            <a:schemeClr val="accent6">
              <a:lumMod val="50000"/>
            </a:schemeClr>
          </a:solidFill>
          <a:ln w="9525">
            <a:solidFill>
              <a:srgbClr val="20252B"/>
            </a:solidFill>
            <a:prstDash val="solid"/>
          </a:ln>
        </p:spPr>
      </p:sp>
      <p:sp>
        <p:nvSpPr>
          <p:cNvPr id="10" name="Rectangle 9">
            <a:extLst>
              <a:ext uri="{FF2B5EF4-FFF2-40B4-BE49-F238E27FC236}">
                <a16:creationId xmlns:a16="http://schemas.microsoft.com/office/drawing/2014/main" id="{05E8D8A8-24DD-4906-AC33-52320CBC00C3}"/>
              </a:ext>
            </a:extLst>
          </p:cNvPr>
          <p:cNvSpPr>
            <a:spLocks noGrp="1"/>
          </p:cNvSpPr>
          <p:nvPr/>
        </p:nvSpPr>
        <p:spPr>
          <a:xfrm>
            <a:off x="8934450" y="1790700"/>
            <a:ext cx="1695450" cy="647700"/>
          </a:xfrm>
          <a:prstGeom prst="rect">
            <a:avLst/>
          </a:prstGeom>
          <a:noFill/>
          <a:ln w="0">
            <a:noFill/>
            <a:prstDash val="solid"/>
          </a:ln>
        </p:spPr>
        <p:txBody>
          <a:bodyPr lIns="0" tIns="0" rIns="0" bIns="0" anchor="t">
            <a:noAutofit/>
          </a:bodyPr>
          <a:lstStyle/>
          <a:p>
            <a:pPr algn="ctr">
              <a:lnSpc>
                <a:spcPct val="92000"/>
              </a:lnSpc>
              <a:buNone/>
              <a:defRPr sz="1500" b="1">
                <a:solidFill>
                  <a:srgbClr val="FFFFFF"/>
                </a:solidFill>
                <a:latin typeface="Aptos"/>
                <a:ea typeface="Aptos"/>
                <a:cs typeface="Aptos"/>
              </a:defRPr>
            </a:pPr>
            <a:r>
              <a:rPr sz="1500" b="1">
                <a:solidFill>
                  <a:srgbClr val="FFFFFF"/>
                </a:solidFill>
                <a:latin typeface="Aptos"/>
                <a:ea typeface="Aptos"/>
                <a:cs typeface="Aptos"/>
              </a:rPr>
              <a:t>NATURAL</a:t>
            </a:r>
          </a:p>
          <a:p>
            <a:pPr algn="ctr">
              <a:lnSpc>
                <a:spcPct val="92000"/>
              </a:lnSpc>
              <a:buNone/>
              <a:defRPr sz="1500" b="1">
                <a:solidFill>
                  <a:srgbClr val="FFFFFF"/>
                </a:solidFill>
                <a:latin typeface="Aptos"/>
                <a:ea typeface="Aptos"/>
                <a:cs typeface="Aptos"/>
              </a:defRPr>
            </a:pPr>
            <a:r>
              <a:rPr sz="1500" b="1">
                <a:solidFill>
                  <a:srgbClr val="FFFFFF"/>
                </a:solidFill>
                <a:latin typeface="Aptos"/>
                <a:ea typeface="Aptos"/>
                <a:cs typeface="Aptos"/>
              </a:rPr>
              <a:t>LANGUAGE</a:t>
            </a:r>
          </a:p>
        </p:txBody>
      </p:sp>
      <p:sp>
        <p:nvSpPr>
          <p:cNvPr id="11" name="Straight Connector 10">
            <a:extLst>
              <a:ext uri="{FF2B5EF4-FFF2-40B4-BE49-F238E27FC236}">
                <a16:creationId xmlns:a16="http://schemas.microsoft.com/office/drawing/2014/main" id="{3261E6A2-8931-4A83-9E79-532BD90503B3}"/>
              </a:ext>
            </a:extLst>
          </p:cNvPr>
          <p:cNvSpPr>
            <a:spLocks noGrp="1"/>
          </p:cNvSpPr>
          <p:nvPr/>
        </p:nvSpPr>
        <p:spPr>
          <a:xfrm>
            <a:off x="9782175" y="2647950"/>
            <a:ext cx="9525" cy="485775"/>
          </a:xfrm>
          <a:prstGeom prst="line">
            <a:avLst/>
          </a:prstGeom>
          <a:noFill/>
          <a:ln w="38100">
            <a:solidFill>
              <a:srgbClr val="FFCD41"/>
            </a:solidFill>
            <a:prstDash val="solid"/>
          </a:ln>
        </p:spPr>
      </p:sp>
      <p:sp>
        <p:nvSpPr>
          <p:cNvPr id="12" name="Rectangle 11">
            <a:extLst>
              <a:ext uri="{FF2B5EF4-FFF2-40B4-BE49-F238E27FC236}">
                <a16:creationId xmlns:a16="http://schemas.microsoft.com/office/drawing/2014/main" id="{429FF299-CC16-4344-92A7-FD7816612698}"/>
              </a:ext>
            </a:extLst>
          </p:cNvPr>
          <p:cNvSpPr>
            <a:spLocks noGrp="1"/>
          </p:cNvSpPr>
          <p:nvPr/>
        </p:nvSpPr>
        <p:spPr>
          <a:xfrm>
            <a:off x="8934450" y="3286125"/>
            <a:ext cx="1695450" cy="647700"/>
          </a:xfrm>
          <a:prstGeom prst="rect">
            <a:avLst/>
          </a:prstGeom>
          <a:noFill/>
          <a:ln w="0">
            <a:noFill/>
            <a:prstDash val="solid"/>
          </a:ln>
        </p:spPr>
        <p:txBody>
          <a:bodyPr lIns="0" tIns="0" rIns="0" bIns="0" anchor="t">
            <a:noAutofit/>
          </a:bodyPr>
          <a:lstStyle/>
          <a:p>
            <a:pPr algn="ctr">
              <a:lnSpc>
                <a:spcPct val="92000"/>
              </a:lnSpc>
              <a:buNone/>
              <a:defRPr sz="1500" b="1">
                <a:solidFill>
                  <a:srgbClr val="FFCD41"/>
                </a:solidFill>
                <a:latin typeface="Aptos"/>
                <a:ea typeface="Aptos"/>
                <a:cs typeface="Aptos"/>
              </a:defRPr>
            </a:pPr>
            <a:r>
              <a:rPr sz="1500" b="1">
                <a:solidFill>
                  <a:srgbClr val="FFCD41"/>
                </a:solidFill>
                <a:latin typeface="Aptos"/>
                <a:ea typeface="Aptos"/>
                <a:cs typeface="Aptos"/>
              </a:rPr>
              <a:t>GOVERNED</a:t>
            </a:r>
          </a:p>
          <a:p>
            <a:pPr algn="ctr">
              <a:lnSpc>
                <a:spcPct val="92000"/>
              </a:lnSpc>
              <a:buNone/>
              <a:defRPr sz="1500" b="1">
                <a:solidFill>
                  <a:srgbClr val="FFCD41"/>
                </a:solidFill>
                <a:latin typeface="Aptos"/>
                <a:ea typeface="Aptos"/>
                <a:cs typeface="Aptos"/>
              </a:defRPr>
            </a:pPr>
            <a:r>
              <a:rPr sz="1500" b="1">
                <a:solidFill>
                  <a:srgbClr val="FFCD41"/>
                </a:solidFill>
                <a:latin typeface="Aptos"/>
                <a:ea typeface="Aptos"/>
                <a:cs typeface="Aptos"/>
              </a:rPr>
              <a:t>MCP TOOLS</a:t>
            </a:r>
          </a:p>
        </p:txBody>
      </p:sp>
      <p:sp>
        <p:nvSpPr>
          <p:cNvPr id="13" name="Rectangle 12">
            <a:extLst>
              <a:ext uri="{FF2B5EF4-FFF2-40B4-BE49-F238E27FC236}">
                <a16:creationId xmlns:a16="http://schemas.microsoft.com/office/drawing/2014/main" id="{1B4724C4-31B0-4EF2-9381-836DB7837BDE}"/>
              </a:ext>
            </a:extLst>
          </p:cNvPr>
          <p:cNvSpPr>
            <a:spLocks noGrp="1"/>
          </p:cNvSpPr>
          <p:nvPr/>
        </p:nvSpPr>
        <p:spPr>
          <a:xfrm>
            <a:off x="800100" y="6029325"/>
            <a:ext cx="571500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a:ea typeface="Aptos"/>
                <a:cs typeface="Aptos"/>
              </a:defRPr>
            </a:pPr>
            <a:r>
              <a:rPr sz="1200" b="1">
                <a:solidFill>
                  <a:srgbClr val="971B2F"/>
                </a:solidFill>
                <a:latin typeface="Aptos"/>
                <a:ea typeface="Aptos"/>
                <a:cs typeface="Aptos"/>
              </a:rPr>
              <a:t>FastMCP  •  DuckDB  •  Parquet</a:t>
            </a:r>
          </a:p>
        </p:txBody>
      </p:sp>
    </p:spTree>
    <p:extLst>
      <p:ext uri="{BB962C8B-B14F-4D97-AF65-F5344CB8AC3E}">
        <p14:creationId xmlns:p14="http://schemas.microsoft.com/office/powerpoint/2010/main" val="751154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EE648C1B-9971-4D7A-9DD8-C44449B06BCE}"/>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CC623A99-45BD-49F5-B280-032AC4C22FF6}"/>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PROBLEM</a:t>
            </a:r>
          </a:p>
        </p:txBody>
      </p:sp>
      <p:sp>
        <p:nvSpPr>
          <p:cNvPr id="3" name="Rectangle 2">
            <a:extLst>
              <a:ext uri="{FF2B5EF4-FFF2-40B4-BE49-F238E27FC236}">
                <a16:creationId xmlns:a16="http://schemas.microsoft.com/office/drawing/2014/main" id="{60695847-80C3-4F61-BD9D-F23ED4D38520}"/>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Why P&amp;L investigation is difficult today</a:t>
            </a:r>
          </a:p>
        </p:txBody>
      </p:sp>
      <p:sp>
        <p:nvSpPr>
          <p:cNvPr id="4" name="Straight Connector 3">
            <a:extLst>
              <a:ext uri="{FF2B5EF4-FFF2-40B4-BE49-F238E27FC236}">
                <a16:creationId xmlns:a16="http://schemas.microsoft.com/office/drawing/2014/main" id="{053AA49E-732A-4AEE-8E0F-3F9B77971972}"/>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238FD163-D34F-4227-9242-4648E68E6F3B}"/>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A21791A7-4B15-46A0-87D9-F159A00AA7E8}"/>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02</a:t>
            </a:r>
          </a:p>
        </p:txBody>
      </p:sp>
      <p:sp>
        <p:nvSpPr>
          <p:cNvPr id="7" name="Rectangle 6">
            <a:extLst>
              <a:ext uri="{FF2B5EF4-FFF2-40B4-BE49-F238E27FC236}">
                <a16:creationId xmlns:a16="http://schemas.microsoft.com/office/drawing/2014/main" id="{01B2AAC4-9724-41E9-B342-11D27FF1008B}"/>
              </a:ext>
            </a:extLst>
          </p:cNvPr>
          <p:cNvSpPr>
            <a:spLocks noGrp="1"/>
          </p:cNvSpPr>
          <p:nvPr/>
        </p:nvSpPr>
        <p:spPr>
          <a:xfrm>
            <a:off x="609600" y="1104900"/>
            <a:ext cx="97155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A simple business question depends on data and context spread across multiple systems.</a:t>
            </a:r>
          </a:p>
        </p:txBody>
      </p:sp>
      <p:sp>
        <p:nvSpPr>
          <p:cNvPr id="8" name="Straight Connector 7">
            <a:extLst>
              <a:ext uri="{FF2B5EF4-FFF2-40B4-BE49-F238E27FC236}">
                <a16:creationId xmlns:a16="http://schemas.microsoft.com/office/drawing/2014/main" id="{6092F251-1EDE-480A-A885-AD5BF0B24D16}"/>
              </a:ext>
            </a:extLst>
          </p:cNvPr>
          <p:cNvSpPr>
            <a:spLocks noGrp="1"/>
          </p:cNvSpPr>
          <p:nvPr/>
        </p:nvSpPr>
        <p:spPr>
          <a:xfrm flipH="1" flipV="1">
            <a:off x="2295525" y="2181225"/>
            <a:ext cx="3800475" cy="1028700"/>
          </a:xfrm>
          <a:prstGeom prst="line">
            <a:avLst/>
          </a:prstGeom>
          <a:noFill/>
          <a:ln w="19050">
            <a:solidFill>
              <a:srgbClr val="D71E28"/>
            </a:solidFill>
            <a:prstDash val="solid"/>
          </a:ln>
        </p:spPr>
      </p:sp>
      <p:sp>
        <p:nvSpPr>
          <p:cNvPr id="9" name="Straight Connector 8">
            <a:extLst>
              <a:ext uri="{FF2B5EF4-FFF2-40B4-BE49-F238E27FC236}">
                <a16:creationId xmlns:a16="http://schemas.microsoft.com/office/drawing/2014/main" id="{6A2F7827-21CA-46F4-803F-BD224E1107FC}"/>
              </a:ext>
            </a:extLst>
          </p:cNvPr>
          <p:cNvSpPr>
            <a:spLocks noGrp="1"/>
          </p:cNvSpPr>
          <p:nvPr/>
        </p:nvSpPr>
        <p:spPr>
          <a:xfrm flipH="1">
            <a:off x="2295525" y="3209925"/>
            <a:ext cx="3800475" cy="1076325"/>
          </a:xfrm>
          <a:prstGeom prst="line">
            <a:avLst/>
          </a:prstGeom>
          <a:noFill/>
          <a:ln w="19050">
            <a:solidFill>
              <a:srgbClr val="D71E28"/>
            </a:solidFill>
            <a:prstDash val="solid"/>
          </a:ln>
        </p:spPr>
      </p:sp>
      <p:sp>
        <p:nvSpPr>
          <p:cNvPr id="10" name="Straight Connector 9">
            <a:extLst>
              <a:ext uri="{FF2B5EF4-FFF2-40B4-BE49-F238E27FC236}">
                <a16:creationId xmlns:a16="http://schemas.microsoft.com/office/drawing/2014/main" id="{9142CABD-A20F-4858-BBE3-B5857764FCE3}"/>
              </a:ext>
            </a:extLst>
          </p:cNvPr>
          <p:cNvSpPr>
            <a:spLocks noGrp="1"/>
          </p:cNvSpPr>
          <p:nvPr/>
        </p:nvSpPr>
        <p:spPr>
          <a:xfrm flipH="1">
            <a:off x="5629275" y="3209925"/>
            <a:ext cx="466725" cy="2152650"/>
          </a:xfrm>
          <a:prstGeom prst="line">
            <a:avLst/>
          </a:prstGeom>
          <a:noFill/>
          <a:ln w="19050">
            <a:solidFill>
              <a:srgbClr val="D71E28"/>
            </a:solidFill>
            <a:prstDash val="solid"/>
          </a:ln>
        </p:spPr>
      </p:sp>
      <p:sp>
        <p:nvSpPr>
          <p:cNvPr id="11" name="Straight Connector 10">
            <a:extLst>
              <a:ext uri="{FF2B5EF4-FFF2-40B4-BE49-F238E27FC236}">
                <a16:creationId xmlns:a16="http://schemas.microsoft.com/office/drawing/2014/main" id="{F6E19AAC-AD03-4A71-89E0-E79A7BA3F760}"/>
              </a:ext>
            </a:extLst>
          </p:cNvPr>
          <p:cNvSpPr>
            <a:spLocks noGrp="1"/>
          </p:cNvSpPr>
          <p:nvPr/>
        </p:nvSpPr>
        <p:spPr>
          <a:xfrm>
            <a:off x="6096000" y="3209925"/>
            <a:ext cx="3800475" cy="1076325"/>
          </a:xfrm>
          <a:prstGeom prst="line">
            <a:avLst/>
          </a:prstGeom>
          <a:noFill/>
          <a:ln w="19050">
            <a:solidFill>
              <a:srgbClr val="D71E28"/>
            </a:solidFill>
            <a:prstDash val="solid"/>
          </a:ln>
        </p:spPr>
      </p:sp>
      <p:sp>
        <p:nvSpPr>
          <p:cNvPr id="12" name="Straight Connector 11">
            <a:extLst>
              <a:ext uri="{FF2B5EF4-FFF2-40B4-BE49-F238E27FC236}">
                <a16:creationId xmlns:a16="http://schemas.microsoft.com/office/drawing/2014/main" id="{E2F8755B-8D7A-4619-AACE-8E39A31CA7ED}"/>
              </a:ext>
            </a:extLst>
          </p:cNvPr>
          <p:cNvSpPr>
            <a:spLocks noGrp="1"/>
          </p:cNvSpPr>
          <p:nvPr/>
        </p:nvSpPr>
        <p:spPr>
          <a:xfrm flipV="1">
            <a:off x="6096000" y="2181225"/>
            <a:ext cx="3800475" cy="1028700"/>
          </a:xfrm>
          <a:prstGeom prst="line">
            <a:avLst/>
          </a:prstGeom>
          <a:noFill/>
          <a:ln w="19050">
            <a:solidFill>
              <a:srgbClr val="D71E28"/>
            </a:solidFill>
            <a:prstDash val="solid"/>
          </a:ln>
        </p:spPr>
      </p:sp>
      <p:sp>
        <p:nvSpPr>
          <p:cNvPr id="13" name="Oval 12">
            <a:extLst>
              <a:ext uri="{FF2B5EF4-FFF2-40B4-BE49-F238E27FC236}">
                <a16:creationId xmlns:a16="http://schemas.microsoft.com/office/drawing/2014/main" id="{51634703-220D-417B-9A27-64F0D1FAE12D}"/>
              </a:ext>
            </a:extLst>
          </p:cNvPr>
          <p:cNvSpPr>
            <a:spLocks noGrp="1"/>
          </p:cNvSpPr>
          <p:nvPr/>
        </p:nvSpPr>
        <p:spPr>
          <a:xfrm>
            <a:off x="4619625" y="2352675"/>
            <a:ext cx="2952750" cy="1714500"/>
          </a:xfrm>
          <a:prstGeom prst="ellipse">
            <a:avLst/>
          </a:prstGeom>
          <a:solidFill>
            <a:schemeClr val="accent6">
              <a:lumMod val="50000"/>
            </a:schemeClr>
          </a:solidFill>
          <a:ln w="9525">
            <a:solidFill>
              <a:srgbClr val="20252B"/>
            </a:solidFill>
            <a:prstDash val="solid"/>
          </a:ln>
        </p:spPr>
      </p:sp>
      <p:sp>
        <p:nvSpPr>
          <p:cNvPr id="14" name="Rectangle 13">
            <a:extLst>
              <a:ext uri="{FF2B5EF4-FFF2-40B4-BE49-F238E27FC236}">
                <a16:creationId xmlns:a16="http://schemas.microsoft.com/office/drawing/2014/main" id="{16C8088A-402B-453F-8D08-51CFAFD905DA}"/>
              </a:ext>
            </a:extLst>
          </p:cNvPr>
          <p:cNvSpPr>
            <a:spLocks noGrp="1"/>
          </p:cNvSpPr>
          <p:nvPr/>
        </p:nvSpPr>
        <p:spPr>
          <a:xfrm>
            <a:off x="5038725" y="2724150"/>
            <a:ext cx="2114550" cy="762000"/>
          </a:xfrm>
          <a:prstGeom prst="rect">
            <a:avLst/>
          </a:prstGeom>
          <a:noFill/>
          <a:ln w="0">
            <a:noFill/>
            <a:prstDash val="solid"/>
          </a:ln>
        </p:spPr>
        <p:txBody>
          <a:bodyPr lIns="0" tIns="0" rIns="0" bIns="0" anchor="t">
            <a:noAutofit/>
          </a:bodyPr>
          <a:lstStyle/>
          <a:p>
            <a:pPr algn="ctr">
              <a:lnSpc>
                <a:spcPct val="92000"/>
              </a:lnSpc>
              <a:buNone/>
              <a:defRPr sz="1875" b="1">
                <a:solidFill>
                  <a:srgbClr val="FFFFFF"/>
                </a:solidFill>
                <a:latin typeface="Aptos"/>
                <a:ea typeface="Aptos"/>
                <a:cs typeface="Aptos"/>
              </a:defRPr>
            </a:pPr>
            <a:r>
              <a:rPr sz="1875" b="1">
                <a:solidFill>
                  <a:srgbClr val="FFFFFF"/>
                </a:solidFill>
                <a:latin typeface="Aptos"/>
                <a:ea typeface="Aptos"/>
                <a:cs typeface="Aptos"/>
              </a:rPr>
              <a:t>WHY DID</a:t>
            </a:r>
          </a:p>
          <a:p>
            <a:pPr algn="ctr">
              <a:lnSpc>
                <a:spcPct val="92000"/>
              </a:lnSpc>
              <a:buNone/>
              <a:defRPr sz="1875" b="1">
                <a:solidFill>
                  <a:srgbClr val="FFFFFF"/>
                </a:solidFill>
                <a:latin typeface="Aptos"/>
                <a:ea typeface="Aptos"/>
                <a:cs typeface="Aptos"/>
              </a:defRPr>
            </a:pPr>
            <a:r>
              <a:rPr sz="1875" b="1">
                <a:solidFill>
                  <a:srgbClr val="FFFFFF"/>
                </a:solidFill>
                <a:latin typeface="Aptos"/>
                <a:ea typeface="Aptos"/>
                <a:cs typeface="Aptos"/>
              </a:rPr>
              <a:t>TODAY’S P&amp;L MOVE?</a:t>
            </a:r>
          </a:p>
        </p:txBody>
      </p:sp>
      <p:sp>
        <p:nvSpPr>
          <p:cNvPr id="15" name="Rectangle 14">
            <a:extLst>
              <a:ext uri="{FF2B5EF4-FFF2-40B4-BE49-F238E27FC236}">
                <a16:creationId xmlns:a16="http://schemas.microsoft.com/office/drawing/2014/main" id="{E8161CBE-6DFD-4AED-83E8-AB32170DE20D}"/>
              </a:ext>
            </a:extLst>
          </p:cNvPr>
          <p:cNvSpPr>
            <a:spLocks noGrp="1"/>
          </p:cNvSpPr>
          <p:nvPr/>
        </p:nvSpPr>
        <p:spPr>
          <a:xfrm>
            <a:off x="5372100" y="3581400"/>
            <a:ext cx="1447800" cy="190500"/>
          </a:xfrm>
          <a:prstGeom prst="rect">
            <a:avLst/>
          </a:prstGeom>
          <a:noFill/>
          <a:ln w="0">
            <a:noFill/>
            <a:prstDash val="solid"/>
          </a:ln>
        </p:spPr>
        <p:txBody>
          <a:bodyPr lIns="0" tIns="0" rIns="0" bIns="0" anchor="t">
            <a:noAutofit/>
          </a:bodyPr>
          <a:lstStyle/>
          <a:p>
            <a:pPr algn="ctr">
              <a:lnSpc>
                <a:spcPct val="100000"/>
              </a:lnSpc>
              <a:buNone/>
              <a:defRPr sz="1050" b="1">
                <a:solidFill>
                  <a:srgbClr val="FFCD41"/>
                </a:solidFill>
                <a:latin typeface="Aptos"/>
                <a:ea typeface="Aptos"/>
                <a:cs typeface="Aptos"/>
              </a:defRPr>
            </a:pPr>
            <a:r>
              <a:rPr sz="1050" b="1">
                <a:solidFill>
                  <a:srgbClr val="FFCD41"/>
                </a:solidFill>
                <a:latin typeface="Aptos"/>
                <a:ea typeface="Aptos"/>
                <a:cs typeface="Aptos"/>
              </a:rPr>
              <a:t>one question</a:t>
            </a:r>
          </a:p>
        </p:txBody>
      </p:sp>
      <p:sp>
        <p:nvSpPr>
          <p:cNvPr id="16" name="Rectangle: Rounded Corners 15">
            <a:extLst>
              <a:ext uri="{FF2B5EF4-FFF2-40B4-BE49-F238E27FC236}">
                <a16:creationId xmlns:a16="http://schemas.microsoft.com/office/drawing/2014/main" id="{B810D930-9FCA-4B8A-929A-56C547A3E150}"/>
              </a:ext>
            </a:extLst>
          </p:cNvPr>
          <p:cNvSpPr>
            <a:spLocks noGrp="1"/>
          </p:cNvSpPr>
          <p:nvPr/>
        </p:nvSpPr>
        <p:spPr>
          <a:xfrm>
            <a:off x="914400" y="1714500"/>
            <a:ext cx="2762250" cy="933450"/>
          </a:xfrm>
          <a:prstGeom prst="roundRect">
            <a:avLst>
              <a:gd name="adj" fmla="val 12245"/>
            </a:avLst>
          </a:prstGeom>
          <a:solidFill>
            <a:srgbClr val="FFFFFF"/>
          </a:solidFill>
          <a:ln w="9525">
            <a:solidFill>
              <a:srgbClr val="D7DCE2"/>
            </a:solidFill>
            <a:prstDash val="solid"/>
          </a:ln>
        </p:spPr>
      </p:sp>
      <p:sp>
        <p:nvSpPr>
          <p:cNvPr id="17" name="Rectangle 16">
            <a:extLst>
              <a:ext uri="{FF2B5EF4-FFF2-40B4-BE49-F238E27FC236}">
                <a16:creationId xmlns:a16="http://schemas.microsoft.com/office/drawing/2014/main" id="{8709B83B-FFFF-4C4B-96B7-73AB9DE2CC32}"/>
              </a:ext>
            </a:extLst>
          </p:cNvPr>
          <p:cNvSpPr>
            <a:spLocks noGrp="1"/>
          </p:cNvSpPr>
          <p:nvPr/>
        </p:nvSpPr>
        <p:spPr>
          <a:xfrm>
            <a:off x="1085850" y="1857375"/>
            <a:ext cx="2419350" cy="19050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P&amp;L</a:t>
            </a:r>
          </a:p>
        </p:txBody>
      </p:sp>
      <p:sp>
        <p:nvSpPr>
          <p:cNvPr id="18" name="Rectangle 17">
            <a:extLst>
              <a:ext uri="{FF2B5EF4-FFF2-40B4-BE49-F238E27FC236}">
                <a16:creationId xmlns:a16="http://schemas.microsoft.com/office/drawing/2014/main" id="{4007B806-9548-4414-8E64-0FDCF6163602}"/>
              </a:ext>
            </a:extLst>
          </p:cNvPr>
          <p:cNvSpPr>
            <a:spLocks noGrp="1"/>
          </p:cNvSpPr>
          <p:nvPr/>
        </p:nvSpPr>
        <p:spPr>
          <a:xfrm>
            <a:off x="1085850" y="2143125"/>
            <a:ext cx="2419350" cy="36195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Which version and date?</a:t>
            </a:r>
          </a:p>
        </p:txBody>
      </p:sp>
      <p:sp>
        <p:nvSpPr>
          <p:cNvPr id="19" name="Rectangle: Rounded Corners 18">
            <a:extLst>
              <a:ext uri="{FF2B5EF4-FFF2-40B4-BE49-F238E27FC236}">
                <a16:creationId xmlns:a16="http://schemas.microsoft.com/office/drawing/2014/main" id="{A09E614D-3E08-4AA9-80C3-38ACB7235E16}"/>
              </a:ext>
            </a:extLst>
          </p:cNvPr>
          <p:cNvSpPr>
            <a:spLocks noGrp="1"/>
          </p:cNvSpPr>
          <p:nvPr/>
        </p:nvSpPr>
        <p:spPr>
          <a:xfrm>
            <a:off x="914400" y="3819525"/>
            <a:ext cx="2762250" cy="933450"/>
          </a:xfrm>
          <a:prstGeom prst="roundRect">
            <a:avLst>
              <a:gd name="adj" fmla="val 12245"/>
            </a:avLst>
          </a:prstGeom>
          <a:solidFill>
            <a:srgbClr val="FFFFFF"/>
          </a:solidFill>
          <a:ln w="9525">
            <a:solidFill>
              <a:srgbClr val="D7DCE2"/>
            </a:solidFill>
            <a:prstDash val="solid"/>
          </a:ln>
        </p:spPr>
      </p:sp>
      <p:sp>
        <p:nvSpPr>
          <p:cNvPr id="20" name="Rectangle 19">
            <a:extLst>
              <a:ext uri="{FF2B5EF4-FFF2-40B4-BE49-F238E27FC236}">
                <a16:creationId xmlns:a16="http://schemas.microsoft.com/office/drawing/2014/main" id="{65747D2B-5D4D-4F52-AE22-EEC3D30B8609}"/>
              </a:ext>
            </a:extLst>
          </p:cNvPr>
          <p:cNvSpPr>
            <a:spLocks noGrp="1"/>
          </p:cNvSpPr>
          <p:nvPr/>
        </p:nvSpPr>
        <p:spPr>
          <a:xfrm>
            <a:off x="1085850" y="3962400"/>
            <a:ext cx="2419350" cy="19050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TRADES &amp; POSITIONS</a:t>
            </a:r>
          </a:p>
        </p:txBody>
      </p:sp>
      <p:sp>
        <p:nvSpPr>
          <p:cNvPr id="21" name="Rectangle 20">
            <a:extLst>
              <a:ext uri="{FF2B5EF4-FFF2-40B4-BE49-F238E27FC236}">
                <a16:creationId xmlns:a16="http://schemas.microsoft.com/office/drawing/2014/main" id="{2DCFC82B-6A7B-453F-BA7A-F2F23397DCFE}"/>
              </a:ext>
            </a:extLst>
          </p:cNvPr>
          <p:cNvSpPr>
            <a:spLocks noGrp="1"/>
          </p:cNvSpPr>
          <p:nvPr/>
        </p:nvSpPr>
        <p:spPr>
          <a:xfrm>
            <a:off x="1085850" y="4248150"/>
            <a:ext cx="2419350" cy="36195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Which activity contributed?</a:t>
            </a:r>
          </a:p>
        </p:txBody>
      </p:sp>
      <p:sp>
        <p:nvSpPr>
          <p:cNvPr id="22" name="Rectangle: Rounded Corners 21">
            <a:extLst>
              <a:ext uri="{FF2B5EF4-FFF2-40B4-BE49-F238E27FC236}">
                <a16:creationId xmlns:a16="http://schemas.microsoft.com/office/drawing/2014/main" id="{9ABBC80E-72D3-4A6B-B71A-133B22C75EC7}"/>
              </a:ext>
            </a:extLst>
          </p:cNvPr>
          <p:cNvSpPr>
            <a:spLocks noGrp="1"/>
          </p:cNvSpPr>
          <p:nvPr/>
        </p:nvSpPr>
        <p:spPr>
          <a:xfrm>
            <a:off x="4248150" y="4895850"/>
            <a:ext cx="2762250" cy="933450"/>
          </a:xfrm>
          <a:prstGeom prst="roundRect">
            <a:avLst>
              <a:gd name="adj" fmla="val 12245"/>
            </a:avLst>
          </a:prstGeom>
          <a:solidFill>
            <a:srgbClr val="FFFFFF"/>
          </a:solidFill>
          <a:ln w="9525">
            <a:solidFill>
              <a:srgbClr val="D7DCE2"/>
            </a:solidFill>
            <a:prstDash val="solid"/>
          </a:ln>
        </p:spPr>
      </p:sp>
      <p:sp>
        <p:nvSpPr>
          <p:cNvPr id="23" name="Rectangle 22">
            <a:extLst>
              <a:ext uri="{FF2B5EF4-FFF2-40B4-BE49-F238E27FC236}">
                <a16:creationId xmlns:a16="http://schemas.microsoft.com/office/drawing/2014/main" id="{016AC805-5A2E-4A18-9FD0-FC6826252BDB}"/>
              </a:ext>
            </a:extLst>
          </p:cNvPr>
          <p:cNvSpPr>
            <a:spLocks noGrp="1"/>
          </p:cNvSpPr>
          <p:nvPr/>
        </p:nvSpPr>
        <p:spPr>
          <a:xfrm>
            <a:off x="4419600" y="5038725"/>
            <a:ext cx="2419350" cy="19050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TAXONOMY</a:t>
            </a:r>
          </a:p>
        </p:txBody>
      </p:sp>
      <p:sp>
        <p:nvSpPr>
          <p:cNvPr id="24" name="Rectangle 23">
            <a:extLst>
              <a:ext uri="{FF2B5EF4-FFF2-40B4-BE49-F238E27FC236}">
                <a16:creationId xmlns:a16="http://schemas.microsoft.com/office/drawing/2014/main" id="{A291FB32-94CD-4227-8878-DDFC57D1E1FA}"/>
              </a:ext>
            </a:extLst>
          </p:cNvPr>
          <p:cNvSpPr>
            <a:spLocks noGrp="1"/>
          </p:cNvSpPr>
          <p:nvPr/>
        </p:nvSpPr>
        <p:spPr>
          <a:xfrm>
            <a:off x="4419600" y="5324475"/>
            <a:ext cx="2419350" cy="36195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Which book, desk, or hierarchy?</a:t>
            </a:r>
          </a:p>
        </p:txBody>
      </p:sp>
      <p:sp>
        <p:nvSpPr>
          <p:cNvPr id="25" name="Rectangle: Rounded Corners 24">
            <a:extLst>
              <a:ext uri="{FF2B5EF4-FFF2-40B4-BE49-F238E27FC236}">
                <a16:creationId xmlns:a16="http://schemas.microsoft.com/office/drawing/2014/main" id="{0435982E-EEDE-4ADE-BBF4-1E70672735A5}"/>
              </a:ext>
            </a:extLst>
          </p:cNvPr>
          <p:cNvSpPr>
            <a:spLocks noGrp="1"/>
          </p:cNvSpPr>
          <p:nvPr/>
        </p:nvSpPr>
        <p:spPr>
          <a:xfrm>
            <a:off x="8515350" y="3819525"/>
            <a:ext cx="2762250" cy="933450"/>
          </a:xfrm>
          <a:prstGeom prst="roundRect">
            <a:avLst>
              <a:gd name="adj" fmla="val 12245"/>
            </a:avLst>
          </a:prstGeom>
          <a:solidFill>
            <a:srgbClr val="FFFFFF"/>
          </a:solidFill>
          <a:ln w="9525">
            <a:solidFill>
              <a:srgbClr val="D7DCE2"/>
            </a:solidFill>
            <a:prstDash val="solid"/>
          </a:ln>
        </p:spPr>
      </p:sp>
      <p:sp>
        <p:nvSpPr>
          <p:cNvPr id="26" name="Rectangle 25">
            <a:extLst>
              <a:ext uri="{FF2B5EF4-FFF2-40B4-BE49-F238E27FC236}">
                <a16:creationId xmlns:a16="http://schemas.microsoft.com/office/drawing/2014/main" id="{88A2A1DC-7D3A-4832-9D3D-596C369F3F7B}"/>
              </a:ext>
            </a:extLst>
          </p:cNvPr>
          <p:cNvSpPr>
            <a:spLocks noGrp="1"/>
          </p:cNvSpPr>
          <p:nvPr/>
        </p:nvSpPr>
        <p:spPr>
          <a:xfrm>
            <a:off x="8686800" y="3962400"/>
            <a:ext cx="2419350" cy="19050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RISK</a:t>
            </a:r>
          </a:p>
        </p:txBody>
      </p:sp>
      <p:sp>
        <p:nvSpPr>
          <p:cNvPr id="27" name="Rectangle 26">
            <a:extLst>
              <a:ext uri="{FF2B5EF4-FFF2-40B4-BE49-F238E27FC236}">
                <a16:creationId xmlns:a16="http://schemas.microsoft.com/office/drawing/2014/main" id="{136C3797-6A1A-4F84-9D7A-9CA0CCCF53BC}"/>
              </a:ext>
            </a:extLst>
          </p:cNvPr>
          <p:cNvSpPr>
            <a:spLocks noGrp="1"/>
          </p:cNvSpPr>
          <p:nvPr/>
        </p:nvSpPr>
        <p:spPr>
          <a:xfrm>
            <a:off x="8686800" y="4248150"/>
            <a:ext cx="2419350" cy="36195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Which sensitivities changed?</a:t>
            </a:r>
          </a:p>
        </p:txBody>
      </p:sp>
      <p:sp>
        <p:nvSpPr>
          <p:cNvPr id="28" name="Rectangle: Rounded Corners 27">
            <a:extLst>
              <a:ext uri="{FF2B5EF4-FFF2-40B4-BE49-F238E27FC236}">
                <a16:creationId xmlns:a16="http://schemas.microsoft.com/office/drawing/2014/main" id="{D6B70217-496C-4CF4-B2CD-F796C0FBD9A2}"/>
              </a:ext>
            </a:extLst>
          </p:cNvPr>
          <p:cNvSpPr>
            <a:spLocks noGrp="1"/>
          </p:cNvSpPr>
          <p:nvPr/>
        </p:nvSpPr>
        <p:spPr>
          <a:xfrm>
            <a:off x="8515350" y="1714500"/>
            <a:ext cx="2762250" cy="933450"/>
          </a:xfrm>
          <a:prstGeom prst="roundRect">
            <a:avLst>
              <a:gd name="adj" fmla="val 12245"/>
            </a:avLst>
          </a:prstGeom>
          <a:solidFill>
            <a:srgbClr val="FFFFFF"/>
          </a:solidFill>
          <a:ln w="9525">
            <a:solidFill>
              <a:srgbClr val="D7DCE2"/>
            </a:solidFill>
            <a:prstDash val="solid"/>
          </a:ln>
        </p:spPr>
      </p:sp>
      <p:sp>
        <p:nvSpPr>
          <p:cNvPr id="29" name="Rectangle 28">
            <a:extLst>
              <a:ext uri="{FF2B5EF4-FFF2-40B4-BE49-F238E27FC236}">
                <a16:creationId xmlns:a16="http://schemas.microsoft.com/office/drawing/2014/main" id="{8ED9C49C-E95A-4DFE-8994-BD1062C417FE}"/>
              </a:ext>
            </a:extLst>
          </p:cNvPr>
          <p:cNvSpPr>
            <a:spLocks noGrp="1"/>
          </p:cNvSpPr>
          <p:nvPr/>
        </p:nvSpPr>
        <p:spPr>
          <a:xfrm>
            <a:off x="8686800" y="1857375"/>
            <a:ext cx="2419350" cy="19050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MARKET DATA</a:t>
            </a:r>
          </a:p>
        </p:txBody>
      </p:sp>
      <p:sp>
        <p:nvSpPr>
          <p:cNvPr id="30" name="Rectangle 29">
            <a:extLst>
              <a:ext uri="{FF2B5EF4-FFF2-40B4-BE49-F238E27FC236}">
                <a16:creationId xmlns:a16="http://schemas.microsoft.com/office/drawing/2014/main" id="{E8A3161D-1C3A-4B23-AE5F-9BF0371B8E39}"/>
              </a:ext>
            </a:extLst>
          </p:cNvPr>
          <p:cNvSpPr>
            <a:spLocks noGrp="1"/>
          </p:cNvSpPr>
          <p:nvPr/>
        </p:nvSpPr>
        <p:spPr>
          <a:xfrm>
            <a:off x="8686800" y="2143125"/>
            <a:ext cx="2419350" cy="36195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Which prices or rates moved?</a:t>
            </a:r>
          </a:p>
        </p:txBody>
      </p:sp>
      <p:sp>
        <p:nvSpPr>
          <p:cNvPr id="31" name="Rectangle: Rounded Corners 30">
            <a:extLst>
              <a:ext uri="{FF2B5EF4-FFF2-40B4-BE49-F238E27FC236}">
                <a16:creationId xmlns:a16="http://schemas.microsoft.com/office/drawing/2014/main" id="{EA9677E8-C7EF-4791-B315-6BDA2FE89E71}"/>
              </a:ext>
            </a:extLst>
          </p:cNvPr>
          <p:cNvSpPr>
            <a:spLocks noGrp="1"/>
          </p:cNvSpPr>
          <p:nvPr/>
        </p:nvSpPr>
        <p:spPr>
          <a:xfrm>
            <a:off x="609600" y="5848350"/>
            <a:ext cx="10668000" cy="381000"/>
          </a:xfrm>
          <a:prstGeom prst="roundRect">
            <a:avLst>
              <a:gd name="adj" fmla="val 20000"/>
            </a:avLst>
          </a:prstGeom>
          <a:solidFill>
            <a:srgbClr val="FFF8E0"/>
          </a:solidFill>
          <a:ln w="9525">
            <a:solidFill>
              <a:srgbClr val="FFCD41"/>
            </a:solidFill>
            <a:prstDash val="solid"/>
          </a:ln>
        </p:spPr>
      </p:sp>
      <p:sp>
        <p:nvSpPr>
          <p:cNvPr id="32" name="Rectangle 31">
            <a:extLst>
              <a:ext uri="{FF2B5EF4-FFF2-40B4-BE49-F238E27FC236}">
                <a16:creationId xmlns:a16="http://schemas.microsoft.com/office/drawing/2014/main" id="{D4B4A2A9-C048-4062-97D1-E8D52AF0BB23}"/>
              </a:ext>
            </a:extLst>
          </p:cNvPr>
          <p:cNvSpPr>
            <a:spLocks noGrp="1"/>
          </p:cNvSpPr>
          <p:nvPr/>
        </p:nvSpPr>
        <p:spPr>
          <a:xfrm>
            <a:off x="800100" y="5953125"/>
            <a:ext cx="10287000" cy="190500"/>
          </a:xfrm>
          <a:prstGeom prst="rect">
            <a:avLst/>
          </a:prstGeom>
          <a:noFill/>
          <a:ln w="0">
            <a:noFill/>
            <a:prstDash val="solid"/>
          </a:ln>
        </p:spPr>
        <p:txBody>
          <a:bodyPr lIns="0" tIns="0" rIns="0" bIns="0" anchor="t">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The work is not one query—it is finding the right data, version, dates, joins, and business context.</a:t>
            </a:r>
          </a:p>
        </p:txBody>
      </p:sp>
    </p:spTree>
    <p:extLst>
      <p:ext uri="{BB962C8B-B14F-4D97-AF65-F5344CB8AC3E}">
        <p14:creationId xmlns:p14="http://schemas.microsoft.com/office/powerpoint/2010/main" val="1719130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05EE640B-D25B-4C13-9B45-4465E879443F}"/>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35DC851E-5452-4169-8531-CB469FC0C56C}"/>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PROBLEM</a:t>
            </a:r>
          </a:p>
        </p:txBody>
      </p:sp>
      <p:sp>
        <p:nvSpPr>
          <p:cNvPr id="3" name="Rectangle 2">
            <a:extLst>
              <a:ext uri="{FF2B5EF4-FFF2-40B4-BE49-F238E27FC236}">
                <a16:creationId xmlns:a16="http://schemas.microsoft.com/office/drawing/2014/main" id="{8680456C-7AEF-4AA3-BD4D-97E6B45F712D}"/>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One P&amp;L movement triggers a chain of investigation</a:t>
            </a:r>
          </a:p>
        </p:txBody>
      </p:sp>
      <p:sp>
        <p:nvSpPr>
          <p:cNvPr id="4" name="Straight Connector 3">
            <a:extLst>
              <a:ext uri="{FF2B5EF4-FFF2-40B4-BE49-F238E27FC236}">
                <a16:creationId xmlns:a16="http://schemas.microsoft.com/office/drawing/2014/main" id="{555FC710-84EC-4ABB-AB6F-44998315D6EE}"/>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63C31FEA-F694-428E-B481-C23CD75EF7D6}"/>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694C6206-D18B-45C9-A96E-018067EBD809}"/>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03</a:t>
            </a:r>
          </a:p>
        </p:txBody>
      </p:sp>
      <p:sp>
        <p:nvSpPr>
          <p:cNvPr id="7" name="Rectangle 6">
            <a:extLst>
              <a:ext uri="{FF2B5EF4-FFF2-40B4-BE49-F238E27FC236}">
                <a16:creationId xmlns:a16="http://schemas.microsoft.com/office/drawing/2014/main" id="{3B488485-A7A2-4656-8F8B-5519AADFB22B}"/>
              </a:ext>
            </a:extLst>
          </p:cNvPr>
          <p:cNvSpPr>
            <a:spLocks noGrp="1"/>
          </p:cNvSpPr>
          <p:nvPr/>
        </p:nvSpPr>
        <p:spPr>
          <a:xfrm>
            <a:off x="609600" y="1104900"/>
            <a:ext cx="1000125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The analyst repeatedly moves from the business event to the data needed to explain it.</a:t>
            </a:r>
          </a:p>
        </p:txBody>
      </p:sp>
      <p:sp>
        <p:nvSpPr>
          <p:cNvPr id="8" name="Straight Connector 7">
            <a:extLst>
              <a:ext uri="{FF2B5EF4-FFF2-40B4-BE49-F238E27FC236}">
                <a16:creationId xmlns:a16="http://schemas.microsoft.com/office/drawing/2014/main" id="{1B664ACD-CDF2-4CAE-9F20-679F18711567}"/>
              </a:ext>
            </a:extLst>
          </p:cNvPr>
          <p:cNvSpPr>
            <a:spLocks noGrp="1"/>
          </p:cNvSpPr>
          <p:nvPr/>
        </p:nvSpPr>
        <p:spPr>
          <a:xfrm>
            <a:off x="1924050" y="2714625"/>
            <a:ext cx="381000" cy="0"/>
          </a:xfrm>
          <a:prstGeom prst="line">
            <a:avLst/>
          </a:prstGeom>
          <a:noFill/>
          <a:ln w="28575">
            <a:solidFill>
              <a:srgbClr val="D71E28"/>
            </a:solidFill>
            <a:prstDash val="solid"/>
          </a:ln>
        </p:spPr>
      </p:sp>
      <p:sp>
        <p:nvSpPr>
          <p:cNvPr id="9" name="Straight Connector 8">
            <a:extLst>
              <a:ext uri="{FF2B5EF4-FFF2-40B4-BE49-F238E27FC236}">
                <a16:creationId xmlns:a16="http://schemas.microsoft.com/office/drawing/2014/main" id="{1E6AEB09-D918-4A5B-B919-A59723F44840}"/>
              </a:ext>
            </a:extLst>
          </p:cNvPr>
          <p:cNvSpPr>
            <a:spLocks noGrp="1"/>
          </p:cNvSpPr>
          <p:nvPr/>
        </p:nvSpPr>
        <p:spPr>
          <a:xfrm>
            <a:off x="3695700" y="2714625"/>
            <a:ext cx="381000" cy="0"/>
          </a:xfrm>
          <a:prstGeom prst="line">
            <a:avLst/>
          </a:prstGeom>
          <a:noFill/>
          <a:ln w="28575">
            <a:solidFill>
              <a:srgbClr val="D71E28"/>
            </a:solidFill>
            <a:prstDash val="solid"/>
          </a:ln>
        </p:spPr>
      </p:sp>
      <p:sp>
        <p:nvSpPr>
          <p:cNvPr id="10" name="Straight Connector 9">
            <a:extLst>
              <a:ext uri="{FF2B5EF4-FFF2-40B4-BE49-F238E27FC236}">
                <a16:creationId xmlns:a16="http://schemas.microsoft.com/office/drawing/2014/main" id="{C639FFF5-BBC4-48FE-A267-B5BAE71F1B78}"/>
              </a:ext>
            </a:extLst>
          </p:cNvPr>
          <p:cNvSpPr>
            <a:spLocks noGrp="1"/>
          </p:cNvSpPr>
          <p:nvPr/>
        </p:nvSpPr>
        <p:spPr>
          <a:xfrm>
            <a:off x="5467350" y="2714625"/>
            <a:ext cx="381000" cy="0"/>
          </a:xfrm>
          <a:prstGeom prst="line">
            <a:avLst/>
          </a:prstGeom>
          <a:noFill/>
          <a:ln w="28575">
            <a:solidFill>
              <a:srgbClr val="D71E28"/>
            </a:solidFill>
            <a:prstDash val="solid"/>
          </a:ln>
        </p:spPr>
      </p:sp>
      <p:sp>
        <p:nvSpPr>
          <p:cNvPr id="11" name="Straight Connector 10">
            <a:extLst>
              <a:ext uri="{FF2B5EF4-FFF2-40B4-BE49-F238E27FC236}">
                <a16:creationId xmlns:a16="http://schemas.microsoft.com/office/drawing/2014/main" id="{12C32895-9BA1-4720-A911-325580876E3A}"/>
              </a:ext>
            </a:extLst>
          </p:cNvPr>
          <p:cNvSpPr>
            <a:spLocks noGrp="1"/>
          </p:cNvSpPr>
          <p:nvPr/>
        </p:nvSpPr>
        <p:spPr>
          <a:xfrm>
            <a:off x="7239000" y="2714625"/>
            <a:ext cx="381000" cy="0"/>
          </a:xfrm>
          <a:prstGeom prst="line">
            <a:avLst/>
          </a:prstGeom>
          <a:noFill/>
          <a:ln w="28575">
            <a:solidFill>
              <a:srgbClr val="D71E28"/>
            </a:solidFill>
            <a:prstDash val="solid"/>
          </a:ln>
        </p:spPr>
      </p:sp>
      <p:sp>
        <p:nvSpPr>
          <p:cNvPr id="12" name="Straight Connector 11">
            <a:extLst>
              <a:ext uri="{FF2B5EF4-FFF2-40B4-BE49-F238E27FC236}">
                <a16:creationId xmlns:a16="http://schemas.microsoft.com/office/drawing/2014/main" id="{643FEB52-27CF-480E-90B1-C5B883D0555B}"/>
              </a:ext>
            </a:extLst>
          </p:cNvPr>
          <p:cNvSpPr>
            <a:spLocks noGrp="1"/>
          </p:cNvSpPr>
          <p:nvPr/>
        </p:nvSpPr>
        <p:spPr>
          <a:xfrm>
            <a:off x="9010650" y="2714625"/>
            <a:ext cx="381000" cy="0"/>
          </a:xfrm>
          <a:prstGeom prst="line">
            <a:avLst/>
          </a:prstGeom>
          <a:noFill/>
          <a:ln w="28575">
            <a:solidFill>
              <a:srgbClr val="D71E28"/>
            </a:solidFill>
            <a:prstDash val="solid"/>
          </a:ln>
        </p:spPr>
      </p:sp>
      <p:sp>
        <p:nvSpPr>
          <p:cNvPr id="13" name="Oval 12">
            <a:extLst>
              <a:ext uri="{FF2B5EF4-FFF2-40B4-BE49-F238E27FC236}">
                <a16:creationId xmlns:a16="http://schemas.microsoft.com/office/drawing/2014/main" id="{8304E6AD-4C0E-400D-97D8-2EF7B0AD0632}"/>
              </a:ext>
            </a:extLst>
          </p:cNvPr>
          <p:cNvSpPr>
            <a:spLocks noGrp="1"/>
          </p:cNvSpPr>
          <p:nvPr/>
        </p:nvSpPr>
        <p:spPr>
          <a:xfrm>
            <a:off x="1066800" y="1676400"/>
            <a:ext cx="400050" cy="400050"/>
          </a:xfrm>
          <a:prstGeom prst="ellipse">
            <a:avLst/>
          </a:prstGeom>
          <a:solidFill>
            <a:srgbClr val="971B2F"/>
          </a:solidFill>
          <a:ln w="9525">
            <a:solidFill>
              <a:srgbClr val="971B2F"/>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4" name="Rectangle: Rounded Corners 13">
            <a:extLst>
              <a:ext uri="{FF2B5EF4-FFF2-40B4-BE49-F238E27FC236}">
                <a16:creationId xmlns:a16="http://schemas.microsoft.com/office/drawing/2014/main" id="{E69EAD79-649D-42E9-9BC6-6A3E29B34558}"/>
              </a:ext>
            </a:extLst>
          </p:cNvPr>
          <p:cNvSpPr>
            <a:spLocks noGrp="1"/>
          </p:cNvSpPr>
          <p:nvPr/>
        </p:nvSpPr>
        <p:spPr>
          <a:xfrm>
            <a:off x="609600" y="2276475"/>
            <a:ext cx="1428750" cy="990600"/>
          </a:xfrm>
          <a:prstGeom prst="roundRect">
            <a:avLst>
              <a:gd name="adj" fmla="val 11538"/>
            </a:avLst>
          </a:prstGeom>
          <a:solidFill>
            <a:srgbClr val="FFFFFF"/>
          </a:solidFill>
          <a:ln w="9525">
            <a:solidFill>
              <a:srgbClr val="D7DCE2"/>
            </a:solidFill>
            <a:prstDash val="solid"/>
          </a:ln>
        </p:spPr>
      </p:sp>
      <p:sp>
        <p:nvSpPr>
          <p:cNvPr id="15" name="Rectangle 14">
            <a:extLst>
              <a:ext uri="{FF2B5EF4-FFF2-40B4-BE49-F238E27FC236}">
                <a16:creationId xmlns:a16="http://schemas.microsoft.com/office/drawing/2014/main" id="{5067D79A-4E26-4DED-B41E-B3E6B57ECFEF}"/>
              </a:ext>
            </a:extLst>
          </p:cNvPr>
          <p:cNvSpPr>
            <a:spLocks noGrp="1"/>
          </p:cNvSpPr>
          <p:nvPr/>
        </p:nvSpPr>
        <p:spPr>
          <a:xfrm>
            <a:off x="742950" y="2457450"/>
            <a:ext cx="1162050" cy="171450"/>
          </a:xfrm>
          <a:prstGeom prst="rect">
            <a:avLst/>
          </a:prstGeom>
          <a:noFill/>
          <a:ln w="0">
            <a:noFill/>
            <a:prstDash val="solid"/>
          </a:ln>
        </p:spPr>
        <p:txBody>
          <a:bodyPr lIns="0" tIns="0" rIns="0" bIns="0" anchor="t">
            <a:noAutofit/>
          </a:bodyPr>
          <a:lstStyle/>
          <a:p>
            <a:pPr algn="ctr">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NOTICE</a:t>
            </a:r>
          </a:p>
        </p:txBody>
      </p:sp>
      <p:sp>
        <p:nvSpPr>
          <p:cNvPr id="16" name="Rectangle 15">
            <a:extLst>
              <a:ext uri="{FF2B5EF4-FFF2-40B4-BE49-F238E27FC236}">
                <a16:creationId xmlns:a16="http://schemas.microsoft.com/office/drawing/2014/main" id="{0709324A-64EE-4406-96EC-306EBC9A2FBD}"/>
              </a:ext>
            </a:extLst>
          </p:cNvPr>
          <p:cNvSpPr>
            <a:spLocks noGrp="1"/>
          </p:cNvSpPr>
          <p:nvPr/>
        </p:nvSpPr>
        <p:spPr>
          <a:xfrm>
            <a:off x="742950" y="2762250"/>
            <a:ext cx="1162050" cy="304800"/>
          </a:xfrm>
          <a:prstGeom prst="rect">
            <a:avLst/>
          </a:prstGeom>
          <a:noFill/>
          <a:ln w="0">
            <a:noFill/>
            <a:prstDash val="solid"/>
          </a:ln>
        </p:spPr>
        <p:txBody>
          <a:bodyPr lIns="0" tIns="0" rIns="0" bIns="0" anchor="ctr">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Movement</a:t>
            </a:r>
          </a:p>
        </p:txBody>
      </p:sp>
      <p:sp>
        <p:nvSpPr>
          <p:cNvPr id="17" name="Oval 16">
            <a:extLst>
              <a:ext uri="{FF2B5EF4-FFF2-40B4-BE49-F238E27FC236}">
                <a16:creationId xmlns:a16="http://schemas.microsoft.com/office/drawing/2014/main" id="{ABE4CE73-1476-4532-ACF7-312377837AA9}"/>
              </a:ext>
            </a:extLst>
          </p:cNvPr>
          <p:cNvSpPr>
            <a:spLocks noGrp="1"/>
          </p:cNvSpPr>
          <p:nvPr/>
        </p:nvSpPr>
        <p:spPr>
          <a:xfrm>
            <a:off x="2838450" y="1676400"/>
            <a:ext cx="400050" cy="4000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8" name="Rectangle: Rounded Corners 17">
            <a:extLst>
              <a:ext uri="{FF2B5EF4-FFF2-40B4-BE49-F238E27FC236}">
                <a16:creationId xmlns:a16="http://schemas.microsoft.com/office/drawing/2014/main" id="{BACA865E-4010-4F42-BF92-8EDF4E5B939D}"/>
              </a:ext>
            </a:extLst>
          </p:cNvPr>
          <p:cNvSpPr>
            <a:spLocks noGrp="1"/>
          </p:cNvSpPr>
          <p:nvPr/>
        </p:nvSpPr>
        <p:spPr>
          <a:xfrm>
            <a:off x="2381250" y="2276475"/>
            <a:ext cx="1428750" cy="990600"/>
          </a:xfrm>
          <a:prstGeom prst="roundRect">
            <a:avLst>
              <a:gd name="adj" fmla="val 11538"/>
            </a:avLst>
          </a:prstGeom>
          <a:solidFill>
            <a:srgbClr val="FFFFFF"/>
          </a:solidFill>
          <a:ln w="9525">
            <a:solidFill>
              <a:srgbClr val="D7DCE2"/>
            </a:solidFill>
            <a:prstDash val="solid"/>
          </a:ln>
        </p:spPr>
      </p:sp>
      <p:sp>
        <p:nvSpPr>
          <p:cNvPr id="19" name="Rectangle 18">
            <a:extLst>
              <a:ext uri="{FF2B5EF4-FFF2-40B4-BE49-F238E27FC236}">
                <a16:creationId xmlns:a16="http://schemas.microsoft.com/office/drawing/2014/main" id="{DFA2BE60-EE6E-4E06-A33F-70CAF00B97B3}"/>
              </a:ext>
            </a:extLst>
          </p:cNvPr>
          <p:cNvSpPr>
            <a:spLocks noGrp="1"/>
          </p:cNvSpPr>
          <p:nvPr/>
        </p:nvSpPr>
        <p:spPr>
          <a:xfrm>
            <a:off x="2514600" y="2457450"/>
            <a:ext cx="1162050" cy="171450"/>
          </a:xfrm>
          <a:prstGeom prst="rect">
            <a:avLst/>
          </a:prstGeom>
          <a:noFill/>
          <a:ln w="0">
            <a:noFill/>
            <a:prstDash val="solid"/>
          </a:ln>
        </p:spPr>
        <p:txBody>
          <a:bodyPr lIns="0" tIns="0" rIns="0" bIns="0" anchor="t">
            <a:noAutofit/>
          </a:bodyPr>
          <a:lstStyle/>
          <a:p>
            <a:pPr algn="ctr">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SELECT</a:t>
            </a:r>
          </a:p>
        </p:txBody>
      </p:sp>
      <p:sp>
        <p:nvSpPr>
          <p:cNvPr id="20" name="Rectangle 19">
            <a:extLst>
              <a:ext uri="{FF2B5EF4-FFF2-40B4-BE49-F238E27FC236}">
                <a16:creationId xmlns:a16="http://schemas.microsoft.com/office/drawing/2014/main" id="{D2D7D539-29B0-4822-86A4-11916A541F12}"/>
              </a:ext>
            </a:extLst>
          </p:cNvPr>
          <p:cNvSpPr>
            <a:spLocks noGrp="1"/>
          </p:cNvSpPr>
          <p:nvPr/>
        </p:nvSpPr>
        <p:spPr>
          <a:xfrm>
            <a:off x="2514600" y="2762250"/>
            <a:ext cx="1162050" cy="304800"/>
          </a:xfrm>
          <a:prstGeom prst="rect">
            <a:avLst/>
          </a:prstGeom>
          <a:noFill/>
          <a:ln w="0">
            <a:noFill/>
            <a:prstDash val="solid"/>
          </a:ln>
        </p:spPr>
        <p:txBody>
          <a:bodyPr lIns="0" tIns="0" rIns="0" bIns="0" anchor="ctr">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P&amp;L view</a:t>
            </a:r>
          </a:p>
        </p:txBody>
      </p:sp>
      <p:sp>
        <p:nvSpPr>
          <p:cNvPr id="21" name="Oval 20">
            <a:extLst>
              <a:ext uri="{FF2B5EF4-FFF2-40B4-BE49-F238E27FC236}">
                <a16:creationId xmlns:a16="http://schemas.microsoft.com/office/drawing/2014/main" id="{09A705E6-66F8-4D77-9F96-F0C77BF8D68C}"/>
              </a:ext>
            </a:extLst>
          </p:cNvPr>
          <p:cNvSpPr>
            <a:spLocks noGrp="1"/>
          </p:cNvSpPr>
          <p:nvPr/>
        </p:nvSpPr>
        <p:spPr>
          <a:xfrm>
            <a:off x="4610100" y="1676400"/>
            <a:ext cx="400050" cy="4000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2" name="Rectangle: Rounded Corners 21">
            <a:extLst>
              <a:ext uri="{FF2B5EF4-FFF2-40B4-BE49-F238E27FC236}">
                <a16:creationId xmlns:a16="http://schemas.microsoft.com/office/drawing/2014/main" id="{5185B2BD-6072-4112-BE24-F157949EC374}"/>
              </a:ext>
            </a:extLst>
          </p:cNvPr>
          <p:cNvSpPr>
            <a:spLocks noGrp="1"/>
          </p:cNvSpPr>
          <p:nvPr/>
        </p:nvSpPr>
        <p:spPr>
          <a:xfrm>
            <a:off x="4152900" y="2276475"/>
            <a:ext cx="1428750" cy="990600"/>
          </a:xfrm>
          <a:prstGeom prst="roundRect">
            <a:avLst>
              <a:gd name="adj" fmla="val 11538"/>
            </a:avLst>
          </a:prstGeom>
          <a:solidFill>
            <a:srgbClr val="FFFFFF"/>
          </a:solidFill>
          <a:ln w="9525">
            <a:solidFill>
              <a:srgbClr val="D7DCE2"/>
            </a:solidFill>
            <a:prstDash val="solid"/>
          </a:ln>
        </p:spPr>
      </p:sp>
      <p:sp>
        <p:nvSpPr>
          <p:cNvPr id="23" name="Rectangle 22">
            <a:extLst>
              <a:ext uri="{FF2B5EF4-FFF2-40B4-BE49-F238E27FC236}">
                <a16:creationId xmlns:a16="http://schemas.microsoft.com/office/drawing/2014/main" id="{0E36A7E9-6230-46E2-B72F-996BE2FA394B}"/>
              </a:ext>
            </a:extLst>
          </p:cNvPr>
          <p:cNvSpPr>
            <a:spLocks noGrp="1"/>
          </p:cNvSpPr>
          <p:nvPr/>
        </p:nvSpPr>
        <p:spPr>
          <a:xfrm>
            <a:off x="4286250" y="2457450"/>
            <a:ext cx="1162050" cy="171450"/>
          </a:xfrm>
          <a:prstGeom prst="rect">
            <a:avLst/>
          </a:prstGeom>
          <a:noFill/>
          <a:ln w="0">
            <a:noFill/>
            <a:prstDash val="solid"/>
          </a:ln>
        </p:spPr>
        <p:txBody>
          <a:bodyPr lIns="0" tIns="0" rIns="0" bIns="0" anchor="t">
            <a:noAutofit/>
          </a:bodyPr>
          <a:lstStyle/>
          <a:p>
            <a:pPr algn="ctr">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LOCATE</a:t>
            </a:r>
          </a:p>
        </p:txBody>
      </p:sp>
      <p:sp>
        <p:nvSpPr>
          <p:cNvPr id="24" name="Rectangle 23">
            <a:extLst>
              <a:ext uri="{FF2B5EF4-FFF2-40B4-BE49-F238E27FC236}">
                <a16:creationId xmlns:a16="http://schemas.microsoft.com/office/drawing/2014/main" id="{FCE84062-1F96-443F-8E11-1B0C66B543BE}"/>
              </a:ext>
            </a:extLst>
          </p:cNvPr>
          <p:cNvSpPr>
            <a:spLocks noGrp="1"/>
          </p:cNvSpPr>
          <p:nvPr/>
        </p:nvSpPr>
        <p:spPr>
          <a:xfrm>
            <a:off x="4286250" y="2762250"/>
            <a:ext cx="1162050" cy="304800"/>
          </a:xfrm>
          <a:prstGeom prst="rect">
            <a:avLst/>
          </a:prstGeom>
          <a:noFill/>
          <a:ln w="0">
            <a:noFill/>
            <a:prstDash val="solid"/>
          </a:ln>
        </p:spPr>
        <p:txBody>
          <a:bodyPr lIns="0" tIns="0" rIns="0" bIns="0" anchor="ctr">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Book &amp; trades</a:t>
            </a:r>
          </a:p>
        </p:txBody>
      </p:sp>
      <p:sp>
        <p:nvSpPr>
          <p:cNvPr id="25" name="Oval 24">
            <a:extLst>
              <a:ext uri="{FF2B5EF4-FFF2-40B4-BE49-F238E27FC236}">
                <a16:creationId xmlns:a16="http://schemas.microsoft.com/office/drawing/2014/main" id="{9FAC10D5-F9CB-408D-ABBA-79DA4ECAA5C3}"/>
              </a:ext>
            </a:extLst>
          </p:cNvPr>
          <p:cNvSpPr>
            <a:spLocks noGrp="1"/>
          </p:cNvSpPr>
          <p:nvPr/>
        </p:nvSpPr>
        <p:spPr>
          <a:xfrm>
            <a:off x="6381750" y="1676400"/>
            <a:ext cx="400050" cy="4000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26" name="Rectangle: Rounded Corners 25">
            <a:extLst>
              <a:ext uri="{FF2B5EF4-FFF2-40B4-BE49-F238E27FC236}">
                <a16:creationId xmlns:a16="http://schemas.microsoft.com/office/drawing/2014/main" id="{E9A92BE7-7008-4210-91DB-4D95ACAC995F}"/>
              </a:ext>
            </a:extLst>
          </p:cNvPr>
          <p:cNvSpPr>
            <a:spLocks noGrp="1"/>
          </p:cNvSpPr>
          <p:nvPr/>
        </p:nvSpPr>
        <p:spPr>
          <a:xfrm>
            <a:off x="5924550" y="2276475"/>
            <a:ext cx="1428750" cy="990600"/>
          </a:xfrm>
          <a:prstGeom prst="roundRect">
            <a:avLst>
              <a:gd name="adj" fmla="val 11538"/>
            </a:avLst>
          </a:prstGeom>
          <a:solidFill>
            <a:srgbClr val="FFFFFF"/>
          </a:solidFill>
          <a:ln w="9525">
            <a:solidFill>
              <a:srgbClr val="D7DCE2"/>
            </a:solidFill>
            <a:prstDash val="solid"/>
          </a:ln>
        </p:spPr>
      </p:sp>
      <p:sp>
        <p:nvSpPr>
          <p:cNvPr id="27" name="Rectangle 26">
            <a:extLst>
              <a:ext uri="{FF2B5EF4-FFF2-40B4-BE49-F238E27FC236}">
                <a16:creationId xmlns:a16="http://schemas.microsoft.com/office/drawing/2014/main" id="{527F3569-1621-4D93-BE61-258DC0DB2BC1}"/>
              </a:ext>
            </a:extLst>
          </p:cNvPr>
          <p:cNvSpPr>
            <a:spLocks noGrp="1"/>
          </p:cNvSpPr>
          <p:nvPr/>
        </p:nvSpPr>
        <p:spPr>
          <a:xfrm>
            <a:off x="6057900" y="2457450"/>
            <a:ext cx="1162050" cy="171450"/>
          </a:xfrm>
          <a:prstGeom prst="rect">
            <a:avLst/>
          </a:prstGeom>
          <a:noFill/>
          <a:ln w="0">
            <a:noFill/>
            <a:prstDash val="solid"/>
          </a:ln>
        </p:spPr>
        <p:txBody>
          <a:bodyPr lIns="0" tIns="0" rIns="0" bIns="0" anchor="t">
            <a:noAutofit/>
          </a:bodyPr>
          <a:lstStyle/>
          <a:p>
            <a:pPr algn="ctr">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ENRICH</a:t>
            </a:r>
          </a:p>
        </p:txBody>
      </p:sp>
      <p:sp>
        <p:nvSpPr>
          <p:cNvPr id="28" name="Rectangle 27">
            <a:extLst>
              <a:ext uri="{FF2B5EF4-FFF2-40B4-BE49-F238E27FC236}">
                <a16:creationId xmlns:a16="http://schemas.microsoft.com/office/drawing/2014/main" id="{26C2E96B-B12D-4E72-B160-BF4996588DA3}"/>
              </a:ext>
            </a:extLst>
          </p:cNvPr>
          <p:cNvSpPr>
            <a:spLocks noGrp="1"/>
          </p:cNvSpPr>
          <p:nvPr/>
        </p:nvSpPr>
        <p:spPr>
          <a:xfrm>
            <a:off x="6057900" y="2762250"/>
            <a:ext cx="1162050" cy="304800"/>
          </a:xfrm>
          <a:prstGeom prst="rect">
            <a:avLst/>
          </a:prstGeom>
          <a:noFill/>
          <a:ln w="0">
            <a:noFill/>
            <a:prstDash val="solid"/>
          </a:ln>
        </p:spPr>
        <p:txBody>
          <a:bodyPr lIns="0" tIns="0" rIns="0" bIns="0" anchor="ctr">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Market &amp; risk</a:t>
            </a:r>
          </a:p>
        </p:txBody>
      </p:sp>
      <p:sp>
        <p:nvSpPr>
          <p:cNvPr id="29" name="Oval 28">
            <a:extLst>
              <a:ext uri="{FF2B5EF4-FFF2-40B4-BE49-F238E27FC236}">
                <a16:creationId xmlns:a16="http://schemas.microsoft.com/office/drawing/2014/main" id="{9ED1B814-B649-4BF6-B782-4F1B1F512F49}"/>
              </a:ext>
            </a:extLst>
          </p:cNvPr>
          <p:cNvSpPr>
            <a:spLocks noGrp="1"/>
          </p:cNvSpPr>
          <p:nvPr/>
        </p:nvSpPr>
        <p:spPr>
          <a:xfrm>
            <a:off x="8153400" y="1676400"/>
            <a:ext cx="400050" cy="4000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30" name="Rectangle: Rounded Corners 29">
            <a:extLst>
              <a:ext uri="{FF2B5EF4-FFF2-40B4-BE49-F238E27FC236}">
                <a16:creationId xmlns:a16="http://schemas.microsoft.com/office/drawing/2014/main" id="{6793A500-6B55-4EF5-95CD-55D3F7039EEF}"/>
              </a:ext>
            </a:extLst>
          </p:cNvPr>
          <p:cNvSpPr>
            <a:spLocks noGrp="1"/>
          </p:cNvSpPr>
          <p:nvPr/>
        </p:nvSpPr>
        <p:spPr>
          <a:xfrm>
            <a:off x="7696200" y="2276475"/>
            <a:ext cx="1428750" cy="990600"/>
          </a:xfrm>
          <a:prstGeom prst="roundRect">
            <a:avLst>
              <a:gd name="adj" fmla="val 11538"/>
            </a:avLst>
          </a:prstGeom>
          <a:solidFill>
            <a:srgbClr val="FFFFFF"/>
          </a:solidFill>
          <a:ln w="9525">
            <a:solidFill>
              <a:srgbClr val="D7DCE2"/>
            </a:solidFill>
            <a:prstDash val="solid"/>
          </a:ln>
        </p:spPr>
      </p:sp>
      <p:sp>
        <p:nvSpPr>
          <p:cNvPr id="31" name="Rectangle 30">
            <a:extLst>
              <a:ext uri="{FF2B5EF4-FFF2-40B4-BE49-F238E27FC236}">
                <a16:creationId xmlns:a16="http://schemas.microsoft.com/office/drawing/2014/main" id="{5A3BFAB7-C66D-4CA7-987B-EEAF55802190}"/>
              </a:ext>
            </a:extLst>
          </p:cNvPr>
          <p:cNvSpPr>
            <a:spLocks noGrp="1"/>
          </p:cNvSpPr>
          <p:nvPr/>
        </p:nvSpPr>
        <p:spPr>
          <a:xfrm>
            <a:off x="7829550" y="2457450"/>
            <a:ext cx="1162050" cy="171450"/>
          </a:xfrm>
          <a:prstGeom prst="rect">
            <a:avLst/>
          </a:prstGeom>
          <a:noFill/>
          <a:ln w="0">
            <a:noFill/>
            <a:prstDash val="solid"/>
          </a:ln>
        </p:spPr>
        <p:txBody>
          <a:bodyPr lIns="0" tIns="0" rIns="0" bIns="0" anchor="t">
            <a:noAutofit/>
          </a:bodyPr>
          <a:lstStyle/>
          <a:p>
            <a:pPr algn="ctr">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CHECK</a:t>
            </a:r>
          </a:p>
        </p:txBody>
      </p:sp>
      <p:sp>
        <p:nvSpPr>
          <p:cNvPr id="32" name="Rectangle 31">
            <a:extLst>
              <a:ext uri="{FF2B5EF4-FFF2-40B4-BE49-F238E27FC236}">
                <a16:creationId xmlns:a16="http://schemas.microsoft.com/office/drawing/2014/main" id="{17FEBA75-92BB-4B77-895C-BBFD8F333CD6}"/>
              </a:ext>
            </a:extLst>
          </p:cNvPr>
          <p:cNvSpPr>
            <a:spLocks noGrp="1"/>
          </p:cNvSpPr>
          <p:nvPr/>
        </p:nvSpPr>
        <p:spPr>
          <a:xfrm>
            <a:off x="7829550" y="2762250"/>
            <a:ext cx="1162050" cy="304800"/>
          </a:xfrm>
          <a:prstGeom prst="rect">
            <a:avLst/>
          </a:prstGeom>
          <a:noFill/>
          <a:ln w="0">
            <a:noFill/>
            <a:prstDash val="solid"/>
          </a:ln>
        </p:spPr>
        <p:txBody>
          <a:bodyPr lIns="0" tIns="0" rIns="0" bIns="0" anchor="ctr">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Differences</a:t>
            </a:r>
          </a:p>
        </p:txBody>
      </p:sp>
      <p:sp>
        <p:nvSpPr>
          <p:cNvPr id="33" name="Oval 32">
            <a:extLst>
              <a:ext uri="{FF2B5EF4-FFF2-40B4-BE49-F238E27FC236}">
                <a16:creationId xmlns:a16="http://schemas.microsoft.com/office/drawing/2014/main" id="{FD7A4989-1B48-4E03-8B39-F2D22FA0A436}"/>
              </a:ext>
            </a:extLst>
          </p:cNvPr>
          <p:cNvSpPr>
            <a:spLocks noGrp="1"/>
          </p:cNvSpPr>
          <p:nvPr/>
        </p:nvSpPr>
        <p:spPr>
          <a:xfrm>
            <a:off x="9925050" y="1676400"/>
            <a:ext cx="400050" cy="4000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6</a:t>
            </a:r>
          </a:p>
        </p:txBody>
      </p:sp>
      <p:sp>
        <p:nvSpPr>
          <p:cNvPr id="34" name="Rectangle: Rounded Corners 33">
            <a:extLst>
              <a:ext uri="{FF2B5EF4-FFF2-40B4-BE49-F238E27FC236}">
                <a16:creationId xmlns:a16="http://schemas.microsoft.com/office/drawing/2014/main" id="{28C4E64E-AEE5-4D71-A41C-78DF1DE84D1D}"/>
              </a:ext>
            </a:extLst>
          </p:cNvPr>
          <p:cNvSpPr>
            <a:spLocks noGrp="1"/>
          </p:cNvSpPr>
          <p:nvPr/>
        </p:nvSpPr>
        <p:spPr>
          <a:xfrm>
            <a:off x="9467850" y="2276475"/>
            <a:ext cx="1428750" cy="990600"/>
          </a:xfrm>
          <a:prstGeom prst="roundRect">
            <a:avLst>
              <a:gd name="adj" fmla="val 11538"/>
            </a:avLst>
          </a:prstGeom>
          <a:solidFill>
            <a:schemeClr val="accent6">
              <a:lumMod val="50000"/>
            </a:schemeClr>
          </a:solidFill>
          <a:ln w="9525">
            <a:solidFill>
              <a:srgbClr val="20252B"/>
            </a:solidFill>
            <a:prstDash val="solid"/>
          </a:ln>
        </p:spPr>
        <p:txBody>
          <a:bodyPr/>
          <a:lstStyle/>
          <a:p>
            <a:endParaRPr lang="en-US" dirty="0"/>
          </a:p>
        </p:txBody>
      </p:sp>
      <p:sp>
        <p:nvSpPr>
          <p:cNvPr id="35" name="Rectangle 34">
            <a:extLst>
              <a:ext uri="{FF2B5EF4-FFF2-40B4-BE49-F238E27FC236}">
                <a16:creationId xmlns:a16="http://schemas.microsoft.com/office/drawing/2014/main" id="{23B5CA13-B021-47D8-B433-848D14AE6304}"/>
              </a:ext>
            </a:extLst>
          </p:cNvPr>
          <p:cNvSpPr>
            <a:spLocks noGrp="1"/>
          </p:cNvSpPr>
          <p:nvPr/>
        </p:nvSpPr>
        <p:spPr>
          <a:xfrm>
            <a:off x="9601200" y="2457450"/>
            <a:ext cx="1162050" cy="171450"/>
          </a:xfrm>
          <a:prstGeom prst="rect">
            <a:avLst/>
          </a:prstGeom>
          <a:noFill/>
          <a:ln w="0">
            <a:noFill/>
            <a:prstDash val="solid"/>
          </a:ln>
        </p:spPr>
        <p:txBody>
          <a:bodyPr lIns="0" tIns="0" rIns="0" bIns="0" anchor="t">
            <a:noAutofit/>
          </a:bodyPr>
          <a:lstStyle/>
          <a:p>
            <a:pPr algn="ctr">
              <a:lnSpc>
                <a:spcPct val="100000"/>
              </a:lnSpc>
              <a:buNone/>
              <a:defRPr sz="900" b="1">
                <a:solidFill>
                  <a:srgbClr val="FFCD41"/>
                </a:solidFill>
                <a:latin typeface="Aptos"/>
                <a:ea typeface="Aptos"/>
                <a:cs typeface="Aptos"/>
              </a:defRPr>
            </a:pPr>
            <a:r>
              <a:rPr sz="900" b="1">
                <a:solidFill>
                  <a:srgbClr val="FFCD41"/>
                </a:solidFill>
                <a:latin typeface="Aptos"/>
                <a:ea typeface="Aptos"/>
                <a:cs typeface="Aptos"/>
              </a:rPr>
              <a:t>EXPLAIN</a:t>
            </a:r>
          </a:p>
        </p:txBody>
      </p:sp>
      <p:sp>
        <p:nvSpPr>
          <p:cNvPr id="36" name="Rectangle 35">
            <a:extLst>
              <a:ext uri="{FF2B5EF4-FFF2-40B4-BE49-F238E27FC236}">
                <a16:creationId xmlns:a16="http://schemas.microsoft.com/office/drawing/2014/main" id="{E2D8621C-5315-4597-9222-3B24BD2960DA}"/>
              </a:ext>
            </a:extLst>
          </p:cNvPr>
          <p:cNvSpPr>
            <a:spLocks noGrp="1"/>
          </p:cNvSpPr>
          <p:nvPr/>
        </p:nvSpPr>
        <p:spPr>
          <a:xfrm>
            <a:off x="9601200" y="2762250"/>
            <a:ext cx="1162050" cy="304800"/>
          </a:xfrm>
          <a:prstGeom prst="rect">
            <a:avLst/>
          </a:prstGeom>
          <a:noFill/>
          <a:ln w="0">
            <a:noFill/>
            <a:prstDash val="solid"/>
          </a:ln>
        </p:spPr>
        <p:txBody>
          <a:bodyPr lIns="0" tIns="0" rIns="0" bIns="0" anchor="ctr">
            <a:noAutofit/>
          </a:bodyPr>
          <a:lstStyle/>
          <a:p>
            <a:pPr algn="ctr">
              <a:lnSpc>
                <a:spcPct val="100000"/>
              </a:lnSpc>
              <a:buNone/>
              <a:defRPr sz="1275" b="1">
                <a:solidFill>
                  <a:srgbClr val="FFFFFF"/>
                </a:solidFill>
                <a:latin typeface="Aptos"/>
                <a:ea typeface="Aptos"/>
                <a:cs typeface="Aptos"/>
              </a:defRPr>
            </a:pPr>
            <a:r>
              <a:rPr sz="1275" b="1">
                <a:solidFill>
                  <a:srgbClr val="FFFFFF"/>
                </a:solidFill>
                <a:latin typeface="Aptos"/>
                <a:ea typeface="Aptos"/>
                <a:cs typeface="Aptos"/>
              </a:rPr>
              <a:t>Drivers</a:t>
            </a:r>
          </a:p>
        </p:txBody>
      </p:sp>
      <p:sp>
        <p:nvSpPr>
          <p:cNvPr id="37" name="Rectangle: Rounded Corners 36">
            <a:extLst>
              <a:ext uri="{FF2B5EF4-FFF2-40B4-BE49-F238E27FC236}">
                <a16:creationId xmlns:a16="http://schemas.microsoft.com/office/drawing/2014/main" id="{55C955E3-9BED-4FD6-A925-92BA26ABA0FC}"/>
              </a:ext>
            </a:extLst>
          </p:cNvPr>
          <p:cNvSpPr>
            <a:spLocks noGrp="1"/>
          </p:cNvSpPr>
          <p:nvPr/>
        </p:nvSpPr>
        <p:spPr>
          <a:xfrm>
            <a:off x="609600" y="3810000"/>
            <a:ext cx="3276600" cy="1200150"/>
          </a:xfrm>
          <a:prstGeom prst="roundRect">
            <a:avLst>
              <a:gd name="adj" fmla="val 9524"/>
            </a:avLst>
          </a:prstGeom>
          <a:solidFill>
            <a:srgbClr val="FFFFFF"/>
          </a:solidFill>
          <a:ln w="9525">
            <a:solidFill>
              <a:srgbClr val="D7DCE2"/>
            </a:solidFill>
            <a:prstDash val="solid"/>
          </a:ln>
        </p:spPr>
      </p:sp>
      <p:sp>
        <p:nvSpPr>
          <p:cNvPr id="38" name="Rectangle 37">
            <a:extLst>
              <a:ext uri="{FF2B5EF4-FFF2-40B4-BE49-F238E27FC236}">
                <a16:creationId xmlns:a16="http://schemas.microsoft.com/office/drawing/2014/main" id="{17136E47-E1F3-4C48-8984-D320E67200FE}"/>
              </a:ext>
            </a:extLst>
          </p:cNvPr>
          <p:cNvSpPr>
            <a:spLocks noGrp="1"/>
          </p:cNvSpPr>
          <p:nvPr/>
        </p:nvSpPr>
        <p:spPr>
          <a:xfrm>
            <a:off x="609600" y="3810000"/>
            <a:ext cx="76200" cy="1200150"/>
          </a:xfrm>
          <a:prstGeom prst="rect">
            <a:avLst/>
          </a:prstGeom>
          <a:solidFill>
            <a:srgbClr val="D71E28"/>
          </a:solidFill>
          <a:ln w="9525">
            <a:solidFill>
              <a:srgbClr val="D71E28"/>
            </a:solidFill>
            <a:prstDash val="solid"/>
          </a:ln>
        </p:spPr>
      </p:sp>
      <p:sp>
        <p:nvSpPr>
          <p:cNvPr id="39" name="Rectangle 38">
            <a:extLst>
              <a:ext uri="{FF2B5EF4-FFF2-40B4-BE49-F238E27FC236}">
                <a16:creationId xmlns:a16="http://schemas.microsoft.com/office/drawing/2014/main" id="{9053FFEF-DEC9-4633-942C-BE40D3209AF9}"/>
              </a:ext>
            </a:extLst>
          </p:cNvPr>
          <p:cNvSpPr>
            <a:spLocks noGrp="1"/>
          </p:cNvSpPr>
          <p:nvPr/>
        </p:nvSpPr>
        <p:spPr>
          <a:xfrm>
            <a:off x="838200" y="3981450"/>
            <a:ext cx="2876550" cy="228600"/>
          </a:xfrm>
          <a:prstGeom prst="rect">
            <a:avLst/>
          </a:prstGeom>
          <a:noFill/>
          <a:ln w="0">
            <a:noFill/>
            <a:prstDash val="solid"/>
          </a:ln>
        </p:spPr>
        <p:txBody>
          <a:bodyPr lIns="0" tIns="0" rIns="0" bIns="0" anchor="t">
            <a:noAutofit/>
          </a:bodyPr>
          <a:lstStyle/>
          <a:p>
            <a:pPr algn="l">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CONTEXT SWITCHING</a:t>
            </a:r>
          </a:p>
        </p:txBody>
      </p:sp>
      <p:sp>
        <p:nvSpPr>
          <p:cNvPr id="40" name="Rectangle 39">
            <a:extLst>
              <a:ext uri="{FF2B5EF4-FFF2-40B4-BE49-F238E27FC236}">
                <a16:creationId xmlns:a16="http://schemas.microsoft.com/office/drawing/2014/main" id="{328D50FC-C459-4B25-BA95-E217BF7BAE12}"/>
              </a:ext>
            </a:extLst>
          </p:cNvPr>
          <p:cNvSpPr>
            <a:spLocks noGrp="1"/>
          </p:cNvSpPr>
          <p:nvPr/>
        </p:nvSpPr>
        <p:spPr>
          <a:xfrm>
            <a:off x="838200" y="4305300"/>
            <a:ext cx="2876550" cy="571500"/>
          </a:xfrm>
          <a:prstGeom prst="rect">
            <a:avLst/>
          </a:prstGeom>
          <a:noFill/>
          <a:ln w="0">
            <a:noFill/>
            <a:prstDash val="solid"/>
          </a:ln>
        </p:spPr>
        <p:txBody>
          <a:bodyPr lIns="0" tIns="0" rIns="0" bIns="0" anchor="t">
            <a:noAutofit/>
          </a:bodyPr>
          <a:lstStyle/>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The analyst moves across different files, systems, schemas, and tools.</a:t>
            </a:r>
          </a:p>
        </p:txBody>
      </p:sp>
      <p:sp>
        <p:nvSpPr>
          <p:cNvPr id="41" name="Rectangle: Rounded Corners 40">
            <a:extLst>
              <a:ext uri="{FF2B5EF4-FFF2-40B4-BE49-F238E27FC236}">
                <a16:creationId xmlns:a16="http://schemas.microsoft.com/office/drawing/2014/main" id="{3B6CAAF9-07E5-43EC-8CD0-074DF07B4657}"/>
              </a:ext>
            </a:extLst>
          </p:cNvPr>
          <p:cNvSpPr>
            <a:spLocks noGrp="1"/>
          </p:cNvSpPr>
          <p:nvPr/>
        </p:nvSpPr>
        <p:spPr>
          <a:xfrm>
            <a:off x="4457700" y="3810000"/>
            <a:ext cx="3276600" cy="1200150"/>
          </a:xfrm>
          <a:prstGeom prst="roundRect">
            <a:avLst>
              <a:gd name="adj" fmla="val 9524"/>
            </a:avLst>
          </a:prstGeom>
          <a:solidFill>
            <a:srgbClr val="FFF8E0"/>
          </a:solidFill>
          <a:ln w="9525">
            <a:solidFill>
              <a:srgbClr val="D7DCE2"/>
            </a:solidFill>
            <a:prstDash val="solid"/>
          </a:ln>
        </p:spPr>
      </p:sp>
      <p:sp>
        <p:nvSpPr>
          <p:cNvPr id="42" name="Rectangle 41">
            <a:extLst>
              <a:ext uri="{FF2B5EF4-FFF2-40B4-BE49-F238E27FC236}">
                <a16:creationId xmlns:a16="http://schemas.microsoft.com/office/drawing/2014/main" id="{A6083718-759E-47FE-91A1-39E57DAEA0C0}"/>
              </a:ext>
            </a:extLst>
          </p:cNvPr>
          <p:cNvSpPr>
            <a:spLocks noGrp="1"/>
          </p:cNvSpPr>
          <p:nvPr/>
        </p:nvSpPr>
        <p:spPr>
          <a:xfrm>
            <a:off x="4457700" y="3810000"/>
            <a:ext cx="76200" cy="1200150"/>
          </a:xfrm>
          <a:prstGeom prst="rect">
            <a:avLst/>
          </a:prstGeom>
          <a:solidFill>
            <a:srgbClr val="8A5A00"/>
          </a:solidFill>
          <a:ln w="9525">
            <a:solidFill>
              <a:srgbClr val="8A5A00"/>
            </a:solidFill>
            <a:prstDash val="solid"/>
          </a:ln>
        </p:spPr>
      </p:sp>
      <p:sp>
        <p:nvSpPr>
          <p:cNvPr id="43" name="Rectangle 42">
            <a:extLst>
              <a:ext uri="{FF2B5EF4-FFF2-40B4-BE49-F238E27FC236}">
                <a16:creationId xmlns:a16="http://schemas.microsoft.com/office/drawing/2014/main" id="{458932CF-C52E-4B79-8CC9-87477858A2DB}"/>
              </a:ext>
            </a:extLst>
          </p:cNvPr>
          <p:cNvSpPr>
            <a:spLocks noGrp="1"/>
          </p:cNvSpPr>
          <p:nvPr/>
        </p:nvSpPr>
        <p:spPr>
          <a:xfrm>
            <a:off x="4686300" y="3981450"/>
            <a:ext cx="2876550" cy="228600"/>
          </a:xfrm>
          <a:prstGeom prst="rect">
            <a:avLst/>
          </a:prstGeom>
          <a:noFill/>
          <a:ln w="0">
            <a:noFill/>
            <a:prstDash val="solid"/>
          </a:ln>
        </p:spPr>
        <p:txBody>
          <a:bodyPr lIns="0" tIns="0" rIns="0" bIns="0" anchor="t">
            <a:noAutofit/>
          </a:bodyPr>
          <a:lstStyle/>
          <a:p>
            <a:pPr algn="l">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DATASET &amp; JOIN CHOICES</a:t>
            </a:r>
          </a:p>
        </p:txBody>
      </p:sp>
      <p:sp>
        <p:nvSpPr>
          <p:cNvPr id="44" name="Rectangle 43">
            <a:extLst>
              <a:ext uri="{FF2B5EF4-FFF2-40B4-BE49-F238E27FC236}">
                <a16:creationId xmlns:a16="http://schemas.microsoft.com/office/drawing/2014/main" id="{16F3AA51-041A-4012-AAA0-5EE4D9BF36F5}"/>
              </a:ext>
            </a:extLst>
          </p:cNvPr>
          <p:cNvSpPr>
            <a:spLocks noGrp="1"/>
          </p:cNvSpPr>
          <p:nvPr/>
        </p:nvSpPr>
        <p:spPr>
          <a:xfrm>
            <a:off x="4686300" y="4305300"/>
            <a:ext cx="2876550" cy="571500"/>
          </a:xfrm>
          <a:prstGeom prst="rect">
            <a:avLst/>
          </a:prstGeom>
          <a:noFill/>
          <a:ln w="0">
            <a:noFill/>
            <a:prstDash val="solid"/>
          </a:ln>
        </p:spPr>
        <p:txBody>
          <a:bodyPr lIns="0" tIns="0" rIns="0" bIns="0" anchor="t">
            <a:noAutofit/>
          </a:bodyPr>
          <a:lstStyle/>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Different grains and keys can produce incomplete or inconsistent answers.</a:t>
            </a:r>
          </a:p>
        </p:txBody>
      </p:sp>
      <p:sp>
        <p:nvSpPr>
          <p:cNvPr id="45" name="Rectangle: Rounded Corners 44">
            <a:extLst>
              <a:ext uri="{FF2B5EF4-FFF2-40B4-BE49-F238E27FC236}">
                <a16:creationId xmlns:a16="http://schemas.microsoft.com/office/drawing/2014/main" id="{1C769AB2-FAEF-49C8-9866-DB4A28A601C9}"/>
              </a:ext>
            </a:extLst>
          </p:cNvPr>
          <p:cNvSpPr>
            <a:spLocks noGrp="1"/>
          </p:cNvSpPr>
          <p:nvPr/>
        </p:nvSpPr>
        <p:spPr>
          <a:xfrm>
            <a:off x="8305800" y="3810000"/>
            <a:ext cx="2971800" cy="1200150"/>
          </a:xfrm>
          <a:prstGeom prst="roundRect">
            <a:avLst>
              <a:gd name="adj" fmla="val 9524"/>
            </a:avLst>
          </a:prstGeom>
          <a:solidFill>
            <a:srgbClr val="EEF1F4"/>
          </a:solidFill>
          <a:ln w="9525">
            <a:solidFill>
              <a:srgbClr val="D7DCE2"/>
            </a:solidFill>
            <a:prstDash val="solid"/>
          </a:ln>
        </p:spPr>
      </p:sp>
      <p:sp>
        <p:nvSpPr>
          <p:cNvPr id="46" name="Rectangle 45">
            <a:extLst>
              <a:ext uri="{FF2B5EF4-FFF2-40B4-BE49-F238E27FC236}">
                <a16:creationId xmlns:a16="http://schemas.microsoft.com/office/drawing/2014/main" id="{5961FA70-EE0F-4B21-8696-6861C1EBD043}"/>
              </a:ext>
            </a:extLst>
          </p:cNvPr>
          <p:cNvSpPr>
            <a:spLocks noGrp="1"/>
          </p:cNvSpPr>
          <p:nvPr/>
        </p:nvSpPr>
        <p:spPr>
          <a:xfrm>
            <a:off x="8305800" y="3810000"/>
            <a:ext cx="76200" cy="1200150"/>
          </a:xfrm>
          <a:prstGeom prst="rect">
            <a:avLst/>
          </a:prstGeom>
          <a:solidFill>
            <a:srgbClr val="20252B"/>
          </a:solidFill>
          <a:ln w="9525">
            <a:solidFill>
              <a:srgbClr val="20252B"/>
            </a:solidFill>
            <a:prstDash val="solid"/>
          </a:ln>
        </p:spPr>
      </p:sp>
      <p:sp>
        <p:nvSpPr>
          <p:cNvPr id="47" name="Rectangle 46">
            <a:extLst>
              <a:ext uri="{FF2B5EF4-FFF2-40B4-BE49-F238E27FC236}">
                <a16:creationId xmlns:a16="http://schemas.microsoft.com/office/drawing/2014/main" id="{233D4704-250A-48AC-9F23-2CBA70C8A73D}"/>
              </a:ext>
            </a:extLst>
          </p:cNvPr>
          <p:cNvSpPr>
            <a:spLocks noGrp="1"/>
          </p:cNvSpPr>
          <p:nvPr/>
        </p:nvSpPr>
        <p:spPr>
          <a:xfrm>
            <a:off x="8534400" y="3981450"/>
            <a:ext cx="2571750" cy="228600"/>
          </a:xfrm>
          <a:prstGeom prst="rect">
            <a:avLst/>
          </a:prstGeom>
          <a:noFill/>
          <a:ln w="0">
            <a:noFill/>
            <a:prstDash val="solid"/>
          </a:ln>
        </p:spPr>
        <p:txBody>
          <a:bodyPr lIns="0" tIns="0" rIns="0" bIns="0" anchor="t">
            <a:noAutofit/>
          </a:bodyPr>
          <a:lstStyle/>
          <a:p>
            <a:pPr algn="l">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REPEATED SETUP</a:t>
            </a:r>
          </a:p>
        </p:txBody>
      </p:sp>
      <p:sp>
        <p:nvSpPr>
          <p:cNvPr id="48" name="Rectangle 47">
            <a:extLst>
              <a:ext uri="{FF2B5EF4-FFF2-40B4-BE49-F238E27FC236}">
                <a16:creationId xmlns:a16="http://schemas.microsoft.com/office/drawing/2014/main" id="{01201415-29A4-4457-9DDC-1BA32BC86955}"/>
              </a:ext>
            </a:extLst>
          </p:cNvPr>
          <p:cNvSpPr>
            <a:spLocks noGrp="1"/>
          </p:cNvSpPr>
          <p:nvPr/>
        </p:nvSpPr>
        <p:spPr>
          <a:xfrm>
            <a:off x="8534400" y="4305300"/>
            <a:ext cx="2571750" cy="571500"/>
          </a:xfrm>
          <a:prstGeom prst="rect">
            <a:avLst/>
          </a:prstGeom>
          <a:noFill/>
          <a:ln w="0">
            <a:noFill/>
            <a:prstDash val="solid"/>
          </a:ln>
        </p:spPr>
        <p:txBody>
          <a:bodyPr lIns="0" tIns="0" rIns="0" bIns="0" anchor="t">
            <a:noAutofit/>
          </a:bodyPr>
          <a:lstStyle/>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Similar investigations require repeated discovery, filtering, and query preparation.</a:t>
            </a:r>
          </a:p>
        </p:txBody>
      </p:sp>
      <p:sp>
        <p:nvSpPr>
          <p:cNvPr id="49" name="Rectangle 48">
            <a:extLst>
              <a:ext uri="{FF2B5EF4-FFF2-40B4-BE49-F238E27FC236}">
                <a16:creationId xmlns:a16="http://schemas.microsoft.com/office/drawing/2014/main" id="{798FCEC0-B40A-427C-AF18-3AA5F529531C}"/>
              </a:ext>
            </a:extLst>
          </p:cNvPr>
          <p:cNvSpPr>
            <a:spLocks noGrp="1"/>
          </p:cNvSpPr>
          <p:nvPr/>
        </p:nvSpPr>
        <p:spPr>
          <a:xfrm>
            <a:off x="609600" y="5514975"/>
            <a:ext cx="10668000" cy="285750"/>
          </a:xfrm>
          <a:prstGeom prst="rect">
            <a:avLst/>
          </a:prstGeom>
          <a:noFill/>
          <a:ln w="0">
            <a:noFill/>
            <a:prstDash val="solid"/>
          </a:ln>
        </p:spPr>
        <p:txBody>
          <a:bodyPr lIns="0" tIns="0" rIns="0" bIns="0" anchor="t">
            <a:noAutofit/>
          </a:bodyPr>
          <a:lstStyle/>
          <a:p>
            <a:pPr algn="ctr">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Book = a managed group of trades  •  Reconcile = check that related results agree  •  Driver = a contributing cause</a:t>
            </a:r>
          </a:p>
        </p:txBody>
      </p:sp>
    </p:spTree>
    <p:extLst>
      <p:ext uri="{BB962C8B-B14F-4D97-AF65-F5344CB8AC3E}">
        <p14:creationId xmlns:p14="http://schemas.microsoft.com/office/powerpoint/2010/main" val="1321009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77AA56F-C050-4D06-8592-D1F798F13365}"/>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8D08A48A-FF7E-49CB-9C78-721BEE9E192B}"/>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SOLUTION</a:t>
            </a:r>
          </a:p>
        </p:txBody>
      </p:sp>
      <p:sp>
        <p:nvSpPr>
          <p:cNvPr id="3" name="Rectangle 2">
            <a:extLst>
              <a:ext uri="{FF2B5EF4-FFF2-40B4-BE49-F238E27FC236}">
                <a16:creationId xmlns:a16="http://schemas.microsoft.com/office/drawing/2014/main" id="{04EEB88A-BD0D-47F3-BD9D-30101ABCBB07}"/>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The solution turns a question into governed analysis</a:t>
            </a:r>
          </a:p>
        </p:txBody>
      </p:sp>
      <p:sp>
        <p:nvSpPr>
          <p:cNvPr id="4" name="Straight Connector 3">
            <a:extLst>
              <a:ext uri="{FF2B5EF4-FFF2-40B4-BE49-F238E27FC236}">
                <a16:creationId xmlns:a16="http://schemas.microsoft.com/office/drawing/2014/main" id="{8A37D55F-05DE-44FC-BE27-9593A142E6EA}"/>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E6B5BBB8-3720-4D98-A3D3-107709313404}"/>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2A4DE0D9-372D-4D25-BDDC-754B14D417AE}"/>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04</a:t>
            </a:r>
          </a:p>
        </p:txBody>
      </p:sp>
      <p:sp>
        <p:nvSpPr>
          <p:cNvPr id="7" name="Rectangle 6">
            <a:extLst>
              <a:ext uri="{FF2B5EF4-FFF2-40B4-BE49-F238E27FC236}">
                <a16:creationId xmlns:a16="http://schemas.microsoft.com/office/drawing/2014/main" id="{76D747EB-15EB-436A-8F55-764926EB9777}"/>
              </a:ext>
            </a:extLst>
          </p:cNvPr>
          <p:cNvSpPr>
            <a:spLocks noGrp="1"/>
          </p:cNvSpPr>
          <p:nvPr/>
        </p:nvSpPr>
        <p:spPr>
          <a:xfrm>
            <a:off x="609600" y="1104900"/>
            <a:ext cx="100965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The AI coordinates registered tools; the analytical engine executes the query over dated data.</a:t>
            </a:r>
          </a:p>
        </p:txBody>
      </p:sp>
      <p:sp>
        <p:nvSpPr>
          <p:cNvPr id="8" name="Straight Connector 7">
            <a:extLst>
              <a:ext uri="{FF2B5EF4-FFF2-40B4-BE49-F238E27FC236}">
                <a16:creationId xmlns:a16="http://schemas.microsoft.com/office/drawing/2014/main" id="{BC9F2B62-DDCA-42C1-BF19-97824EF49BB7}"/>
              </a:ext>
            </a:extLst>
          </p:cNvPr>
          <p:cNvSpPr>
            <a:spLocks noGrp="1"/>
          </p:cNvSpPr>
          <p:nvPr/>
        </p:nvSpPr>
        <p:spPr>
          <a:xfrm>
            <a:off x="3162300" y="3162300"/>
            <a:ext cx="1028700" cy="0"/>
          </a:xfrm>
          <a:prstGeom prst="line">
            <a:avLst/>
          </a:prstGeom>
          <a:noFill/>
          <a:ln w="38100">
            <a:solidFill>
              <a:srgbClr val="D71E28"/>
            </a:solidFill>
            <a:prstDash val="solid"/>
          </a:ln>
        </p:spPr>
      </p:sp>
      <p:sp>
        <p:nvSpPr>
          <p:cNvPr id="9" name="Straight Connector 8">
            <a:extLst>
              <a:ext uri="{FF2B5EF4-FFF2-40B4-BE49-F238E27FC236}">
                <a16:creationId xmlns:a16="http://schemas.microsoft.com/office/drawing/2014/main" id="{3A06C447-2226-41F0-A623-90B91D4E0891}"/>
              </a:ext>
            </a:extLst>
          </p:cNvPr>
          <p:cNvSpPr>
            <a:spLocks noGrp="1"/>
          </p:cNvSpPr>
          <p:nvPr/>
        </p:nvSpPr>
        <p:spPr>
          <a:xfrm>
            <a:off x="7981950" y="3162300"/>
            <a:ext cx="1028700" cy="0"/>
          </a:xfrm>
          <a:prstGeom prst="line">
            <a:avLst/>
          </a:prstGeom>
          <a:noFill/>
          <a:ln w="38100">
            <a:solidFill>
              <a:srgbClr val="D71E28"/>
            </a:solidFill>
            <a:prstDash val="solid"/>
          </a:ln>
        </p:spPr>
      </p:sp>
      <p:sp>
        <p:nvSpPr>
          <p:cNvPr id="10" name="Rectangle: Rounded Corners 9">
            <a:extLst>
              <a:ext uri="{FF2B5EF4-FFF2-40B4-BE49-F238E27FC236}">
                <a16:creationId xmlns:a16="http://schemas.microsoft.com/office/drawing/2014/main" id="{E1FB5BDB-DC07-405C-B33A-E36690422A6A}"/>
              </a:ext>
            </a:extLst>
          </p:cNvPr>
          <p:cNvSpPr>
            <a:spLocks noGrp="1"/>
          </p:cNvSpPr>
          <p:nvPr/>
        </p:nvSpPr>
        <p:spPr>
          <a:xfrm>
            <a:off x="609600" y="1847850"/>
            <a:ext cx="2552700" cy="2628900"/>
          </a:xfrm>
          <a:prstGeom prst="roundRect">
            <a:avLst>
              <a:gd name="adj" fmla="val 6716"/>
            </a:avLst>
          </a:prstGeom>
          <a:solidFill>
            <a:schemeClr val="accent6">
              <a:lumMod val="50000"/>
            </a:schemeClr>
          </a:solidFill>
          <a:ln w="9525">
            <a:solidFill>
              <a:srgbClr val="20252B"/>
            </a:solidFill>
            <a:prstDash val="solid"/>
          </a:ln>
        </p:spPr>
      </p:sp>
      <p:sp>
        <p:nvSpPr>
          <p:cNvPr id="11" name="Rectangle 10">
            <a:extLst>
              <a:ext uri="{FF2B5EF4-FFF2-40B4-BE49-F238E27FC236}">
                <a16:creationId xmlns:a16="http://schemas.microsoft.com/office/drawing/2014/main" id="{73E2DEFE-14EE-4912-9D93-AA4B84C404B9}"/>
              </a:ext>
            </a:extLst>
          </p:cNvPr>
          <p:cNvSpPr>
            <a:spLocks noGrp="1"/>
          </p:cNvSpPr>
          <p:nvPr/>
        </p:nvSpPr>
        <p:spPr>
          <a:xfrm>
            <a:off x="857250" y="2095500"/>
            <a:ext cx="2076450" cy="228600"/>
          </a:xfrm>
          <a:prstGeom prst="rect">
            <a:avLst/>
          </a:prstGeom>
          <a:noFill/>
          <a:ln w="0">
            <a:noFill/>
            <a:prstDash val="solid"/>
          </a:ln>
        </p:spPr>
        <p:txBody>
          <a:bodyPr lIns="0" tIns="0" rIns="0" bIns="0" anchor="t">
            <a:noAutofit/>
          </a:bodyPr>
          <a:lstStyle/>
          <a:p>
            <a:pPr algn="l">
              <a:lnSpc>
                <a:spcPct val="100000"/>
              </a:lnSpc>
              <a:buNone/>
              <a:defRPr sz="1050" b="1">
                <a:solidFill>
                  <a:srgbClr val="FFCD41"/>
                </a:solidFill>
                <a:latin typeface="Aptos"/>
                <a:ea typeface="Aptos"/>
                <a:cs typeface="Aptos"/>
              </a:defRPr>
            </a:pPr>
            <a:r>
              <a:rPr sz="1050" b="1">
                <a:solidFill>
                  <a:srgbClr val="FFCD41"/>
                </a:solidFill>
                <a:latin typeface="Aptos"/>
                <a:ea typeface="Aptos"/>
                <a:cs typeface="Aptos"/>
              </a:rPr>
              <a:t>1  ASK</a:t>
            </a:r>
          </a:p>
        </p:txBody>
      </p:sp>
      <p:sp>
        <p:nvSpPr>
          <p:cNvPr id="12" name="Rectangle 11">
            <a:extLst>
              <a:ext uri="{FF2B5EF4-FFF2-40B4-BE49-F238E27FC236}">
                <a16:creationId xmlns:a16="http://schemas.microsoft.com/office/drawing/2014/main" id="{CD3891B9-5A35-447B-847E-CAB01CE8BF63}"/>
              </a:ext>
            </a:extLst>
          </p:cNvPr>
          <p:cNvSpPr>
            <a:spLocks noGrp="1"/>
          </p:cNvSpPr>
          <p:nvPr/>
        </p:nvSpPr>
        <p:spPr>
          <a:xfrm>
            <a:off x="857250" y="2524125"/>
            <a:ext cx="2076450" cy="685800"/>
          </a:xfrm>
          <a:prstGeom prst="rect">
            <a:avLst/>
          </a:prstGeom>
          <a:noFill/>
          <a:ln w="0">
            <a:noFill/>
            <a:prstDash val="solid"/>
          </a:ln>
        </p:spPr>
        <p:txBody>
          <a:bodyPr lIns="0" tIns="0" rIns="0" bIns="0" anchor="t">
            <a:noAutofit/>
          </a:bodyPr>
          <a:lstStyle/>
          <a:p>
            <a:pPr algn="l">
              <a:lnSpc>
                <a:spcPct val="94000"/>
              </a:lnSpc>
              <a:buNone/>
              <a:defRPr sz="1950" b="1">
                <a:solidFill>
                  <a:srgbClr val="FFFFFF"/>
                </a:solidFill>
                <a:latin typeface="Aptos"/>
                <a:ea typeface="Aptos"/>
                <a:cs typeface="Aptos"/>
              </a:defRPr>
            </a:pPr>
            <a:r>
              <a:rPr sz="1950" b="1">
                <a:solidFill>
                  <a:srgbClr val="FFFFFF"/>
                </a:solidFill>
                <a:latin typeface="Aptos"/>
                <a:ea typeface="Aptos"/>
                <a:cs typeface="Aptos"/>
              </a:rPr>
              <a:t>Natural-language</a:t>
            </a:r>
          </a:p>
          <a:p>
            <a:pPr algn="l">
              <a:lnSpc>
                <a:spcPct val="94000"/>
              </a:lnSpc>
              <a:buNone/>
              <a:defRPr sz="1950" b="1">
                <a:solidFill>
                  <a:srgbClr val="FFFFFF"/>
                </a:solidFill>
                <a:latin typeface="Aptos"/>
                <a:ea typeface="Aptos"/>
                <a:cs typeface="Aptos"/>
              </a:defRPr>
            </a:pPr>
            <a:r>
              <a:rPr sz="1950" b="1">
                <a:solidFill>
                  <a:srgbClr val="FFFFFF"/>
                </a:solidFill>
                <a:latin typeface="Aptos"/>
                <a:ea typeface="Aptos"/>
                <a:cs typeface="Aptos"/>
              </a:rPr>
              <a:t>trading question</a:t>
            </a:r>
          </a:p>
        </p:txBody>
      </p:sp>
      <p:sp>
        <p:nvSpPr>
          <p:cNvPr id="13" name="Rectangle 12">
            <a:extLst>
              <a:ext uri="{FF2B5EF4-FFF2-40B4-BE49-F238E27FC236}">
                <a16:creationId xmlns:a16="http://schemas.microsoft.com/office/drawing/2014/main" id="{6A80063A-87F5-49C8-A633-C177F9FACB91}"/>
              </a:ext>
            </a:extLst>
          </p:cNvPr>
          <p:cNvSpPr>
            <a:spLocks noGrp="1"/>
          </p:cNvSpPr>
          <p:nvPr/>
        </p:nvSpPr>
        <p:spPr>
          <a:xfrm>
            <a:off x="857250" y="3581400"/>
            <a:ext cx="2076450" cy="552450"/>
          </a:xfrm>
          <a:prstGeom prst="rect">
            <a:avLst/>
          </a:prstGeom>
          <a:noFill/>
          <a:ln w="0">
            <a:noFill/>
            <a:prstDash val="solid"/>
          </a:ln>
        </p:spPr>
        <p:txBody>
          <a:bodyPr lIns="0" tIns="0" rIns="0" bIns="0" anchor="t">
            <a:noAutofit/>
          </a:bodyPr>
          <a:lstStyle/>
          <a:p>
            <a:pPr algn="l">
              <a:lnSpc>
                <a:spcPct val="102000"/>
              </a:lnSpc>
              <a:buNone/>
              <a:defRPr sz="1275" b="0">
                <a:solidFill>
                  <a:srgbClr val="F6EEDA"/>
                </a:solidFill>
                <a:latin typeface="Aptos"/>
                <a:ea typeface="Aptos"/>
                <a:cs typeface="Aptos"/>
              </a:defRPr>
            </a:pPr>
            <a:r>
              <a:rPr sz="1275" b="0">
                <a:solidFill>
                  <a:srgbClr val="F6EEDA"/>
                </a:solidFill>
                <a:latin typeface="Aptos"/>
                <a:ea typeface="Aptos"/>
                <a:cs typeface="Aptos"/>
              </a:rPr>
              <a:t>“What drove today’s</a:t>
            </a:r>
          </a:p>
          <a:p>
            <a:pPr algn="l">
              <a:lnSpc>
                <a:spcPct val="102000"/>
              </a:lnSpc>
              <a:buNone/>
              <a:defRPr sz="1275" b="0">
                <a:solidFill>
                  <a:srgbClr val="F6EEDA"/>
                </a:solidFill>
                <a:latin typeface="Aptos"/>
                <a:ea typeface="Aptos"/>
                <a:cs typeface="Aptos"/>
              </a:defRPr>
            </a:pPr>
            <a:r>
              <a:rPr sz="1275" b="0">
                <a:solidFill>
                  <a:srgbClr val="F6EEDA"/>
                </a:solidFill>
                <a:latin typeface="Aptos"/>
                <a:ea typeface="Aptos"/>
                <a:cs typeface="Aptos"/>
              </a:rPr>
              <a:t>P&amp;L for this book?”</a:t>
            </a:r>
          </a:p>
        </p:txBody>
      </p:sp>
      <p:sp>
        <p:nvSpPr>
          <p:cNvPr id="14" name="Rectangle: Rounded Corners 13">
            <a:extLst>
              <a:ext uri="{FF2B5EF4-FFF2-40B4-BE49-F238E27FC236}">
                <a16:creationId xmlns:a16="http://schemas.microsoft.com/office/drawing/2014/main" id="{9A4222B8-8CC3-4A06-80DD-9530AE049EAB}"/>
              </a:ext>
            </a:extLst>
          </p:cNvPr>
          <p:cNvSpPr>
            <a:spLocks noGrp="1"/>
          </p:cNvSpPr>
          <p:nvPr/>
        </p:nvSpPr>
        <p:spPr>
          <a:xfrm>
            <a:off x="4191000" y="1600200"/>
            <a:ext cx="3790950" cy="3124200"/>
          </a:xfrm>
          <a:prstGeom prst="roundRect">
            <a:avLst>
              <a:gd name="adj" fmla="val 5488"/>
            </a:avLst>
          </a:prstGeom>
          <a:solidFill>
            <a:srgbClr val="FFFFFF"/>
          </a:solidFill>
          <a:ln w="9525">
            <a:solidFill>
              <a:srgbClr val="D71E28"/>
            </a:solidFill>
            <a:prstDash val="solid"/>
          </a:ln>
        </p:spPr>
      </p:sp>
      <p:sp>
        <p:nvSpPr>
          <p:cNvPr id="15" name="Rectangle 14">
            <a:extLst>
              <a:ext uri="{FF2B5EF4-FFF2-40B4-BE49-F238E27FC236}">
                <a16:creationId xmlns:a16="http://schemas.microsoft.com/office/drawing/2014/main" id="{06FC2C8F-350C-46F4-BB1B-D40DF0293854}"/>
              </a:ext>
            </a:extLst>
          </p:cNvPr>
          <p:cNvSpPr>
            <a:spLocks noGrp="1"/>
          </p:cNvSpPr>
          <p:nvPr/>
        </p:nvSpPr>
        <p:spPr>
          <a:xfrm>
            <a:off x="4476750" y="1866900"/>
            <a:ext cx="3219450" cy="228600"/>
          </a:xfrm>
          <a:prstGeom prst="rect">
            <a:avLst/>
          </a:prstGeom>
          <a:noFill/>
          <a:ln w="0">
            <a:noFill/>
            <a:prstDash val="solid"/>
          </a:ln>
        </p:spPr>
        <p:txBody>
          <a:bodyPr lIns="0" tIns="0" rIns="0" bIns="0" anchor="t">
            <a:noAutofit/>
          </a:bodyPr>
          <a:lstStyle/>
          <a:p>
            <a:pPr algn="l">
              <a:lnSpc>
                <a:spcPct val="100000"/>
              </a:lnSpc>
              <a:buNone/>
              <a:defRPr sz="1050" b="1">
                <a:solidFill>
                  <a:srgbClr val="971B2F"/>
                </a:solidFill>
                <a:latin typeface="Aptos"/>
                <a:ea typeface="Aptos"/>
                <a:cs typeface="Aptos"/>
              </a:defRPr>
            </a:pPr>
            <a:r>
              <a:rPr sz="1050" b="1">
                <a:solidFill>
                  <a:srgbClr val="971B2F"/>
                </a:solidFill>
                <a:latin typeface="Aptos"/>
                <a:ea typeface="Aptos"/>
                <a:cs typeface="Aptos"/>
              </a:rPr>
              <a:t>2  ORCHESTRATE</a:t>
            </a:r>
          </a:p>
        </p:txBody>
      </p:sp>
      <p:sp>
        <p:nvSpPr>
          <p:cNvPr id="16" name="Rectangle 15">
            <a:extLst>
              <a:ext uri="{FF2B5EF4-FFF2-40B4-BE49-F238E27FC236}">
                <a16:creationId xmlns:a16="http://schemas.microsoft.com/office/drawing/2014/main" id="{551A19E8-A55D-4079-B27E-98B5FA8FA808}"/>
              </a:ext>
            </a:extLst>
          </p:cNvPr>
          <p:cNvSpPr>
            <a:spLocks noGrp="1"/>
          </p:cNvSpPr>
          <p:nvPr/>
        </p:nvSpPr>
        <p:spPr>
          <a:xfrm>
            <a:off x="4476750" y="2238375"/>
            <a:ext cx="3219450" cy="342900"/>
          </a:xfrm>
          <a:prstGeom prst="rect">
            <a:avLst/>
          </a:prstGeom>
          <a:noFill/>
          <a:ln w="0">
            <a:noFill/>
            <a:prstDash val="solid"/>
          </a:ln>
        </p:spPr>
        <p:txBody>
          <a:bodyPr lIns="0" tIns="0" rIns="0" bIns="0" anchor="t">
            <a:noAutofit/>
          </a:bodyPr>
          <a:lstStyle/>
          <a:p>
            <a:pPr algn="l">
              <a:lnSpc>
                <a:spcPct val="100000"/>
              </a:lnSpc>
              <a:buNone/>
              <a:defRPr sz="2025" b="1">
                <a:solidFill>
                  <a:srgbClr val="20252B"/>
                </a:solidFill>
                <a:latin typeface="Aptos"/>
                <a:ea typeface="Aptos"/>
                <a:cs typeface="Aptos"/>
              </a:defRPr>
            </a:pPr>
            <a:r>
              <a:rPr sz="2025" b="1">
                <a:solidFill>
                  <a:srgbClr val="20252B"/>
                </a:solidFill>
                <a:latin typeface="Aptos"/>
                <a:ea typeface="Aptos"/>
                <a:cs typeface="Aptos"/>
              </a:rPr>
              <a:t>Governed MCP tools</a:t>
            </a:r>
          </a:p>
        </p:txBody>
      </p:sp>
      <p:sp>
        <p:nvSpPr>
          <p:cNvPr id="17" name="Rectangle: Rounded Corners 16">
            <a:extLst>
              <a:ext uri="{FF2B5EF4-FFF2-40B4-BE49-F238E27FC236}">
                <a16:creationId xmlns:a16="http://schemas.microsoft.com/office/drawing/2014/main" id="{F0F1A83D-67D0-470A-B9FA-9E370729A942}"/>
              </a:ext>
            </a:extLst>
          </p:cNvPr>
          <p:cNvSpPr>
            <a:spLocks noGrp="1"/>
          </p:cNvSpPr>
          <p:nvPr/>
        </p:nvSpPr>
        <p:spPr>
          <a:xfrm>
            <a:off x="4476750" y="2876550"/>
            <a:ext cx="933450" cy="266700"/>
          </a:xfrm>
          <a:prstGeom prst="roundRect">
            <a:avLst>
              <a:gd name="adj" fmla="val 50000"/>
            </a:avLst>
          </a:prstGeom>
          <a:solidFill>
            <a:srgbClr val="FCEEEF"/>
          </a:solidFill>
          <a:ln w="9525">
            <a:solidFill>
              <a:srgbClr val="E9A8AD"/>
            </a:solidFill>
            <a:prstDash val="solid"/>
          </a:ln>
        </p:spPr>
        <p:txBody>
          <a:bodyPr lIns="76200" tIns="0" rIns="76200" bIns="0" anchor="ctr"/>
          <a:lstStyle/>
          <a:p>
            <a:pPr algn="ctr">
              <a:defRPr sz="900" b="1">
                <a:solidFill>
                  <a:srgbClr val="971B2F"/>
                </a:solidFill>
                <a:latin typeface="Aptos"/>
                <a:ea typeface="Aptos"/>
                <a:cs typeface="Aptos"/>
              </a:defRPr>
            </a:pPr>
            <a:r>
              <a:rPr sz="900" b="1">
                <a:solidFill>
                  <a:srgbClr val="971B2F"/>
                </a:solidFill>
                <a:latin typeface="Aptos"/>
                <a:ea typeface="Aptos"/>
                <a:cs typeface="Aptos"/>
              </a:rPr>
              <a:t>DISCOVER</a:t>
            </a:r>
          </a:p>
        </p:txBody>
      </p:sp>
      <p:sp>
        <p:nvSpPr>
          <p:cNvPr id="18" name="Rectangle: Rounded Corners 17">
            <a:extLst>
              <a:ext uri="{FF2B5EF4-FFF2-40B4-BE49-F238E27FC236}">
                <a16:creationId xmlns:a16="http://schemas.microsoft.com/office/drawing/2014/main" id="{561073AE-49B2-4B93-97C7-E30C2DAC9944}"/>
              </a:ext>
            </a:extLst>
          </p:cNvPr>
          <p:cNvSpPr>
            <a:spLocks noGrp="1"/>
          </p:cNvSpPr>
          <p:nvPr/>
        </p:nvSpPr>
        <p:spPr>
          <a:xfrm>
            <a:off x="5562600" y="2876550"/>
            <a:ext cx="933450" cy="266700"/>
          </a:xfrm>
          <a:prstGeom prst="roundRect">
            <a:avLst>
              <a:gd name="adj" fmla="val 50000"/>
            </a:avLst>
          </a:prstGeom>
          <a:solidFill>
            <a:srgbClr val="FFF8E0"/>
          </a:solidFill>
          <a:ln w="9525">
            <a:solidFill>
              <a:srgbClr val="FFCD41"/>
            </a:solidFill>
            <a:prstDash val="solid"/>
          </a:ln>
        </p:spPr>
        <p:txBody>
          <a:bodyPr lIns="76200" tIns="0" rIns="76200" bIns="0" anchor="ctr"/>
          <a:lstStyle/>
          <a:p>
            <a:pPr algn="ctr">
              <a:defRPr sz="900" b="1">
                <a:solidFill>
                  <a:srgbClr val="8A5A00"/>
                </a:solidFill>
                <a:latin typeface="Aptos"/>
                <a:ea typeface="Aptos"/>
                <a:cs typeface="Aptos"/>
              </a:defRPr>
            </a:pPr>
            <a:r>
              <a:rPr sz="900" b="1">
                <a:solidFill>
                  <a:srgbClr val="8A5A00"/>
                </a:solidFill>
                <a:latin typeface="Aptos"/>
                <a:ea typeface="Aptos"/>
                <a:cs typeface="Aptos"/>
              </a:rPr>
              <a:t>EXPLORE</a:t>
            </a:r>
          </a:p>
        </p:txBody>
      </p:sp>
      <p:sp>
        <p:nvSpPr>
          <p:cNvPr id="19" name="Rectangle: Rounded Corners 18">
            <a:extLst>
              <a:ext uri="{FF2B5EF4-FFF2-40B4-BE49-F238E27FC236}">
                <a16:creationId xmlns:a16="http://schemas.microsoft.com/office/drawing/2014/main" id="{EB4D7239-A2BF-4CC5-9BE9-FB59B96EFDCF}"/>
              </a:ext>
            </a:extLst>
          </p:cNvPr>
          <p:cNvSpPr>
            <a:spLocks noGrp="1"/>
          </p:cNvSpPr>
          <p:nvPr/>
        </p:nvSpPr>
        <p:spPr>
          <a:xfrm>
            <a:off x="6648450" y="2876550"/>
            <a:ext cx="933450" cy="266700"/>
          </a:xfrm>
          <a:prstGeom prst="roundRect">
            <a:avLst>
              <a:gd name="adj" fmla="val 50000"/>
            </a:avLst>
          </a:prstGeom>
          <a:solidFill>
            <a:srgbClr val="EAF1F4"/>
          </a:solidFill>
          <a:ln w="9525">
            <a:solidFill>
              <a:srgbClr val="B8CFDC"/>
            </a:solidFill>
            <a:prstDash val="solid"/>
          </a:ln>
        </p:spPr>
        <p:txBody>
          <a:bodyPr lIns="76200" tIns="0" rIns="76200" bIns="0" anchor="ctr"/>
          <a:lstStyle/>
          <a:p>
            <a:pPr algn="ctr">
              <a:defRPr sz="900" b="1">
                <a:solidFill>
                  <a:srgbClr val="2F5D73"/>
                </a:solidFill>
                <a:latin typeface="Aptos"/>
                <a:ea typeface="Aptos"/>
                <a:cs typeface="Aptos"/>
              </a:defRPr>
            </a:pPr>
            <a:r>
              <a:rPr sz="900" b="1">
                <a:solidFill>
                  <a:srgbClr val="2F5D73"/>
                </a:solidFill>
                <a:latin typeface="Aptos"/>
                <a:ea typeface="Aptos"/>
                <a:cs typeface="Aptos"/>
              </a:rPr>
              <a:t>ANALYZE</a:t>
            </a:r>
          </a:p>
        </p:txBody>
      </p:sp>
      <p:sp>
        <p:nvSpPr>
          <p:cNvPr id="20" name="Rectangle 19">
            <a:extLst>
              <a:ext uri="{FF2B5EF4-FFF2-40B4-BE49-F238E27FC236}">
                <a16:creationId xmlns:a16="http://schemas.microsoft.com/office/drawing/2014/main" id="{E86B23A6-73CC-4ECE-B0F3-8EEEE04ADE8B}"/>
              </a:ext>
            </a:extLst>
          </p:cNvPr>
          <p:cNvSpPr>
            <a:spLocks noGrp="1"/>
          </p:cNvSpPr>
          <p:nvPr/>
        </p:nvSpPr>
        <p:spPr>
          <a:xfrm>
            <a:off x="4476750" y="3505200"/>
            <a:ext cx="3219450" cy="685800"/>
          </a:xfrm>
          <a:prstGeom prst="rect">
            <a:avLst/>
          </a:prstGeom>
          <a:noFill/>
          <a:ln w="0">
            <a:noFill/>
            <a:prstDash val="solid"/>
          </a:ln>
        </p:spPr>
        <p:txBody>
          <a:bodyPr lIns="0" tIns="0" rIns="0" bIns="0" anchor="t">
            <a:noAutofit/>
          </a:bodyPr>
          <a:lstStyle/>
          <a:p>
            <a:pPr algn="l">
              <a:lnSpc>
                <a:spcPct val="112000"/>
              </a:lnSpc>
              <a:buNone/>
              <a:defRPr sz="1275" b="0">
                <a:solidFill>
                  <a:srgbClr val="3F4953"/>
                </a:solidFill>
                <a:latin typeface="Aptos"/>
                <a:ea typeface="Aptos"/>
                <a:cs typeface="Aptos"/>
              </a:defRPr>
            </a:pPr>
            <a:r>
              <a:rPr sz="1275" b="0">
                <a:solidFill>
                  <a:srgbClr val="3F4953"/>
                </a:solidFill>
                <a:latin typeface="Aptos"/>
                <a:ea typeface="Aptos"/>
                <a:cs typeface="Aptos"/>
              </a:rPr>
              <a:t>FastMCP exposes defined functions.</a:t>
            </a:r>
          </a:p>
          <a:p>
            <a:pPr algn="l">
              <a:lnSpc>
                <a:spcPct val="112000"/>
              </a:lnSpc>
              <a:buNone/>
              <a:defRPr sz="1275" b="0">
                <a:solidFill>
                  <a:srgbClr val="3F4953"/>
                </a:solidFill>
                <a:latin typeface="Aptos"/>
                <a:ea typeface="Aptos"/>
                <a:cs typeface="Aptos"/>
              </a:defRPr>
            </a:pPr>
            <a:r>
              <a:rPr sz="1275" b="0">
                <a:solidFill>
                  <a:srgbClr val="3F4953"/>
                </a:solidFill>
                <a:latin typeface="Aptos"/>
                <a:ea typeface="Aptos"/>
                <a:cs typeface="Aptos"/>
              </a:rPr>
              <a:t>DuckDB runs analytical SQL over date-partitioned Parquet.</a:t>
            </a:r>
          </a:p>
        </p:txBody>
      </p:sp>
      <p:sp>
        <p:nvSpPr>
          <p:cNvPr id="21" name="Rectangle: Rounded Corners 20">
            <a:extLst>
              <a:ext uri="{FF2B5EF4-FFF2-40B4-BE49-F238E27FC236}">
                <a16:creationId xmlns:a16="http://schemas.microsoft.com/office/drawing/2014/main" id="{D647588A-09BA-4A20-8FD5-7E97788EEB87}"/>
              </a:ext>
            </a:extLst>
          </p:cNvPr>
          <p:cNvSpPr>
            <a:spLocks noGrp="1"/>
          </p:cNvSpPr>
          <p:nvPr/>
        </p:nvSpPr>
        <p:spPr>
          <a:xfrm>
            <a:off x="9010650" y="1847850"/>
            <a:ext cx="2266950" cy="2628900"/>
          </a:xfrm>
          <a:prstGeom prst="roundRect">
            <a:avLst>
              <a:gd name="adj" fmla="val 7563"/>
            </a:avLst>
          </a:prstGeom>
          <a:solidFill>
            <a:srgbClr val="FFFFFF"/>
          </a:solidFill>
          <a:ln w="9525">
            <a:solidFill>
              <a:srgbClr val="2F5D73"/>
            </a:solidFill>
            <a:prstDash val="solid"/>
          </a:ln>
        </p:spPr>
      </p:sp>
      <p:sp>
        <p:nvSpPr>
          <p:cNvPr id="22" name="Rectangle 21">
            <a:extLst>
              <a:ext uri="{FF2B5EF4-FFF2-40B4-BE49-F238E27FC236}">
                <a16:creationId xmlns:a16="http://schemas.microsoft.com/office/drawing/2014/main" id="{A3E5F956-4F78-4D6D-913E-ACEC146F9629}"/>
              </a:ext>
            </a:extLst>
          </p:cNvPr>
          <p:cNvSpPr>
            <a:spLocks noGrp="1"/>
          </p:cNvSpPr>
          <p:nvPr/>
        </p:nvSpPr>
        <p:spPr>
          <a:xfrm>
            <a:off x="9258300" y="2095500"/>
            <a:ext cx="1771650" cy="228600"/>
          </a:xfrm>
          <a:prstGeom prst="rect">
            <a:avLst/>
          </a:prstGeom>
          <a:noFill/>
          <a:ln w="0">
            <a:noFill/>
            <a:prstDash val="solid"/>
          </a:ln>
        </p:spPr>
        <p:txBody>
          <a:bodyPr lIns="0" tIns="0" rIns="0" bIns="0" anchor="t">
            <a:noAutofit/>
          </a:bodyPr>
          <a:lstStyle/>
          <a:p>
            <a:pPr algn="l">
              <a:lnSpc>
                <a:spcPct val="100000"/>
              </a:lnSpc>
              <a:buNone/>
              <a:defRPr sz="1050" b="1">
                <a:solidFill>
                  <a:srgbClr val="2F5D73"/>
                </a:solidFill>
                <a:latin typeface="Aptos"/>
                <a:ea typeface="Aptos"/>
                <a:cs typeface="Aptos"/>
              </a:defRPr>
            </a:pPr>
            <a:r>
              <a:rPr sz="1050" b="1">
                <a:solidFill>
                  <a:srgbClr val="2F5D73"/>
                </a:solidFill>
                <a:latin typeface="Aptos"/>
                <a:ea typeface="Aptos"/>
                <a:cs typeface="Aptos"/>
              </a:rPr>
              <a:t>3  RETURN</a:t>
            </a:r>
          </a:p>
        </p:txBody>
      </p:sp>
      <p:sp>
        <p:nvSpPr>
          <p:cNvPr id="23" name="Rectangle 22">
            <a:extLst>
              <a:ext uri="{FF2B5EF4-FFF2-40B4-BE49-F238E27FC236}">
                <a16:creationId xmlns:a16="http://schemas.microsoft.com/office/drawing/2014/main" id="{0B57408B-F277-4951-A497-CE4A3C42D6BD}"/>
              </a:ext>
            </a:extLst>
          </p:cNvPr>
          <p:cNvSpPr>
            <a:spLocks noGrp="1"/>
          </p:cNvSpPr>
          <p:nvPr/>
        </p:nvSpPr>
        <p:spPr>
          <a:xfrm>
            <a:off x="9258300" y="2533650"/>
            <a:ext cx="1771650" cy="685800"/>
          </a:xfrm>
          <a:prstGeom prst="rect">
            <a:avLst/>
          </a:prstGeom>
          <a:noFill/>
          <a:ln w="0">
            <a:noFill/>
            <a:prstDash val="solid"/>
          </a:ln>
        </p:spPr>
        <p:txBody>
          <a:bodyPr lIns="0" tIns="0" rIns="0" bIns="0" anchor="t">
            <a:noAutofit/>
          </a:bodyPr>
          <a:lstStyle/>
          <a:p>
            <a:pPr algn="l">
              <a:lnSpc>
                <a:spcPct val="94000"/>
              </a:lnSpc>
              <a:buNone/>
              <a:defRPr sz="1875" b="1">
                <a:solidFill>
                  <a:srgbClr val="20252B"/>
                </a:solidFill>
                <a:latin typeface="Aptos"/>
                <a:ea typeface="Aptos"/>
                <a:cs typeface="Aptos"/>
              </a:defRPr>
            </a:pPr>
            <a:r>
              <a:rPr sz="1875" b="1">
                <a:solidFill>
                  <a:srgbClr val="20252B"/>
                </a:solidFill>
                <a:latin typeface="Aptos"/>
                <a:ea typeface="Aptos"/>
                <a:cs typeface="Aptos"/>
              </a:rPr>
              <a:t>Structured</a:t>
            </a:r>
          </a:p>
          <a:p>
            <a:pPr algn="l">
              <a:lnSpc>
                <a:spcPct val="94000"/>
              </a:lnSpc>
              <a:buNone/>
              <a:defRPr sz="1875" b="1">
                <a:solidFill>
                  <a:srgbClr val="20252B"/>
                </a:solidFill>
                <a:latin typeface="Aptos"/>
                <a:ea typeface="Aptos"/>
                <a:cs typeface="Aptos"/>
              </a:defRPr>
            </a:pPr>
            <a:r>
              <a:rPr sz="1875" b="1">
                <a:solidFill>
                  <a:srgbClr val="20252B"/>
                </a:solidFill>
                <a:latin typeface="Aptos"/>
                <a:ea typeface="Aptos"/>
                <a:cs typeface="Aptos"/>
              </a:rPr>
              <a:t>analytical result</a:t>
            </a:r>
          </a:p>
        </p:txBody>
      </p:sp>
      <p:sp>
        <p:nvSpPr>
          <p:cNvPr id="24" name="Rectangle 23">
            <a:extLst>
              <a:ext uri="{FF2B5EF4-FFF2-40B4-BE49-F238E27FC236}">
                <a16:creationId xmlns:a16="http://schemas.microsoft.com/office/drawing/2014/main" id="{4B4BD067-8881-4266-8C03-D6761B56E84C}"/>
              </a:ext>
            </a:extLst>
          </p:cNvPr>
          <p:cNvSpPr>
            <a:spLocks noGrp="1"/>
          </p:cNvSpPr>
          <p:nvPr/>
        </p:nvSpPr>
        <p:spPr>
          <a:xfrm>
            <a:off x="9258300" y="3543300"/>
            <a:ext cx="1771650" cy="742950"/>
          </a:xfrm>
          <a:prstGeom prst="rect">
            <a:avLst/>
          </a:prstGeom>
          <a:noFill/>
          <a:ln w="0">
            <a:noFill/>
            <a:prstDash val="solid"/>
          </a:ln>
        </p:spPr>
        <p:txBody>
          <a:bodyPr lIns="0" tIns="0" rIns="0" bIns="0" anchor="t">
            <a:noAutofit/>
          </a:bodyPr>
          <a:lstStyle/>
          <a:p>
            <a:pPr algn="l">
              <a:lnSpc>
                <a:spcPct val="110000"/>
              </a:lnSpc>
              <a:buNone/>
              <a:defRPr sz="1275" b="0">
                <a:solidFill>
                  <a:srgbClr val="3F4953"/>
                </a:solidFill>
                <a:latin typeface="Aptos"/>
                <a:ea typeface="Aptos"/>
                <a:cs typeface="Aptos"/>
              </a:defRPr>
            </a:pPr>
            <a:r>
              <a:rPr sz="1275" b="0">
                <a:solidFill>
                  <a:srgbClr val="3F4953"/>
                </a:solidFill>
                <a:latin typeface="Aptos"/>
                <a:ea typeface="Aptos"/>
                <a:cs typeface="Aptos"/>
              </a:rPr>
              <a:t>Relevant rows</a:t>
            </a:r>
          </a:p>
          <a:p>
            <a:pPr algn="l">
              <a:lnSpc>
                <a:spcPct val="110000"/>
              </a:lnSpc>
              <a:buNone/>
              <a:defRPr sz="1275" b="0">
                <a:solidFill>
                  <a:srgbClr val="3F4953"/>
                </a:solidFill>
                <a:latin typeface="Aptos"/>
                <a:ea typeface="Aptos"/>
                <a:cs typeface="Aptos"/>
              </a:defRPr>
            </a:pPr>
            <a:r>
              <a:rPr sz="1275" b="0">
                <a:solidFill>
                  <a:srgbClr val="3F4953"/>
                </a:solidFill>
                <a:latin typeface="Aptos"/>
                <a:ea typeface="Aptos"/>
                <a:cs typeface="Aptos"/>
              </a:rPr>
              <a:t>Aggregates</a:t>
            </a:r>
          </a:p>
          <a:p>
            <a:pPr algn="l">
              <a:lnSpc>
                <a:spcPct val="110000"/>
              </a:lnSpc>
              <a:buNone/>
              <a:defRPr sz="1275" b="0">
                <a:solidFill>
                  <a:srgbClr val="3F4953"/>
                </a:solidFill>
                <a:latin typeface="Aptos"/>
                <a:ea typeface="Aptos"/>
                <a:cs typeface="Aptos"/>
              </a:defRPr>
            </a:pPr>
            <a:r>
              <a:rPr sz="1275" b="0">
                <a:solidFill>
                  <a:srgbClr val="3F4953"/>
                </a:solidFill>
                <a:latin typeface="Aptos"/>
                <a:ea typeface="Aptos"/>
                <a:cs typeface="Aptos"/>
              </a:rPr>
              <a:t>Supporting context</a:t>
            </a:r>
          </a:p>
        </p:txBody>
      </p:sp>
      <p:sp>
        <p:nvSpPr>
          <p:cNvPr id="25" name="Rectangle: Rounded Corners 24">
            <a:extLst>
              <a:ext uri="{FF2B5EF4-FFF2-40B4-BE49-F238E27FC236}">
                <a16:creationId xmlns:a16="http://schemas.microsoft.com/office/drawing/2014/main" id="{A1578D82-5884-4396-BF1E-D7E264FBA460}"/>
              </a:ext>
            </a:extLst>
          </p:cNvPr>
          <p:cNvSpPr>
            <a:spLocks noGrp="1"/>
          </p:cNvSpPr>
          <p:nvPr/>
        </p:nvSpPr>
        <p:spPr>
          <a:xfrm>
            <a:off x="1562100" y="5238750"/>
            <a:ext cx="9067800" cy="704850"/>
          </a:xfrm>
          <a:prstGeom prst="roundRect">
            <a:avLst>
              <a:gd name="adj" fmla="val 16216"/>
            </a:avLst>
          </a:prstGeom>
          <a:solidFill>
            <a:srgbClr val="EEF1F4"/>
          </a:solidFill>
          <a:ln w="9525">
            <a:solidFill>
              <a:srgbClr val="D7DCE2"/>
            </a:solidFill>
            <a:prstDash val="solid"/>
          </a:ln>
        </p:spPr>
      </p:sp>
      <p:sp>
        <p:nvSpPr>
          <p:cNvPr id="26" name="Rectangle 25">
            <a:extLst>
              <a:ext uri="{FF2B5EF4-FFF2-40B4-BE49-F238E27FC236}">
                <a16:creationId xmlns:a16="http://schemas.microsoft.com/office/drawing/2014/main" id="{C773B472-EF0C-4F34-8B48-95910D15119A}"/>
              </a:ext>
            </a:extLst>
          </p:cNvPr>
          <p:cNvSpPr>
            <a:spLocks noGrp="1"/>
          </p:cNvSpPr>
          <p:nvPr/>
        </p:nvSpPr>
        <p:spPr>
          <a:xfrm>
            <a:off x="1790700" y="5391150"/>
            <a:ext cx="2667000" cy="20955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a:ea typeface="Aptos"/>
                <a:cs typeface="Aptos"/>
              </a:defRPr>
            </a:pPr>
            <a:r>
              <a:rPr sz="1200" b="1">
                <a:solidFill>
                  <a:srgbClr val="971B2F"/>
                </a:solidFill>
                <a:latin typeface="Aptos"/>
                <a:ea typeface="Aptos"/>
                <a:cs typeface="Aptos"/>
              </a:rPr>
              <a:t>Separation of responsibilities</a:t>
            </a:r>
          </a:p>
        </p:txBody>
      </p:sp>
      <p:sp>
        <p:nvSpPr>
          <p:cNvPr id="27" name="Rectangle 26">
            <a:extLst>
              <a:ext uri="{FF2B5EF4-FFF2-40B4-BE49-F238E27FC236}">
                <a16:creationId xmlns:a16="http://schemas.microsoft.com/office/drawing/2014/main" id="{A5493844-E4D3-423E-B06D-FCB289326DD1}"/>
              </a:ext>
            </a:extLst>
          </p:cNvPr>
          <p:cNvSpPr>
            <a:spLocks noGrp="1"/>
          </p:cNvSpPr>
          <p:nvPr/>
        </p:nvSpPr>
        <p:spPr>
          <a:xfrm>
            <a:off x="1790700" y="5648325"/>
            <a:ext cx="8610600" cy="190500"/>
          </a:xfrm>
          <a:prstGeom prst="rect">
            <a:avLst/>
          </a:prstGeom>
          <a:noFill/>
          <a:ln w="0">
            <a:noFill/>
            <a:prstDash val="solid"/>
          </a:ln>
        </p:spPr>
        <p:txBody>
          <a:bodyPr lIns="0" tIns="0" rIns="0" bIns="0" anchor="t">
            <a:noAutofit/>
          </a:bodyPr>
          <a:lstStyle/>
          <a:p>
            <a:pPr algn="ctr">
              <a:lnSpc>
                <a:spcPct val="100000"/>
              </a:lnSpc>
              <a:buNone/>
              <a:defRPr sz="1200" b="1">
                <a:solidFill>
                  <a:srgbClr val="20252B"/>
                </a:solidFill>
                <a:latin typeface="Aptos"/>
                <a:ea typeface="Aptos"/>
                <a:cs typeface="Aptos"/>
              </a:defRPr>
            </a:pPr>
            <a:r>
              <a:rPr sz="1200" b="1">
                <a:solidFill>
                  <a:srgbClr val="20252B"/>
                </a:solidFill>
                <a:latin typeface="Aptos"/>
                <a:ea typeface="Aptos"/>
                <a:cs typeface="Aptos"/>
              </a:rPr>
              <a:t>LLM = intent and tool selection   •   MCP tools = bounded capabilities   •   DuckDB = query execution</a:t>
            </a:r>
          </a:p>
        </p:txBody>
      </p:sp>
    </p:spTree>
    <p:extLst>
      <p:ext uri="{BB962C8B-B14F-4D97-AF65-F5344CB8AC3E}">
        <p14:creationId xmlns:p14="http://schemas.microsoft.com/office/powerpoint/2010/main" val="1697811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118DB21E-7DC4-4159-A45A-62268792F4F5}"/>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0E966A9C-DB44-46B4-83E0-3D6FFD84AB28}"/>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VALUE</a:t>
            </a:r>
          </a:p>
        </p:txBody>
      </p:sp>
      <p:sp>
        <p:nvSpPr>
          <p:cNvPr id="3" name="Rectangle 2">
            <a:extLst>
              <a:ext uri="{FF2B5EF4-FFF2-40B4-BE49-F238E27FC236}">
                <a16:creationId xmlns:a16="http://schemas.microsoft.com/office/drawing/2014/main" id="{AF3385FB-EFA8-482D-9542-DCBD4E3C013F}"/>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The platform targets easier investigation and controlled access</a:t>
            </a:r>
          </a:p>
        </p:txBody>
      </p:sp>
      <p:sp>
        <p:nvSpPr>
          <p:cNvPr id="4" name="Straight Connector 3">
            <a:extLst>
              <a:ext uri="{FF2B5EF4-FFF2-40B4-BE49-F238E27FC236}">
                <a16:creationId xmlns:a16="http://schemas.microsoft.com/office/drawing/2014/main" id="{A6347094-5B74-4430-BEB9-AAB4251BE77C}"/>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1BBC5A81-1E8F-44DE-A61C-D5472D3404F1}"/>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00DB4A29-A9C1-42C0-935B-11F60AF95D72}"/>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05</a:t>
            </a:r>
          </a:p>
        </p:txBody>
      </p:sp>
      <p:sp>
        <p:nvSpPr>
          <p:cNvPr id="7" name="Rectangle 6">
            <a:extLst>
              <a:ext uri="{FF2B5EF4-FFF2-40B4-BE49-F238E27FC236}">
                <a16:creationId xmlns:a16="http://schemas.microsoft.com/office/drawing/2014/main" id="{D0C83559-8A7B-429A-8273-A69B539327C2}"/>
              </a:ext>
            </a:extLst>
          </p:cNvPr>
          <p:cNvSpPr>
            <a:spLocks noGrp="1"/>
          </p:cNvSpPr>
          <p:nvPr/>
        </p:nvSpPr>
        <p:spPr>
          <a:xfrm>
            <a:off x="609600" y="1104900"/>
            <a:ext cx="102870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The benefits come from combining an easier interface with governed, reusable analytical capabilities.</a:t>
            </a:r>
          </a:p>
        </p:txBody>
      </p:sp>
      <p:sp>
        <p:nvSpPr>
          <p:cNvPr id="8" name="Rectangle: Rounded Corners 7">
            <a:extLst>
              <a:ext uri="{FF2B5EF4-FFF2-40B4-BE49-F238E27FC236}">
                <a16:creationId xmlns:a16="http://schemas.microsoft.com/office/drawing/2014/main" id="{1BC47C64-6F65-4B89-92D7-C93AA160FDAF}"/>
              </a:ext>
            </a:extLst>
          </p:cNvPr>
          <p:cNvSpPr>
            <a:spLocks noGrp="1"/>
          </p:cNvSpPr>
          <p:nvPr/>
        </p:nvSpPr>
        <p:spPr>
          <a:xfrm>
            <a:off x="609600" y="1600200"/>
            <a:ext cx="5105400" cy="3429000"/>
          </a:xfrm>
          <a:prstGeom prst="roundRect">
            <a:avLst>
              <a:gd name="adj" fmla="val 5000"/>
            </a:avLst>
          </a:prstGeom>
          <a:solidFill>
            <a:srgbClr val="FFFFFF"/>
          </a:solidFill>
          <a:ln w="9525">
            <a:solidFill>
              <a:srgbClr val="D7DCE2"/>
            </a:solidFill>
            <a:prstDash val="solid"/>
          </a:ln>
        </p:spPr>
      </p:sp>
      <p:sp>
        <p:nvSpPr>
          <p:cNvPr id="9" name="Rectangle 8">
            <a:extLst>
              <a:ext uri="{FF2B5EF4-FFF2-40B4-BE49-F238E27FC236}">
                <a16:creationId xmlns:a16="http://schemas.microsoft.com/office/drawing/2014/main" id="{30FBACDC-B381-4DEB-B1DF-52D32C116298}"/>
              </a:ext>
            </a:extLst>
          </p:cNvPr>
          <p:cNvSpPr>
            <a:spLocks noGrp="1"/>
          </p:cNvSpPr>
          <p:nvPr/>
        </p:nvSpPr>
        <p:spPr>
          <a:xfrm>
            <a:off x="609600" y="1771650"/>
            <a:ext cx="66675" cy="3086100"/>
          </a:xfrm>
          <a:prstGeom prst="rect">
            <a:avLst/>
          </a:prstGeom>
          <a:solidFill>
            <a:srgbClr val="D71E28"/>
          </a:solidFill>
          <a:ln w="9525">
            <a:solidFill>
              <a:srgbClr val="D71E28"/>
            </a:solidFill>
            <a:prstDash val="solid"/>
          </a:ln>
        </p:spPr>
      </p:sp>
      <p:sp>
        <p:nvSpPr>
          <p:cNvPr id="10" name="Rectangle 9">
            <a:extLst>
              <a:ext uri="{FF2B5EF4-FFF2-40B4-BE49-F238E27FC236}">
                <a16:creationId xmlns:a16="http://schemas.microsoft.com/office/drawing/2014/main" id="{97435263-C94E-4D3C-BBDD-C78164E0EDE9}"/>
              </a:ext>
            </a:extLst>
          </p:cNvPr>
          <p:cNvSpPr>
            <a:spLocks noGrp="1"/>
          </p:cNvSpPr>
          <p:nvPr/>
        </p:nvSpPr>
        <p:spPr>
          <a:xfrm>
            <a:off x="876300" y="1847850"/>
            <a:ext cx="4381500" cy="20955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BUSINESS VALUE</a:t>
            </a:r>
          </a:p>
        </p:txBody>
      </p:sp>
      <p:sp>
        <p:nvSpPr>
          <p:cNvPr id="11" name="Rectangle 10">
            <a:extLst>
              <a:ext uri="{FF2B5EF4-FFF2-40B4-BE49-F238E27FC236}">
                <a16:creationId xmlns:a16="http://schemas.microsoft.com/office/drawing/2014/main" id="{38CFD9FF-E41B-4731-BA08-84BF8918F3B8}"/>
              </a:ext>
            </a:extLst>
          </p:cNvPr>
          <p:cNvSpPr>
            <a:spLocks noGrp="1"/>
          </p:cNvSpPr>
          <p:nvPr/>
        </p:nvSpPr>
        <p:spPr>
          <a:xfrm>
            <a:off x="876300" y="2209800"/>
            <a:ext cx="4381500" cy="342900"/>
          </a:xfrm>
          <a:prstGeom prst="rect">
            <a:avLst/>
          </a:prstGeom>
          <a:noFill/>
          <a:ln w="0">
            <a:noFill/>
            <a:prstDash val="solid"/>
          </a:ln>
        </p:spPr>
        <p:txBody>
          <a:bodyPr lIns="0" tIns="0" rIns="0" bIns="0" anchor="t">
            <a:noAutofit/>
          </a:bodyPr>
          <a:lstStyle/>
          <a:p>
            <a:pPr algn="l">
              <a:lnSpc>
                <a:spcPct val="100000"/>
              </a:lnSpc>
              <a:buNone/>
              <a:defRPr sz="2025" b="1">
                <a:solidFill>
                  <a:srgbClr val="20252B"/>
                </a:solidFill>
                <a:latin typeface="Aptos"/>
                <a:ea typeface="Aptos"/>
                <a:cs typeface="Aptos"/>
              </a:defRPr>
            </a:pPr>
            <a:r>
              <a:rPr sz="2025" b="1">
                <a:solidFill>
                  <a:srgbClr val="20252B"/>
                </a:solidFill>
                <a:latin typeface="Aptos"/>
                <a:ea typeface="Aptos"/>
                <a:cs typeface="Aptos"/>
              </a:rPr>
              <a:t>Easier P&amp;L investigation</a:t>
            </a:r>
          </a:p>
        </p:txBody>
      </p:sp>
      <p:sp>
        <p:nvSpPr>
          <p:cNvPr id="12" name="Oval 11">
            <a:extLst>
              <a:ext uri="{FF2B5EF4-FFF2-40B4-BE49-F238E27FC236}">
                <a16:creationId xmlns:a16="http://schemas.microsoft.com/office/drawing/2014/main" id="{A6CCA04D-DFEA-4B1F-A307-90CFF051B536}"/>
              </a:ext>
            </a:extLst>
          </p:cNvPr>
          <p:cNvSpPr>
            <a:spLocks noGrp="1"/>
          </p:cNvSpPr>
          <p:nvPr/>
        </p:nvSpPr>
        <p:spPr>
          <a:xfrm>
            <a:off x="876300" y="2857500"/>
            <a:ext cx="285750" cy="2857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3" name="Rectangle 12">
            <a:extLst>
              <a:ext uri="{FF2B5EF4-FFF2-40B4-BE49-F238E27FC236}">
                <a16:creationId xmlns:a16="http://schemas.microsoft.com/office/drawing/2014/main" id="{FA373872-92ED-408D-B5ED-DCEEEEDE4547}"/>
              </a:ext>
            </a:extLst>
          </p:cNvPr>
          <p:cNvSpPr>
            <a:spLocks noGrp="1"/>
          </p:cNvSpPr>
          <p:nvPr/>
        </p:nvSpPr>
        <p:spPr>
          <a:xfrm>
            <a:off x="1295400" y="2886075"/>
            <a:ext cx="3962400" cy="36195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Conversational access to complex commodities data</a:t>
            </a:r>
          </a:p>
        </p:txBody>
      </p:sp>
      <p:sp>
        <p:nvSpPr>
          <p:cNvPr id="14" name="Oval 13">
            <a:extLst>
              <a:ext uri="{FF2B5EF4-FFF2-40B4-BE49-F238E27FC236}">
                <a16:creationId xmlns:a16="http://schemas.microsoft.com/office/drawing/2014/main" id="{112B80BE-22F9-4130-84E0-32948670F62B}"/>
              </a:ext>
            </a:extLst>
          </p:cNvPr>
          <p:cNvSpPr>
            <a:spLocks noGrp="1"/>
          </p:cNvSpPr>
          <p:nvPr/>
        </p:nvSpPr>
        <p:spPr>
          <a:xfrm>
            <a:off x="876300" y="3371850"/>
            <a:ext cx="285750" cy="2857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5" name="Rectangle 14">
            <a:extLst>
              <a:ext uri="{FF2B5EF4-FFF2-40B4-BE49-F238E27FC236}">
                <a16:creationId xmlns:a16="http://schemas.microsoft.com/office/drawing/2014/main" id="{50B9FA1C-E9AE-4DBC-8BAE-EAA177D7F110}"/>
              </a:ext>
            </a:extLst>
          </p:cNvPr>
          <p:cNvSpPr>
            <a:spLocks noGrp="1"/>
          </p:cNvSpPr>
          <p:nvPr/>
        </p:nvSpPr>
        <p:spPr>
          <a:xfrm>
            <a:off x="1295400" y="3400425"/>
            <a:ext cx="3962400" cy="36195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Less manual schema lookup and ad hoc setup</a:t>
            </a:r>
          </a:p>
        </p:txBody>
      </p:sp>
      <p:sp>
        <p:nvSpPr>
          <p:cNvPr id="16" name="Oval 15">
            <a:extLst>
              <a:ext uri="{FF2B5EF4-FFF2-40B4-BE49-F238E27FC236}">
                <a16:creationId xmlns:a16="http://schemas.microsoft.com/office/drawing/2014/main" id="{9BD846A6-319F-41B0-AE51-5677F1ED6B66}"/>
              </a:ext>
            </a:extLst>
          </p:cNvPr>
          <p:cNvSpPr>
            <a:spLocks noGrp="1"/>
          </p:cNvSpPr>
          <p:nvPr/>
        </p:nvSpPr>
        <p:spPr>
          <a:xfrm>
            <a:off x="876300" y="3886200"/>
            <a:ext cx="285750" cy="2857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7" name="Rectangle 16">
            <a:extLst>
              <a:ext uri="{FF2B5EF4-FFF2-40B4-BE49-F238E27FC236}">
                <a16:creationId xmlns:a16="http://schemas.microsoft.com/office/drawing/2014/main" id="{86A413B7-F44C-4934-9BED-459A408677A7}"/>
              </a:ext>
            </a:extLst>
          </p:cNvPr>
          <p:cNvSpPr>
            <a:spLocks noGrp="1"/>
          </p:cNvSpPr>
          <p:nvPr/>
        </p:nvSpPr>
        <p:spPr>
          <a:xfrm>
            <a:off x="1295400" y="3914775"/>
            <a:ext cx="3962400" cy="36195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Exploratory questions and repeatable analysis</a:t>
            </a:r>
          </a:p>
        </p:txBody>
      </p:sp>
      <p:sp>
        <p:nvSpPr>
          <p:cNvPr id="18" name="Oval 17">
            <a:extLst>
              <a:ext uri="{FF2B5EF4-FFF2-40B4-BE49-F238E27FC236}">
                <a16:creationId xmlns:a16="http://schemas.microsoft.com/office/drawing/2014/main" id="{8E246007-0E43-4BAE-B104-0370732B542A}"/>
              </a:ext>
            </a:extLst>
          </p:cNvPr>
          <p:cNvSpPr>
            <a:spLocks noGrp="1"/>
          </p:cNvSpPr>
          <p:nvPr/>
        </p:nvSpPr>
        <p:spPr>
          <a:xfrm>
            <a:off x="876300" y="4400550"/>
            <a:ext cx="285750" cy="2857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19" name="Rectangle 18">
            <a:extLst>
              <a:ext uri="{FF2B5EF4-FFF2-40B4-BE49-F238E27FC236}">
                <a16:creationId xmlns:a16="http://schemas.microsoft.com/office/drawing/2014/main" id="{75DFEBC5-05D9-4211-AA1F-F3CFEB40CF30}"/>
              </a:ext>
            </a:extLst>
          </p:cNvPr>
          <p:cNvSpPr>
            <a:spLocks noGrp="1"/>
          </p:cNvSpPr>
          <p:nvPr/>
        </p:nvSpPr>
        <p:spPr>
          <a:xfrm>
            <a:off x="1295400" y="4429125"/>
            <a:ext cx="3962400" cy="36195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More consistent dataset and join selection</a:t>
            </a:r>
          </a:p>
        </p:txBody>
      </p:sp>
      <p:sp>
        <p:nvSpPr>
          <p:cNvPr id="20" name="Rectangle: Rounded Corners 19">
            <a:extLst>
              <a:ext uri="{FF2B5EF4-FFF2-40B4-BE49-F238E27FC236}">
                <a16:creationId xmlns:a16="http://schemas.microsoft.com/office/drawing/2014/main" id="{07DA716A-3950-4A9E-83F5-A9576B2A4B30}"/>
              </a:ext>
            </a:extLst>
          </p:cNvPr>
          <p:cNvSpPr>
            <a:spLocks noGrp="1"/>
          </p:cNvSpPr>
          <p:nvPr/>
        </p:nvSpPr>
        <p:spPr>
          <a:xfrm>
            <a:off x="6172200" y="1600200"/>
            <a:ext cx="5105400" cy="3429000"/>
          </a:xfrm>
          <a:prstGeom prst="roundRect">
            <a:avLst>
              <a:gd name="adj" fmla="val 5000"/>
            </a:avLst>
          </a:prstGeom>
          <a:solidFill>
            <a:srgbClr val="FFFFFF"/>
          </a:solidFill>
          <a:ln w="9525">
            <a:solidFill>
              <a:srgbClr val="D7DCE2"/>
            </a:solidFill>
            <a:prstDash val="solid"/>
          </a:ln>
        </p:spPr>
      </p:sp>
      <p:sp>
        <p:nvSpPr>
          <p:cNvPr id="21" name="Rectangle 20">
            <a:extLst>
              <a:ext uri="{FF2B5EF4-FFF2-40B4-BE49-F238E27FC236}">
                <a16:creationId xmlns:a16="http://schemas.microsoft.com/office/drawing/2014/main" id="{AAF03858-E5CF-410C-8195-EDB5F33E2CA2}"/>
              </a:ext>
            </a:extLst>
          </p:cNvPr>
          <p:cNvSpPr>
            <a:spLocks noGrp="1"/>
          </p:cNvSpPr>
          <p:nvPr/>
        </p:nvSpPr>
        <p:spPr>
          <a:xfrm>
            <a:off x="6172200" y="1771650"/>
            <a:ext cx="66675" cy="3086100"/>
          </a:xfrm>
          <a:prstGeom prst="rect">
            <a:avLst/>
          </a:prstGeom>
          <a:solidFill>
            <a:srgbClr val="2F5D73"/>
          </a:solidFill>
          <a:ln w="9525">
            <a:solidFill>
              <a:srgbClr val="2F5D73"/>
            </a:solidFill>
            <a:prstDash val="solid"/>
          </a:ln>
        </p:spPr>
      </p:sp>
      <p:sp>
        <p:nvSpPr>
          <p:cNvPr id="22" name="Rectangle 21">
            <a:extLst>
              <a:ext uri="{FF2B5EF4-FFF2-40B4-BE49-F238E27FC236}">
                <a16:creationId xmlns:a16="http://schemas.microsoft.com/office/drawing/2014/main" id="{642A5111-351B-4CC4-BA82-68B887F9C451}"/>
              </a:ext>
            </a:extLst>
          </p:cNvPr>
          <p:cNvSpPr>
            <a:spLocks noGrp="1"/>
          </p:cNvSpPr>
          <p:nvPr/>
        </p:nvSpPr>
        <p:spPr>
          <a:xfrm>
            <a:off x="6438900" y="1847850"/>
            <a:ext cx="4381500" cy="209550"/>
          </a:xfrm>
          <a:prstGeom prst="rect">
            <a:avLst/>
          </a:prstGeom>
          <a:noFill/>
          <a:ln w="0">
            <a:noFill/>
            <a:prstDash val="solid"/>
          </a:ln>
        </p:spPr>
        <p:txBody>
          <a:bodyPr lIns="0" tIns="0" rIns="0" bIns="0" anchor="t">
            <a:noAutofit/>
          </a:bodyPr>
          <a:lstStyle/>
          <a:p>
            <a:pPr algn="l">
              <a:lnSpc>
                <a:spcPct val="100000"/>
              </a:lnSpc>
              <a:buNone/>
              <a:defRPr sz="1125" b="1">
                <a:solidFill>
                  <a:srgbClr val="2F5D73"/>
                </a:solidFill>
                <a:latin typeface="Aptos"/>
                <a:ea typeface="Aptos"/>
                <a:cs typeface="Aptos"/>
              </a:defRPr>
            </a:pPr>
            <a:r>
              <a:rPr sz="1125" b="1">
                <a:solidFill>
                  <a:srgbClr val="2F5D73"/>
                </a:solidFill>
                <a:latin typeface="Aptos"/>
                <a:ea typeface="Aptos"/>
                <a:cs typeface="Aptos"/>
              </a:rPr>
              <a:t>ENGINEERING VALUE</a:t>
            </a:r>
          </a:p>
        </p:txBody>
      </p:sp>
      <p:sp>
        <p:nvSpPr>
          <p:cNvPr id="23" name="Rectangle 22">
            <a:extLst>
              <a:ext uri="{FF2B5EF4-FFF2-40B4-BE49-F238E27FC236}">
                <a16:creationId xmlns:a16="http://schemas.microsoft.com/office/drawing/2014/main" id="{E0189D8F-DD3E-423F-A82D-4AE84459AEB0}"/>
              </a:ext>
            </a:extLst>
          </p:cNvPr>
          <p:cNvSpPr>
            <a:spLocks noGrp="1"/>
          </p:cNvSpPr>
          <p:nvPr/>
        </p:nvSpPr>
        <p:spPr>
          <a:xfrm>
            <a:off x="6438900" y="2209800"/>
            <a:ext cx="4381500" cy="342900"/>
          </a:xfrm>
          <a:prstGeom prst="rect">
            <a:avLst/>
          </a:prstGeom>
          <a:noFill/>
          <a:ln w="0">
            <a:noFill/>
            <a:prstDash val="solid"/>
          </a:ln>
        </p:spPr>
        <p:txBody>
          <a:bodyPr lIns="0" tIns="0" rIns="0" bIns="0" anchor="t">
            <a:noAutofit/>
          </a:bodyPr>
          <a:lstStyle/>
          <a:p>
            <a:pPr algn="l">
              <a:lnSpc>
                <a:spcPct val="100000"/>
              </a:lnSpc>
              <a:buNone/>
              <a:defRPr sz="2025" b="1">
                <a:solidFill>
                  <a:srgbClr val="20252B"/>
                </a:solidFill>
                <a:latin typeface="Aptos"/>
                <a:ea typeface="Aptos"/>
                <a:cs typeface="Aptos"/>
              </a:defRPr>
            </a:pPr>
            <a:r>
              <a:rPr sz="2025" b="1">
                <a:solidFill>
                  <a:srgbClr val="20252B"/>
                </a:solidFill>
                <a:latin typeface="Aptos"/>
                <a:ea typeface="Aptos"/>
                <a:cs typeface="Aptos"/>
              </a:rPr>
              <a:t>More controlled AI access</a:t>
            </a:r>
          </a:p>
        </p:txBody>
      </p:sp>
      <p:sp>
        <p:nvSpPr>
          <p:cNvPr id="24" name="Oval 23">
            <a:extLst>
              <a:ext uri="{FF2B5EF4-FFF2-40B4-BE49-F238E27FC236}">
                <a16:creationId xmlns:a16="http://schemas.microsoft.com/office/drawing/2014/main" id="{B4048E76-8461-4213-B490-67B8D1B269B2}"/>
              </a:ext>
            </a:extLst>
          </p:cNvPr>
          <p:cNvSpPr>
            <a:spLocks noGrp="1"/>
          </p:cNvSpPr>
          <p:nvPr/>
        </p:nvSpPr>
        <p:spPr>
          <a:xfrm>
            <a:off x="6438900" y="2857500"/>
            <a:ext cx="285750" cy="285750"/>
          </a:xfrm>
          <a:prstGeom prst="ellipse">
            <a:avLst/>
          </a:prstGeom>
          <a:solidFill>
            <a:srgbClr val="2F5D73"/>
          </a:solidFill>
          <a:ln w="9525">
            <a:solidFill>
              <a:srgbClr val="2F5D73"/>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25" name="Rectangle 24">
            <a:extLst>
              <a:ext uri="{FF2B5EF4-FFF2-40B4-BE49-F238E27FC236}">
                <a16:creationId xmlns:a16="http://schemas.microsoft.com/office/drawing/2014/main" id="{5E650404-3FA5-4136-8CCF-E09513AF12F8}"/>
              </a:ext>
            </a:extLst>
          </p:cNvPr>
          <p:cNvSpPr>
            <a:spLocks noGrp="1"/>
          </p:cNvSpPr>
          <p:nvPr/>
        </p:nvSpPr>
        <p:spPr>
          <a:xfrm>
            <a:off x="6858000" y="2886075"/>
            <a:ext cx="3962400" cy="36195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Governed tools instead of raw database access</a:t>
            </a:r>
          </a:p>
        </p:txBody>
      </p:sp>
      <p:sp>
        <p:nvSpPr>
          <p:cNvPr id="26" name="Oval 25">
            <a:extLst>
              <a:ext uri="{FF2B5EF4-FFF2-40B4-BE49-F238E27FC236}">
                <a16:creationId xmlns:a16="http://schemas.microsoft.com/office/drawing/2014/main" id="{0ABD0088-5F5A-4D67-B8E0-23625BE68605}"/>
              </a:ext>
            </a:extLst>
          </p:cNvPr>
          <p:cNvSpPr>
            <a:spLocks noGrp="1"/>
          </p:cNvSpPr>
          <p:nvPr/>
        </p:nvSpPr>
        <p:spPr>
          <a:xfrm>
            <a:off x="6438900" y="3371850"/>
            <a:ext cx="285750" cy="285750"/>
          </a:xfrm>
          <a:prstGeom prst="ellipse">
            <a:avLst/>
          </a:prstGeom>
          <a:solidFill>
            <a:srgbClr val="2F5D73"/>
          </a:solidFill>
          <a:ln w="9525">
            <a:solidFill>
              <a:srgbClr val="2F5D73"/>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27" name="Rectangle 26">
            <a:extLst>
              <a:ext uri="{FF2B5EF4-FFF2-40B4-BE49-F238E27FC236}">
                <a16:creationId xmlns:a16="http://schemas.microsoft.com/office/drawing/2014/main" id="{AB1266D8-36CF-41B8-B36F-50D230AA3B0C}"/>
              </a:ext>
            </a:extLst>
          </p:cNvPr>
          <p:cNvSpPr>
            <a:spLocks noGrp="1"/>
          </p:cNvSpPr>
          <p:nvPr/>
        </p:nvSpPr>
        <p:spPr>
          <a:xfrm>
            <a:off x="6858000" y="3400425"/>
            <a:ext cx="3962400" cy="36195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Modular P0, P1, and P2 capabilities</a:t>
            </a:r>
          </a:p>
        </p:txBody>
      </p:sp>
      <p:sp>
        <p:nvSpPr>
          <p:cNvPr id="28" name="Oval 27">
            <a:extLst>
              <a:ext uri="{FF2B5EF4-FFF2-40B4-BE49-F238E27FC236}">
                <a16:creationId xmlns:a16="http://schemas.microsoft.com/office/drawing/2014/main" id="{58444127-B8EB-4870-97E9-044CDA68020A}"/>
              </a:ext>
            </a:extLst>
          </p:cNvPr>
          <p:cNvSpPr>
            <a:spLocks noGrp="1"/>
          </p:cNvSpPr>
          <p:nvPr/>
        </p:nvSpPr>
        <p:spPr>
          <a:xfrm>
            <a:off x="6438900" y="3886200"/>
            <a:ext cx="285750" cy="285750"/>
          </a:xfrm>
          <a:prstGeom prst="ellipse">
            <a:avLst/>
          </a:prstGeom>
          <a:solidFill>
            <a:srgbClr val="2F5D73"/>
          </a:solidFill>
          <a:ln w="9525">
            <a:solidFill>
              <a:srgbClr val="2F5D73"/>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9" name="Rectangle 28">
            <a:extLst>
              <a:ext uri="{FF2B5EF4-FFF2-40B4-BE49-F238E27FC236}">
                <a16:creationId xmlns:a16="http://schemas.microsoft.com/office/drawing/2014/main" id="{AF158858-C0D3-4C1F-9DD6-48523D445859}"/>
              </a:ext>
            </a:extLst>
          </p:cNvPr>
          <p:cNvSpPr>
            <a:spLocks noGrp="1"/>
          </p:cNvSpPr>
          <p:nvPr/>
        </p:nvSpPr>
        <p:spPr>
          <a:xfrm>
            <a:off x="6858000" y="3914775"/>
            <a:ext cx="3962400" cy="36195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Bounded, timed, and auditable queries</a:t>
            </a:r>
          </a:p>
        </p:txBody>
      </p:sp>
      <p:sp>
        <p:nvSpPr>
          <p:cNvPr id="30" name="Oval 29">
            <a:extLst>
              <a:ext uri="{FF2B5EF4-FFF2-40B4-BE49-F238E27FC236}">
                <a16:creationId xmlns:a16="http://schemas.microsoft.com/office/drawing/2014/main" id="{35D4DF0E-A098-4847-AD24-4D7DB3D2A817}"/>
              </a:ext>
            </a:extLst>
          </p:cNvPr>
          <p:cNvSpPr>
            <a:spLocks noGrp="1"/>
          </p:cNvSpPr>
          <p:nvPr/>
        </p:nvSpPr>
        <p:spPr>
          <a:xfrm>
            <a:off x="6438900" y="4400550"/>
            <a:ext cx="285750" cy="285750"/>
          </a:xfrm>
          <a:prstGeom prst="ellipse">
            <a:avLst/>
          </a:prstGeom>
          <a:solidFill>
            <a:srgbClr val="2F5D73"/>
          </a:solidFill>
          <a:ln w="9525">
            <a:solidFill>
              <a:srgbClr val="2F5D73"/>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31" name="Rectangle 30">
            <a:extLst>
              <a:ext uri="{FF2B5EF4-FFF2-40B4-BE49-F238E27FC236}">
                <a16:creationId xmlns:a16="http://schemas.microsoft.com/office/drawing/2014/main" id="{85B65C2E-E785-4344-8751-D30695EFA6F7}"/>
              </a:ext>
            </a:extLst>
          </p:cNvPr>
          <p:cNvSpPr>
            <a:spLocks noGrp="1"/>
          </p:cNvSpPr>
          <p:nvPr/>
        </p:nvSpPr>
        <p:spPr>
          <a:xfrm>
            <a:off x="6858000" y="4429125"/>
            <a:ext cx="3962400" cy="36195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DuckDB analytics directly over Parquet</a:t>
            </a:r>
          </a:p>
        </p:txBody>
      </p:sp>
      <p:sp>
        <p:nvSpPr>
          <p:cNvPr id="32" name="Rectangle: Rounded Corners 31">
            <a:extLst>
              <a:ext uri="{FF2B5EF4-FFF2-40B4-BE49-F238E27FC236}">
                <a16:creationId xmlns:a16="http://schemas.microsoft.com/office/drawing/2014/main" id="{BA735771-7B67-4620-8D31-99011E6BFF11}"/>
              </a:ext>
            </a:extLst>
          </p:cNvPr>
          <p:cNvSpPr>
            <a:spLocks noGrp="1"/>
          </p:cNvSpPr>
          <p:nvPr/>
        </p:nvSpPr>
        <p:spPr>
          <a:xfrm>
            <a:off x="609600" y="5314950"/>
            <a:ext cx="10668000" cy="838200"/>
          </a:xfrm>
          <a:prstGeom prst="roundRect">
            <a:avLst>
              <a:gd name="adj" fmla="val 13636"/>
            </a:avLst>
          </a:prstGeom>
          <a:solidFill>
            <a:schemeClr val="accent6">
              <a:lumMod val="50000"/>
            </a:schemeClr>
          </a:solidFill>
          <a:ln w="9525">
            <a:solidFill>
              <a:srgbClr val="20252B"/>
            </a:solidFill>
            <a:prstDash val="solid"/>
          </a:ln>
        </p:spPr>
      </p:sp>
      <p:sp>
        <p:nvSpPr>
          <p:cNvPr id="33" name="Rectangle 32">
            <a:extLst>
              <a:ext uri="{FF2B5EF4-FFF2-40B4-BE49-F238E27FC236}">
                <a16:creationId xmlns:a16="http://schemas.microsoft.com/office/drawing/2014/main" id="{E2BF0B6B-9AB3-4BD0-A548-2626783B40E6}"/>
              </a:ext>
            </a:extLst>
          </p:cNvPr>
          <p:cNvSpPr>
            <a:spLocks noGrp="1"/>
          </p:cNvSpPr>
          <p:nvPr/>
        </p:nvSpPr>
        <p:spPr>
          <a:xfrm>
            <a:off x="838200" y="5476875"/>
            <a:ext cx="4000500" cy="190500"/>
          </a:xfrm>
          <a:prstGeom prst="rect">
            <a:avLst/>
          </a:prstGeom>
          <a:noFill/>
          <a:ln w="0">
            <a:noFill/>
            <a:prstDash val="solid"/>
          </a:ln>
        </p:spPr>
        <p:txBody>
          <a:bodyPr lIns="0" tIns="0" rIns="0" bIns="0" anchor="t">
            <a:noAutofit/>
          </a:bodyPr>
          <a:lstStyle/>
          <a:p>
            <a:pPr algn="l">
              <a:lnSpc>
                <a:spcPct val="100000"/>
              </a:lnSpc>
              <a:buNone/>
              <a:defRPr sz="975" b="1">
                <a:solidFill>
                  <a:srgbClr val="FFCD41"/>
                </a:solidFill>
                <a:latin typeface="Aptos"/>
                <a:ea typeface="Aptos"/>
                <a:cs typeface="Aptos"/>
              </a:defRPr>
            </a:pPr>
            <a:r>
              <a:rPr sz="975" b="1">
                <a:solidFill>
                  <a:srgbClr val="FFCD41"/>
                </a:solidFill>
                <a:latin typeface="Aptos"/>
                <a:ea typeface="Aptos"/>
                <a:cs typeface="Aptos"/>
              </a:rPr>
              <a:t>MEASURES TO TRACK — not claimed results</a:t>
            </a:r>
          </a:p>
        </p:txBody>
      </p:sp>
      <p:sp>
        <p:nvSpPr>
          <p:cNvPr id="34" name="Rectangle 33">
            <a:extLst>
              <a:ext uri="{FF2B5EF4-FFF2-40B4-BE49-F238E27FC236}">
                <a16:creationId xmlns:a16="http://schemas.microsoft.com/office/drawing/2014/main" id="{278D34F4-BB12-41DB-ACB8-49B8C1600408}"/>
              </a:ext>
            </a:extLst>
          </p:cNvPr>
          <p:cNvSpPr>
            <a:spLocks noGrp="1"/>
          </p:cNvSpPr>
          <p:nvPr/>
        </p:nvSpPr>
        <p:spPr>
          <a:xfrm>
            <a:off x="838200" y="5762625"/>
            <a:ext cx="10210800" cy="209550"/>
          </a:xfrm>
          <a:prstGeom prst="rect">
            <a:avLst/>
          </a:prstGeom>
          <a:noFill/>
          <a:ln w="0">
            <a:noFill/>
            <a:prstDash val="solid"/>
          </a:ln>
        </p:spPr>
        <p:txBody>
          <a:bodyPr lIns="0" tIns="0" rIns="0" bIns="0" anchor="t">
            <a:noAutofit/>
          </a:bodyPr>
          <a:lstStyle/>
          <a:p>
            <a:pPr algn="ctr">
              <a:lnSpc>
                <a:spcPct val="100000"/>
              </a:lnSpc>
              <a:buNone/>
              <a:defRPr sz="1200" b="1">
                <a:solidFill>
                  <a:srgbClr val="FFFFFF"/>
                </a:solidFill>
                <a:latin typeface="Aptos"/>
                <a:ea typeface="Aptos"/>
                <a:cs typeface="Aptos"/>
              </a:defRPr>
            </a:pPr>
            <a:r>
              <a:rPr sz="1200" b="1">
                <a:solidFill>
                  <a:srgbClr val="FFFFFF"/>
                </a:solidFill>
                <a:latin typeface="Aptos"/>
                <a:ea typeface="Aptos"/>
                <a:cs typeface="Aptos"/>
              </a:rPr>
              <a:t>Time to explanation  •  manual steps  •  safe-query success  •  response completeness  •  user adoption</a:t>
            </a:r>
          </a:p>
        </p:txBody>
      </p:sp>
    </p:spTree>
    <p:extLst>
      <p:ext uri="{BB962C8B-B14F-4D97-AF65-F5344CB8AC3E}">
        <p14:creationId xmlns:p14="http://schemas.microsoft.com/office/powerpoint/2010/main" val="1019482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CF7EE9E5-9A84-429A-88D4-313454882ABC}"/>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CFEA3DAC-6C80-4650-90EF-89EFB42E717A}"/>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DOMAIN</a:t>
            </a:r>
          </a:p>
        </p:txBody>
      </p:sp>
      <p:sp>
        <p:nvSpPr>
          <p:cNvPr id="3" name="Rectangle 2">
            <a:extLst>
              <a:ext uri="{FF2B5EF4-FFF2-40B4-BE49-F238E27FC236}">
                <a16:creationId xmlns:a16="http://schemas.microsoft.com/office/drawing/2014/main" id="{EEA36FF7-2B7C-422E-B796-0B557C6D241D}"/>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Flash and official/EOD P&amp;L answer different questions</a:t>
            </a:r>
          </a:p>
        </p:txBody>
      </p:sp>
      <p:sp>
        <p:nvSpPr>
          <p:cNvPr id="4" name="Straight Connector 3">
            <a:extLst>
              <a:ext uri="{FF2B5EF4-FFF2-40B4-BE49-F238E27FC236}">
                <a16:creationId xmlns:a16="http://schemas.microsoft.com/office/drawing/2014/main" id="{26C1E066-7BDB-4A18-9F32-2567BE5E29A2}"/>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EAA8ECF3-10E8-4F73-85C4-1D0F5ADC8CD0}"/>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DB2A5EA7-BAD3-4752-930A-22DCE11DD537}"/>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06</a:t>
            </a:r>
          </a:p>
        </p:txBody>
      </p:sp>
      <p:sp>
        <p:nvSpPr>
          <p:cNvPr id="7" name="Rectangle 6">
            <a:extLst>
              <a:ext uri="{FF2B5EF4-FFF2-40B4-BE49-F238E27FC236}">
                <a16:creationId xmlns:a16="http://schemas.microsoft.com/office/drawing/2014/main" id="{B6ECD18A-A1FC-451B-8672-F788FB1470E6}"/>
              </a:ext>
            </a:extLst>
          </p:cNvPr>
          <p:cNvSpPr>
            <a:spLocks noGrp="1"/>
          </p:cNvSpPr>
          <p:nvPr/>
        </p:nvSpPr>
        <p:spPr>
          <a:xfrm>
            <a:off x="609600" y="1104900"/>
            <a:ext cx="981075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Flash helps investigate today’s movement; official/EOD explains the end-of-day view.</a:t>
            </a:r>
          </a:p>
        </p:txBody>
      </p:sp>
      <p:sp>
        <p:nvSpPr>
          <p:cNvPr id="8" name="Rectangle: Rounded Corners 7">
            <a:extLst>
              <a:ext uri="{FF2B5EF4-FFF2-40B4-BE49-F238E27FC236}">
                <a16:creationId xmlns:a16="http://schemas.microsoft.com/office/drawing/2014/main" id="{C13CB8D6-B264-465A-B6D1-1A34D15C0931}"/>
              </a:ext>
            </a:extLst>
          </p:cNvPr>
          <p:cNvSpPr>
            <a:spLocks noGrp="1"/>
          </p:cNvSpPr>
          <p:nvPr/>
        </p:nvSpPr>
        <p:spPr>
          <a:xfrm>
            <a:off x="609600" y="1581150"/>
            <a:ext cx="5048250" cy="3762375"/>
          </a:xfrm>
          <a:prstGeom prst="roundRect">
            <a:avLst>
              <a:gd name="adj" fmla="val 4557"/>
            </a:avLst>
          </a:prstGeom>
          <a:solidFill>
            <a:srgbClr val="FFFFFF"/>
          </a:solidFill>
          <a:ln w="9525">
            <a:solidFill>
              <a:srgbClr val="D7DCE2"/>
            </a:solidFill>
            <a:prstDash val="solid"/>
          </a:ln>
        </p:spPr>
      </p:sp>
      <p:sp>
        <p:nvSpPr>
          <p:cNvPr id="9" name="Rectangle 8">
            <a:extLst>
              <a:ext uri="{FF2B5EF4-FFF2-40B4-BE49-F238E27FC236}">
                <a16:creationId xmlns:a16="http://schemas.microsoft.com/office/drawing/2014/main" id="{82553DAE-820B-4CEC-9F86-AD06494EF481}"/>
              </a:ext>
            </a:extLst>
          </p:cNvPr>
          <p:cNvSpPr>
            <a:spLocks noGrp="1"/>
          </p:cNvSpPr>
          <p:nvPr/>
        </p:nvSpPr>
        <p:spPr>
          <a:xfrm>
            <a:off x="609600" y="1752600"/>
            <a:ext cx="66675" cy="3419475"/>
          </a:xfrm>
          <a:prstGeom prst="rect">
            <a:avLst/>
          </a:prstGeom>
          <a:solidFill>
            <a:srgbClr val="FFCD41"/>
          </a:solidFill>
          <a:ln w="9525">
            <a:solidFill>
              <a:srgbClr val="FFCD41"/>
            </a:solidFill>
            <a:prstDash val="solid"/>
          </a:ln>
        </p:spPr>
      </p:sp>
      <p:sp>
        <p:nvSpPr>
          <p:cNvPr id="10" name="Rectangle 9">
            <a:extLst>
              <a:ext uri="{FF2B5EF4-FFF2-40B4-BE49-F238E27FC236}">
                <a16:creationId xmlns:a16="http://schemas.microsoft.com/office/drawing/2014/main" id="{B92875C4-16EA-4BD9-BDEA-A0BDBC8E5888}"/>
              </a:ext>
            </a:extLst>
          </p:cNvPr>
          <p:cNvSpPr>
            <a:spLocks noGrp="1"/>
          </p:cNvSpPr>
          <p:nvPr/>
        </p:nvSpPr>
        <p:spPr>
          <a:xfrm>
            <a:off x="876300" y="1819275"/>
            <a:ext cx="4286250" cy="228600"/>
          </a:xfrm>
          <a:prstGeom prst="rect">
            <a:avLst/>
          </a:prstGeom>
          <a:noFill/>
          <a:ln w="0">
            <a:noFill/>
            <a:prstDash val="solid"/>
          </a:ln>
        </p:spPr>
        <p:txBody>
          <a:bodyPr lIns="0" tIns="0" rIns="0" bIns="0" anchor="t">
            <a:noAutofit/>
          </a:bodyPr>
          <a:lstStyle/>
          <a:p>
            <a:pPr algn="l">
              <a:lnSpc>
                <a:spcPct val="100000"/>
              </a:lnSpc>
              <a:buNone/>
              <a:defRPr sz="1200" b="1">
                <a:solidFill>
                  <a:srgbClr val="8A5A00"/>
                </a:solidFill>
                <a:latin typeface="Aptos"/>
                <a:ea typeface="Aptos"/>
                <a:cs typeface="Aptos"/>
              </a:defRPr>
            </a:pPr>
            <a:r>
              <a:rPr sz="1200" b="1">
                <a:solidFill>
                  <a:srgbClr val="8A5A00"/>
                </a:solidFill>
                <a:latin typeface="Aptos"/>
                <a:ea typeface="Aptos"/>
                <a:cs typeface="Aptos"/>
              </a:rPr>
              <a:t>PRELIMINARY / FLASH</a:t>
            </a:r>
          </a:p>
        </p:txBody>
      </p:sp>
      <p:sp>
        <p:nvSpPr>
          <p:cNvPr id="11" name="Rectangle 10">
            <a:extLst>
              <a:ext uri="{FF2B5EF4-FFF2-40B4-BE49-F238E27FC236}">
                <a16:creationId xmlns:a16="http://schemas.microsoft.com/office/drawing/2014/main" id="{5B678E33-21AA-4065-8D10-EB5E5BF11884}"/>
              </a:ext>
            </a:extLst>
          </p:cNvPr>
          <p:cNvSpPr>
            <a:spLocks noGrp="1"/>
          </p:cNvSpPr>
          <p:nvPr/>
        </p:nvSpPr>
        <p:spPr>
          <a:xfrm>
            <a:off x="876300" y="2181225"/>
            <a:ext cx="4286250" cy="342900"/>
          </a:xfrm>
          <a:prstGeom prst="rect">
            <a:avLst/>
          </a:prstGeom>
          <a:noFill/>
          <a:ln w="0">
            <a:noFill/>
            <a:prstDash val="solid"/>
          </a:ln>
        </p:spPr>
        <p:txBody>
          <a:bodyPr lIns="0" tIns="0" rIns="0" bIns="0" anchor="t">
            <a:noAutofit/>
          </a:bodyPr>
          <a:lstStyle/>
          <a:p>
            <a:pPr algn="l">
              <a:lnSpc>
                <a:spcPct val="100000"/>
              </a:lnSpc>
              <a:buNone/>
              <a:defRPr sz="2025" b="1">
                <a:solidFill>
                  <a:srgbClr val="20252B"/>
                </a:solidFill>
                <a:latin typeface="Aptos"/>
                <a:ea typeface="Aptos"/>
                <a:cs typeface="Aptos"/>
              </a:defRPr>
            </a:pPr>
            <a:r>
              <a:rPr sz="2025" b="1">
                <a:solidFill>
                  <a:srgbClr val="20252B"/>
                </a:solidFill>
                <a:latin typeface="Aptos"/>
                <a:ea typeface="Aptos"/>
                <a:cs typeface="Aptos"/>
              </a:rPr>
              <a:t>Early same-day investigation</a:t>
            </a:r>
          </a:p>
        </p:txBody>
      </p:sp>
      <p:sp>
        <p:nvSpPr>
          <p:cNvPr id="12" name="Oval 11">
            <a:extLst>
              <a:ext uri="{FF2B5EF4-FFF2-40B4-BE49-F238E27FC236}">
                <a16:creationId xmlns:a16="http://schemas.microsoft.com/office/drawing/2014/main" id="{275BC500-3A2B-409B-AB3A-3B981738330F}"/>
              </a:ext>
            </a:extLst>
          </p:cNvPr>
          <p:cNvSpPr>
            <a:spLocks noGrp="1"/>
          </p:cNvSpPr>
          <p:nvPr/>
        </p:nvSpPr>
        <p:spPr>
          <a:xfrm>
            <a:off x="876300" y="2800350"/>
            <a:ext cx="304800" cy="304800"/>
          </a:xfrm>
          <a:prstGeom prst="ellipse">
            <a:avLst/>
          </a:prstGeom>
          <a:solidFill>
            <a:srgbClr val="8A5A00"/>
          </a:solidFill>
          <a:ln w="9525">
            <a:solidFill>
              <a:srgbClr val="8A5A00"/>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3" name="Rectangle 12">
            <a:extLst>
              <a:ext uri="{FF2B5EF4-FFF2-40B4-BE49-F238E27FC236}">
                <a16:creationId xmlns:a16="http://schemas.microsoft.com/office/drawing/2014/main" id="{13F87C1E-0938-48EA-9792-D4794BE763FA}"/>
              </a:ext>
            </a:extLst>
          </p:cNvPr>
          <p:cNvSpPr>
            <a:spLocks noGrp="1"/>
          </p:cNvSpPr>
          <p:nvPr/>
        </p:nvSpPr>
        <p:spPr>
          <a:xfrm>
            <a:off x="1314450" y="2838450"/>
            <a:ext cx="3886200" cy="228600"/>
          </a:xfrm>
          <a:prstGeom prst="rect">
            <a:avLst/>
          </a:prstGeom>
          <a:noFill/>
          <a:ln w="0">
            <a:noFill/>
            <a:prstDash val="solid"/>
          </a:ln>
        </p:spPr>
        <p:txBody>
          <a:bodyPr lIns="0" tIns="0" rIns="0" bIns="0" anchor="t">
            <a:noAutofit/>
          </a:bodyPr>
          <a:lstStyle/>
          <a:p>
            <a:pPr algn="l">
              <a:lnSpc>
                <a:spcPct val="100000"/>
              </a:lnSpc>
              <a:buNone/>
              <a:defRPr sz="1275" b="0">
                <a:solidFill>
                  <a:srgbClr val="3F4953"/>
                </a:solidFill>
                <a:latin typeface="Aptos"/>
                <a:ea typeface="Aptos"/>
                <a:cs typeface="Aptos"/>
              </a:defRPr>
            </a:pPr>
            <a:r>
              <a:rPr sz="1275" b="0">
                <a:solidFill>
                  <a:srgbClr val="3F4953"/>
                </a:solidFill>
                <a:latin typeface="Aptos"/>
                <a:ea typeface="Aptos"/>
                <a:cs typeface="Aptos"/>
              </a:rPr>
              <a:t>Use the early P&amp;L view during the trading day</a:t>
            </a:r>
          </a:p>
        </p:txBody>
      </p:sp>
      <p:sp>
        <p:nvSpPr>
          <p:cNvPr id="14" name="Oval 13">
            <a:extLst>
              <a:ext uri="{FF2B5EF4-FFF2-40B4-BE49-F238E27FC236}">
                <a16:creationId xmlns:a16="http://schemas.microsoft.com/office/drawing/2014/main" id="{CD4E91A1-CBBE-41BB-BB6A-F22D6E5C1640}"/>
              </a:ext>
            </a:extLst>
          </p:cNvPr>
          <p:cNvSpPr>
            <a:spLocks noGrp="1"/>
          </p:cNvSpPr>
          <p:nvPr/>
        </p:nvSpPr>
        <p:spPr>
          <a:xfrm>
            <a:off x="876300" y="3295650"/>
            <a:ext cx="304800" cy="304800"/>
          </a:xfrm>
          <a:prstGeom prst="ellipse">
            <a:avLst/>
          </a:prstGeom>
          <a:solidFill>
            <a:srgbClr val="8A5A00"/>
          </a:solidFill>
          <a:ln w="9525">
            <a:solidFill>
              <a:srgbClr val="8A5A00"/>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5" name="Rectangle 14">
            <a:extLst>
              <a:ext uri="{FF2B5EF4-FFF2-40B4-BE49-F238E27FC236}">
                <a16:creationId xmlns:a16="http://schemas.microsoft.com/office/drawing/2014/main" id="{F7EC4BFE-F8AD-47FA-9FC8-07D340220570}"/>
              </a:ext>
            </a:extLst>
          </p:cNvPr>
          <p:cNvSpPr>
            <a:spLocks noGrp="1"/>
          </p:cNvSpPr>
          <p:nvPr/>
        </p:nvSpPr>
        <p:spPr>
          <a:xfrm>
            <a:off x="1314450" y="3333750"/>
            <a:ext cx="3886200" cy="228600"/>
          </a:xfrm>
          <a:prstGeom prst="rect">
            <a:avLst/>
          </a:prstGeom>
          <a:noFill/>
          <a:ln w="0">
            <a:noFill/>
            <a:prstDash val="solid"/>
          </a:ln>
        </p:spPr>
        <p:txBody>
          <a:bodyPr lIns="0" tIns="0" rIns="0" bIns="0" anchor="t">
            <a:noAutofit/>
          </a:bodyPr>
          <a:lstStyle/>
          <a:p>
            <a:pPr algn="l">
              <a:lnSpc>
                <a:spcPct val="100000"/>
              </a:lnSpc>
              <a:buNone/>
              <a:defRPr sz="1275" b="0">
                <a:solidFill>
                  <a:srgbClr val="3F4953"/>
                </a:solidFill>
                <a:latin typeface="Aptos"/>
                <a:ea typeface="Aptos"/>
                <a:cs typeface="Aptos"/>
              </a:defRPr>
            </a:pPr>
            <a:r>
              <a:rPr sz="1275" b="0">
                <a:solidFill>
                  <a:srgbClr val="3F4953"/>
                </a:solidFill>
                <a:latin typeface="Aptos"/>
                <a:ea typeface="Aptos"/>
                <a:cs typeface="Aptos"/>
              </a:rPr>
              <a:t>fopla: begin with a book-level explanation</a:t>
            </a:r>
          </a:p>
        </p:txBody>
      </p:sp>
      <p:sp>
        <p:nvSpPr>
          <p:cNvPr id="16" name="Oval 15">
            <a:extLst>
              <a:ext uri="{FF2B5EF4-FFF2-40B4-BE49-F238E27FC236}">
                <a16:creationId xmlns:a16="http://schemas.microsoft.com/office/drawing/2014/main" id="{12AC736E-A19D-49A7-AED0-8DC988C8332E}"/>
              </a:ext>
            </a:extLst>
          </p:cNvPr>
          <p:cNvSpPr>
            <a:spLocks noGrp="1"/>
          </p:cNvSpPr>
          <p:nvPr/>
        </p:nvSpPr>
        <p:spPr>
          <a:xfrm>
            <a:off x="876300" y="3790950"/>
            <a:ext cx="304800" cy="304800"/>
          </a:xfrm>
          <a:prstGeom prst="ellipse">
            <a:avLst/>
          </a:prstGeom>
          <a:solidFill>
            <a:srgbClr val="8A5A00"/>
          </a:solidFill>
          <a:ln w="9525">
            <a:solidFill>
              <a:srgbClr val="8A5A00"/>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7" name="Rectangle 16">
            <a:extLst>
              <a:ext uri="{FF2B5EF4-FFF2-40B4-BE49-F238E27FC236}">
                <a16:creationId xmlns:a16="http://schemas.microsoft.com/office/drawing/2014/main" id="{9CEA3C90-A54C-41DF-AC3A-A52F46E92B90}"/>
              </a:ext>
            </a:extLst>
          </p:cNvPr>
          <p:cNvSpPr>
            <a:spLocks noGrp="1"/>
          </p:cNvSpPr>
          <p:nvPr/>
        </p:nvSpPr>
        <p:spPr>
          <a:xfrm>
            <a:off x="1314450" y="3829050"/>
            <a:ext cx="3886200" cy="228600"/>
          </a:xfrm>
          <a:prstGeom prst="rect">
            <a:avLst/>
          </a:prstGeom>
          <a:noFill/>
          <a:ln w="0">
            <a:noFill/>
            <a:prstDash val="solid"/>
          </a:ln>
        </p:spPr>
        <p:txBody>
          <a:bodyPr lIns="0" tIns="0" rIns="0" bIns="0" anchor="t">
            <a:noAutofit/>
          </a:bodyPr>
          <a:lstStyle/>
          <a:p>
            <a:pPr algn="l">
              <a:lnSpc>
                <a:spcPct val="100000"/>
              </a:lnSpc>
              <a:buNone/>
              <a:defRPr sz="1275" b="0">
                <a:solidFill>
                  <a:srgbClr val="3F4953"/>
                </a:solidFill>
                <a:latin typeface="Aptos"/>
                <a:ea typeface="Aptos"/>
                <a:cs typeface="Aptos"/>
              </a:defRPr>
            </a:pPr>
            <a:r>
              <a:rPr sz="1275" b="0">
                <a:solidFill>
                  <a:srgbClr val="3F4953"/>
                </a:solidFill>
                <a:latin typeface="Aptos"/>
                <a:ea typeface="Aptos"/>
                <a:cs typeface="Aptos"/>
              </a:rPr>
              <a:t>trade_explain: drill into individual trades</a:t>
            </a:r>
          </a:p>
        </p:txBody>
      </p:sp>
      <p:sp>
        <p:nvSpPr>
          <p:cNvPr id="18" name="Oval 17">
            <a:extLst>
              <a:ext uri="{FF2B5EF4-FFF2-40B4-BE49-F238E27FC236}">
                <a16:creationId xmlns:a16="http://schemas.microsoft.com/office/drawing/2014/main" id="{21E6BB3D-416C-446D-97D3-6BC9C500AADC}"/>
              </a:ext>
            </a:extLst>
          </p:cNvPr>
          <p:cNvSpPr>
            <a:spLocks noGrp="1"/>
          </p:cNvSpPr>
          <p:nvPr/>
        </p:nvSpPr>
        <p:spPr>
          <a:xfrm>
            <a:off x="876300" y="4286250"/>
            <a:ext cx="304800" cy="304800"/>
          </a:xfrm>
          <a:prstGeom prst="ellipse">
            <a:avLst/>
          </a:prstGeom>
          <a:solidFill>
            <a:srgbClr val="8A5A00"/>
          </a:solidFill>
          <a:ln w="9525">
            <a:solidFill>
              <a:srgbClr val="8A5A00"/>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19" name="Rectangle 18">
            <a:extLst>
              <a:ext uri="{FF2B5EF4-FFF2-40B4-BE49-F238E27FC236}">
                <a16:creationId xmlns:a16="http://schemas.microsoft.com/office/drawing/2014/main" id="{700FA664-2E55-4840-954C-BCCDA6EF614C}"/>
              </a:ext>
            </a:extLst>
          </p:cNvPr>
          <p:cNvSpPr>
            <a:spLocks noGrp="1"/>
          </p:cNvSpPr>
          <p:nvPr/>
        </p:nvSpPr>
        <p:spPr>
          <a:xfrm>
            <a:off x="1314450" y="4286250"/>
            <a:ext cx="3886200" cy="400050"/>
          </a:xfrm>
          <a:prstGeom prst="rect">
            <a:avLst/>
          </a:prstGeom>
          <a:noFill/>
          <a:ln w="0">
            <a:noFill/>
            <a:prstDash val="solid"/>
          </a:ln>
        </p:spPr>
        <p:txBody>
          <a:bodyPr lIns="0" tIns="0" rIns="0" bIns="0" anchor="t">
            <a:noAutofit/>
          </a:bodyPr>
          <a:lstStyle/>
          <a:p>
            <a:pPr algn="l">
              <a:lnSpc>
                <a:spcPct val="104000"/>
              </a:lnSpc>
              <a:buNone/>
              <a:defRPr sz="1275" b="0">
                <a:solidFill>
                  <a:srgbClr val="3F4953"/>
                </a:solidFill>
                <a:latin typeface="Aptos"/>
                <a:ea typeface="Aptos"/>
                <a:cs typeface="Aptos"/>
              </a:defRPr>
            </a:pPr>
            <a:r>
              <a:rPr sz="1275" b="0">
                <a:solidFill>
                  <a:srgbClr val="3F4953"/>
                </a:solidFill>
                <a:latin typeface="Aptos"/>
                <a:ea typeface="Aptos"/>
                <a:cs typeface="Aptos"/>
              </a:rPr>
              <a:t>Use it to narrow where today’s movement came from</a:t>
            </a:r>
          </a:p>
        </p:txBody>
      </p:sp>
      <p:sp>
        <p:nvSpPr>
          <p:cNvPr id="20" name="Rectangle: Rounded Corners 19">
            <a:extLst>
              <a:ext uri="{FF2B5EF4-FFF2-40B4-BE49-F238E27FC236}">
                <a16:creationId xmlns:a16="http://schemas.microsoft.com/office/drawing/2014/main" id="{A298AB48-12BE-4ACE-8760-78D06288422C}"/>
              </a:ext>
            </a:extLst>
          </p:cNvPr>
          <p:cNvSpPr>
            <a:spLocks noGrp="1"/>
          </p:cNvSpPr>
          <p:nvPr/>
        </p:nvSpPr>
        <p:spPr>
          <a:xfrm>
            <a:off x="5962650" y="1581150"/>
            <a:ext cx="5314950" cy="3762375"/>
          </a:xfrm>
          <a:prstGeom prst="roundRect">
            <a:avLst>
              <a:gd name="adj" fmla="val 4557"/>
            </a:avLst>
          </a:prstGeom>
          <a:solidFill>
            <a:srgbClr val="FFFFFF"/>
          </a:solidFill>
          <a:ln w="9525">
            <a:solidFill>
              <a:srgbClr val="D7DCE2"/>
            </a:solidFill>
            <a:prstDash val="solid"/>
          </a:ln>
        </p:spPr>
      </p:sp>
      <p:sp>
        <p:nvSpPr>
          <p:cNvPr id="21" name="Rectangle 20">
            <a:extLst>
              <a:ext uri="{FF2B5EF4-FFF2-40B4-BE49-F238E27FC236}">
                <a16:creationId xmlns:a16="http://schemas.microsoft.com/office/drawing/2014/main" id="{E19EB36D-91A5-4539-BAB2-8D6EC55F037D}"/>
              </a:ext>
            </a:extLst>
          </p:cNvPr>
          <p:cNvSpPr>
            <a:spLocks noGrp="1"/>
          </p:cNvSpPr>
          <p:nvPr/>
        </p:nvSpPr>
        <p:spPr>
          <a:xfrm>
            <a:off x="5962650" y="1752600"/>
            <a:ext cx="66675" cy="3419475"/>
          </a:xfrm>
          <a:prstGeom prst="rect">
            <a:avLst/>
          </a:prstGeom>
          <a:solidFill>
            <a:srgbClr val="D71E28"/>
          </a:solidFill>
          <a:ln w="9525">
            <a:solidFill>
              <a:srgbClr val="D71E28"/>
            </a:solidFill>
            <a:prstDash val="solid"/>
          </a:ln>
        </p:spPr>
      </p:sp>
      <p:sp>
        <p:nvSpPr>
          <p:cNvPr id="22" name="Rectangle 21">
            <a:extLst>
              <a:ext uri="{FF2B5EF4-FFF2-40B4-BE49-F238E27FC236}">
                <a16:creationId xmlns:a16="http://schemas.microsoft.com/office/drawing/2014/main" id="{8B5AD054-9691-4510-B597-316711FF9FCC}"/>
              </a:ext>
            </a:extLst>
          </p:cNvPr>
          <p:cNvSpPr>
            <a:spLocks noGrp="1"/>
          </p:cNvSpPr>
          <p:nvPr/>
        </p:nvSpPr>
        <p:spPr>
          <a:xfrm>
            <a:off x="6248400" y="1819275"/>
            <a:ext cx="457200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a:ea typeface="Aptos"/>
                <a:cs typeface="Aptos"/>
              </a:defRPr>
            </a:pPr>
            <a:r>
              <a:rPr sz="1200" b="1">
                <a:solidFill>
                  <a:srgbClr val="971B2F"/>
                </a:solidFill>
                <a:latin typeface="Aptos"/>
                <a:ea typeface="Aptos"/>
                <a:cs typeface="Aptos"/>
              </a:rPr>
              <a:t>OFFICIAL / END OF DAY</a:t>
            </a:r>
          </a:p>
        </p:txBody>
      </p:sp>
      <p:sp>
        <p:nvSpPr>
          <p:cNvPr id="23" name="Rectangle 22">
            <a:extLst>
              <a:ext uri="{FF2B5EF4-FFF2-40B4-BE49-F238E27FC236}">
                <a16:creationId xmlns:a16="http://schemas.microsoft.com/office/drawing/2014/main" id="{B7E92EBC-ACA1-4356-9E23-62B5DB3C2674}"/>
              </a:ext>
            </a:extLst>
          </p:cNvPr>
          <p:cNvSpPr>
            <a:spLocks noGrp="1"/>
          </p:cNvSpPr>
          <p:nvPr/>
        </p:nvSpPr>
        <p:spPr>
          <a:xfrm>
            <a:off x="6248400" y="2181225"/>
            <a:ext cx="4572000" cy="342900"/>
          </a:xfrm>
          <a:prstGeom prst="rect">
            <a:avLst/>
          </a:prstGeom>
          <a:noFill/>
          <a:ln w="0">
            <a:noFill/>
            <a:prstDash val="solid"/>
          </a:ln>
        </p:spPr>
        <p:txBody>
          <a:bodyPr lIns="0" tIns="0" rIns="0" bIns="0" anchor="t">
            <a:noAutofit/>
          </a:bodyPr>
          <a:lstStyle/>
          <a:p>
            <a:pPr algn="l">
              <a:lnSpc>
                <a:spcPct val="100000"/>
              </a:lnSpc>
              <a:buNone/>
              <a:defRPr sz="2025" b="1">
                <a:solidFill>
                  <a:srgbClr val="20252B"/>
                </a:solidFill>
                <a:latin typeface="Aptos"/>
                <a:ea typeface="Aptos"/>
                <a:cs typeface="Aptos"/>
              </a:defRPr>
            </a:pPr>
            <a:r>
              <a:rPr sz="2025" b="1">
                <a:solidFill>
                  <a:srgbClr val="20252B"/>
                </a:solidFill>
                <a:latin typeface="Aptos"/>
                <a:ea typeface="Aptos"/>
                <a:cs typeface="Aptos"/>
              </a:rPr>
              <a:t>End-of-day explanation</a:t>
            </a:r>
          </a:p>
        </p:txBody>
      </p:sp>
      <p:sp>
        <p:nvSpPr>
          <p:cNvPr id="24" name="Oval 23">
            <a:extLst>
              <a:ext uri="{FF2B5EF4-FFF2-40B4-BE49-F238E27FC236}">
                <a16:creationId xmlns:a16="http://schemas.microsoft.com/office/drawing/2014/main" id="{0A874B36-8BF5-475D-80CF-19054A04CA5A}"/>
              </a:ext>
            </a:extLst>
          </p:cNvPr>
          <p:cNvSpPr>
            <a:spLocks noGrp="1"/>
          </p:cNvSpPr>
          <p:nvPr/>
        </p:nvSpPr>
        <p:spPr>
          <a:xfrm>
            <a:off x="6248400" y="2800350"/>
            <a:ext cx="304800" cy="3048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25" name="Rectangle 24">
            <a:extLst>
              <a:ext uri="{FF2B5EF4-FFF2-40B4-BE49-F238E27FC236}">
                <a16:creationId xmlns:a16="http://schemas.microsoft.com/office/drawing/2014/main" id="{6087C115-AD1C-4CC0-B216-8B365756367C}"/>
              </a:ext>
            </a:extLst>
          </p:cNvPr>
          <p:cNvSpPr>
            <a:spLocks noGrp="1"/>
          </p:cNvSpPr>
          <p:nvPr/>
        </p:nvSpPr>
        <p:spPr>
          <a:xfrm>
            <a:off x="6686550" y="2838450"/>
            <a:ext cx="4114800" cy="228600"/>
          </a:xfrm>
          <a:prstGeom prst="rect">
            <a:avLst/>
          </a:prstGeom>
          <a:noFill/>
          <a:ln w="0">
            <a:noFill/>
            <a:prstDash val="solid"/>
          </a:ln>
        </p:spPr>
        <p:txBody>
          <a:bodyPr lIns="0" tIns="0" rIns="0" bIns="0" anchor="t">
            <a:noAutofit/>
          </a:bodyPr>
          <a:lstStyle/>
          <a:p>
            <a:pPr algn="l">
              <a:lnSpc>
                <a:spcPct val="100000"/>
              </a:lnSpc>
              <a:buNone/>
              <a:defRPr sz="1275" b="0">
                <a:solidFill>
                  <a:srgbClr val="3F4953"/>
                </a:solidFill>
                <a:latin typeface="Aptos"/>
                <a:ea typeface="Aptos"/>
                <a:cs typeface="Aptos"/>
              </a:defRPr>
            </a:pPr>
            <a:r>
              <a:rPr sz="1275" b="0">
                <a:solidFill>
                  <a:srgbClr val="3F4953"/>
                </a:solidFill>
                <a:latin typeface="Aptos"/>
                <a:ea typeface="Aptos"/>
                <a:cs typeface="Aptos"/>
              </a:rPr>
              <a:t>Use the official end-of-day P&amp;L explanation</a:t>
            </a:r>
          </a:p>
        </p:txBody>
      </p:sp>
      <p:sp>
        <p:nvSpPr>
          <p:cNvPr id="26" name="Oval 25">
            <a:extLst>
              <a:ext uri="{FF2B5EF4-FFF2-40B4-BE49-F238E27FC236}">
                <a16:creationId xmlns:a16="http://schemas.microsoft.com/office/drawing/2014/main" id="{51927D82-1CF7-4F18-A834-1B6310F5679C}"/>
              </a:ext>
            </a:extLst>
          </p:cNvPr>
          <p:cNvSpPr>
            <a:spLocks noGrp="1"/>
          </p:cNvSpPr>
          <p:nvPr/>
        </p:nvSpPr>
        <p:spPr>
          <a:xfrm>
            <a:off x="6248400" y="3295650"/>
            <a:ext cx="304800" cy="3048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27" name="Rectangle 26">
            <a:extLst>
              <a:ext uri="{FF2B5EF4-FFF2-40B4-BE49-F238E27FC236}">
                <a16:creationId xmlns:a16="http://schemas.microsoft.com/office/drawing/2014/main" id="{C67815F5-51FD-4597-82C5-70493574E70F}"/>
              </a:ext>
            </a:extLst>
          </p:cNvPr>
          <p:cNvSpPr>
            <a:spLocks noGrp="1"/>
          </p:cNvSpPr>
          <p:nvPr/>
        </p:nvSpPr>
        <p:spPr>
          <a:xfrm>
            <a:off x="6686550" y="3295650"/>
            <a:ext cx="4114800" cy="38100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kessel: trade-level bump-and-reset attribution</a:t>
            </a:r>
          </a:p>
        </p:txBody>
      </p:sp>
      <p:sp>
        <p:nvSpPr>
          <p:cNvPr id="28" name="Oval 27">
            <a:extLst>
              <a:ext uri="{FF2B5EF4-FFF2-40B4-BE49-F238E27FC236}">
                <a16:creationId xmlns:a16="http://schemas.microsoft.com/office/drawing/2014/main" id="{2091D42D-3F8D-4048-9121-4296322BD934}"/>
              </a:ext>
            </a:extLst>
          </p:cNvPr>
          <p:cNvSpPr>
            <a:spLocks noGrp="1"/>
          </p:cNvSpPr>
          <p:nvPr/>
        </p:nvSpPr>
        <p:spPr>
          <a:xfrm>
            <a:off x="6248400" y="3857625"/>
            <a:ext cx="304800" cy="3048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9" name="Rectangle 28">
            <a:extLst>
              <a:ext uri="{FF2B5EF4-FFF2-40B4-BE49-F238E27FC236}">
                <a16:creationId xmlns:a16="http://schemas.microsoft.com/office/drawing/2014/main" id="{4A678000-7845-4B39-9715-9F73220A3DB5}"/>
              </a:ext>
            </a:extLst>
          </p:cNvPr>
          <p:cNvSpPr>
            <a:spLocks noGrp="1"/>
          </p:cNvSpPr>
          <p:nvPr/>
        </p:nvSpPr>
        <p:spPr>
          <a:xfrm>
            <a:off x="6686550" y="3819525"/>
            <a:ext cx="4114800" cy="419100"/>
          </a:xfrm>
          <a:prstGeom prst="rect">
            <a:avLst/>
          </a:prstGeom>
          <a:noFill/>
          <a:ln w="0">
            <a:noFill/>
            <a:prstDash val="solid"/>
          </a:ln>
        </p:spPr>
        <p:txBody>
          <a:bodyPr lIns="0" tIns="0" rIns="0" bIns="0" anchor="t">
            <a:noAutofit/>
          </a:bodyPr>
          <a:lstStyle/>
          <a:p>
            <a:pPr algn="l">
              <a:lnSpc>
                <a:spcPct val="102000"/>
              </a:lnSpc>
              <a:buNone/>
              <a:defRPr sz="1275" b="0">
                <a:solidFill>
                  <a:srgbClr val="3F4953"/>
                </a:solidFill>
                <a:latin typeface="Aptos"/>
                <a:ea typeface="Aptos"/>
                <a:cs typeface="Aptos"/>
              </a:defRPr>
            </a:pPr>
            <a:r>
              <a:rPr sz="1275" b="0">
                <a:solidFill>
                  <a:srgbClr val="3F4953"/>
                </a:solidFill>
                <a:latin typeface="Aptos"/>
                <a:ea typeface="Aptos"/>
                <a:cs typeface="Aptos"/>
              </a:rPr>
              <a:t>pnl_explained: trade-level Greek-based attribution</a:t>
            </a:r>
          </a:p>
        </p:txBody>
      </p:sp>
      <p:sp>
        <p:nvSpPr>
          <p:cNvPr id="30" name="Oval 29">
            <a:extLst>
              <a:ext uri="{FF2B5EF4-FFF2-40B4-BE49-F238E27FC236}">
                <a16:creationId xmlns:a16="http://schemas.microsoft.com/office/drawing/2014/main" id="{48B2382B-18D6-429B-9585-FABDD42FAAC8}"/>
              </a:ext>
            </a:extLst>
          </p:cNvPr>
          <p:cNvSpPr>
            <a:spLocks noGrp="1"/>
          </p:cNvSpPr>
          <p:nvPr/>
        </p:nvSpPr>
        <p:spPr>
          <a:xfrm>
            <a:off x="6248400" y="4438650"/>
            <a:ext cx="304800" cy="3048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31" name="Rectangle 30">
            <a:extLst>
              <a:ext uri="{FF2B5EF4-FFF2-40B4-BE49-F238E27FC236}">
                <a16:creationId xmlns:a16="http://schemas.microsoft.com/office/drawing/2014/main" id="{F8D840B9-6A8A-45C6-9A8A-F7892215B1F3}"/>
              </a:ext>
            </a:extLst>
          </p:cNvPr>
          <p:cNvSpPr>
            <a:spLocks noGrp="1"/>
          </p:cNvSpPr>
          <p:nvPr/>
        </p:nvSpPr>
        <p:spPr>
          <a:xfrm>
            <a:off x="6686550" y="4476750"/>
            <a:ext cx="4114800" cy="228600"/>
          </a:xfrm>
          <a:prstGeom prst="rect">
            <a:avLst/>
          </a:prstGeom>
          <a:noFill/>
          <a:ln w="0">
            <a:noFill/>
            <a:prstDash val="solid"/>
          </a:ln>
        </p:spPr>
        <p:txBody>
          <a:bodyPr lIns="0" tIns="0" rIns="0" bIns="0" anchor="t">
            <a:noAutofit/>
          </a:bodyPr>
          <a:lstStyle/>
          <a:p>
            <a:pPr algn="l">
              <a:lnSpc>
                <a:spcPct val="100000"/>
              </a:lnSpc>
              <a:buNone/>
              <a:defRPr sz="1275" b="0">
                <a:solidFill>
                  <a:srgbClr val="3F4953"/>
                </a:solidFill>
                <a:latin typeface="Aptos"/>
                <a:ea typeface="Aptos"/>
                <a:cs typeface="Aptos"/>
              </a:defRPr>
            </a:pPr>
            <a:r>
              <a:rPr sz="1275" b="0">
                <a:solidFill>
                  <a:srgbClr val="3F4953"/>
                </a:solidFill>
                <a:latin typeface="Aptos"/>
                <a:ea typeface="Aptos"/>
                <a:cs typeface="Aptos"/>
              </a:rPr>
              <a:t>Use it for official end-of-day analysis</a:t>
            </a:r>
          </a:p>
        </p:txBody>
      </p:sp>
      <p:sp>
        <p:nvSpPr>
          <p:cNvPr id="32" name="Rectangle: Rounded Corners 31">
            <a:extLst>
              <a:ext uri="{FF2B5EF4-FFF2-40B4-BE49-F238E27FC236}">
                <a16:creationId xmlns:a16="http://schemas.microsoft.com/office/drawing/2014/main" id="{2A0FDC91-7021-4DB4-8E9A-FFBBAD87AAE9}"/>
              </a:ext>
            </a:extLst>
          </p:cNvPr>
          <p:cNvSpPr>
            <a:spLocks noGrp="1"/>
          </p:cNvSpPr>
          <p:nvPr/>
        </p:nvSpPr>
        <p:spPr>
          <a:xfrm>
            <a:off x="609600" y="5619750"/>
            <a:ext cx="10668000" cy="533400"/>
          </a:xfrm>
          <a:prstGeom prst="roundRect">
            <a:avLst>
              <a:gd name="adj" fmla="val 17857"/>
            </a:avLst>
          </a:prstGeom>
          <a:solidFill>
            <a:schemeClr val="accent6">
              <a:lumMod val="50000"/>
            </a:schemeClr>
          </a:solidFill>
          <a:ln w="9525">
            <a:solidFill>
              <a:srgbClr val="20252B"/>
            </a:solidFill>
            <a:prstDash val="solid"/>
          </a:ln>
        </p:spPr>
      </p:sp>
      <p:sp>
        <p:nvSpPr>
          <p:cNvPr id="33" name="Rectangle 32">
            <a:extLst>
              <a:ext uri="{FF2B5EF4-FFF2-40B4-BE49-F238E27FC236}">
                <a16:creationId xmlns:a16="http://schemas.microsoft.com/office/drawing/2014/main" id="{35FA7DE3-A926-42B4-B99F-3094A3DEFD5E}"/>
              </a:ext>
            </a:extLst>
          </p:cNvPr>
          <p:cNvSpPr>
            <a:spLocks noGrp="1"/>
          </p:cNvSpPr>
          <p:nvPr/>
        </p:nvSpPr>
        <p:spPr>
          <a:xfrm>
            <a:off x="838200" y="5791200"/>
            <a:ext cx="10210800" cy="209550"/>
          </a:xfrm>
          <a:prstGeom prst="rect">
            <a:avLst/>
          </a:prstGeom>
          <a:noFill/>
          <a:ln w="0">
            <a:noFill/>
            <a:prstDash val="solid"/>
          </a:ln>
        </p:spPr>
        <p:txBody>
          <a:bodyPr lIns="0" tIns="0" rIns="0" bIns="0" anchor="t">
            <a:noAutofit/>
          </a:bodyPr>
          <a:lstStyle/>
          <a:p>
            <a:pPr algn="ctr">
              <a:lnSpc>
                <a:spcPct val="100000"/>
              </a:lnSpc>
              <a:buNone/>
              <a:defRPr sz="1200" b="1">
                <a:solidFill>
                  <a:srgbClr val="FFFFFF"/>
                </a:solidFill>
                <a:latin typeface="Aptos"/>
                <a:ea typeface="Aptos"/>
                <a:cs typeface="Aptos"/>
              </a:defRPr>
            </a:pPr>
            <a:r>
              <a:rPr sz="1200" b="1">
                <a:solidFill>
                  <a:srgbClr val="FFFFFF"/>
                </a:solidFill>
                <a:latin typeface="Aptos"/>
                <a:ea typeface="Aptos"/>
                <a:cs typeface="Aptos"/>
              </a:rPr>
              <a:t>P&amp;L = profit and loss  •  Book = group of trades  •  Attribution = breakdown of contributing drivers</a:t>
            </a:r>
          </a:p>
        </p:txBody>
      </p:sp>
    </p:spTree>
    <p:extLst>
      <p:ext uri="{BB962C8B-B14F-4D97-AF65-F5344CB8AC3E}">
        <p14:creationId xmlns:p14="http://schemas.microsoft.com/office/powerpoint/2010/main" val="2035944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81F6D3E1-5D2D-46BC-BB7E-6091A7F8EB12}"/>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06E19675-EC16-4C65-87C7-9BABE2EBC226}"/>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RATIONALE</a:t>
            </a:r>
          </a:p>
        </p:txBody>
      </p:sp>
      <p:sp>
        <p:nvSpPr>
          <p:cNvPr id="3" name="Rectangle 2">
            <a:extLst>
              <a:ext uri="{FF2B5EF4-FFF2-40B4-BE49-F238E27FC236}">
                <a16:creationId xmlns:a16="http://schemas.microsoft.com/office/drawing/2014/main" id="{D225E649-0BE4-485A-B092-0F808CDDA984}"/>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Why we selected this technical approach</a:t>
            </a:r>
          </a:p>
        </p:txBody>
      </p:sp>
      <p:sp>
        <p:nvSpPr>
          <p:cNvPr id="4" name="Straight Connector 3">
            <a:extLst>
              <a:ext uri="{FF2B5EF4-FFF2-40B4-BE49-F238E27FC236}">
                <a16:creationId xmlns:a16="http://schemas.microsoft.com/office/drawing/2014/main" id="{D86DA488-289E-4C46-9A11-4F701E307C39}"/>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CF117322-4124-4A4E-B48A-3B3C4ACF51CC}"/>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23D856F3-6FB0-4B6B-90A2-4D9C83062A86}"/>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07</a:t>
            </a:r>
          </a:p>
        </p:txBody>
      </p:sp>
      <p:sp>
        <p:nvSpPr>
          <p:cNvPr id="7" name="Rectangle 6">
            <a:extLst>
              <a:ext uri="{FF2B5EF4-FFF2-40B4-BE49-F238E27FC236}">
                <a16:creationId xmlns:a16="http://schemas.microsoft.com/office/drawing/2014/main" id="{84CA12E6-299A-464D-B4F8-953205425954}"/>
              </a:ext>
            </a:extLst>
          </p:cNvPr>
          <p:cNvSpPr>
            <a:spLocks noGrp="1"/>
          </p:cNvSpPr>
          <p:nvPr/>
        </p:nvSpPr>
        <p:spPr>
          <a:xfrm>
            <a:off x="609600" y="1104900"/>
            <a:ext cx="1038225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Qualitative fit for this use case: flexible investigation, governed access, and a lightweight analytical stack.</a:t>
            </a:r>
          </a:p>
        </p:txBody>
      </p:sp>
      <p:sp>
        <p:nvSpPr>
          <p:cNvPr id="8" name="Rectangle 7">
            <a:extLst>
              <a:ext uri="{FF2B5EF4-FFF2-40B4-BE49-F238E27FC236}">
                <a16:creationId xmlns:a16="http://schemas.microsoft.com/office/drawing/2014/main" id="{E8DBC088-E0D2-4B88-8E75-2EBCBD82F072}"/>
              </a:ext>
            </a:extLst>
          </p:cNvPr>
          <p:cNvSpPr>
            <a:spLocks noGrp="1"/>
          </p:cNvSpPr>
          <p:nvPr/>
        </p:nvSpPr>
        <p:spPr>
          <a:xfrm>
            <a:off x="609600" y="1581150"/>
            <a:ext cx="2457450" cy="419100"/>
          </a:xfrm>
          <a:prstGeom prst="rect">
            <a:avLst/>
          </a:prstGeom>
          <a:solidFill>
            <a:schemeClr val="accent6">
              <a:lumMod val="50000"/>
            </a:schemeClr>
          </a:solidFill>
          <a:ln w="9525">
            <a:solidFill>
              <a:srgbClr val="20252B"/>
            </a:solidFill>
            <a:prstDash val="solid"/>
          </a:ln>
        </p:spPr>
      </p:sp>
      <p:sp>
        <p:nvSpPr>
          <p:cNvPr id="9" name="Rectangle 8">
            <a:extLst>
              <a:ext uri="{FF2B5EF4-FFF2-40B4-BE49-F238E27FC236}">
                <a16:creationId xmlns:a16="http://schemas.microsoft.com/office/drawing/2014/main" id="{A340022C-D326-468D-AC6D-B43DE50BDAB3}"/>
              </a:ext>
            </a:extLst>
          </p:cNvPr>
          <p:cNvSpPr>
            <a:spLocks noGrp="1"/>
          </p:cNvSpPr>
          <p:nvPr/>
        </p:nvSpPr>
        <p:spPr>
          <a:xfrm>
            <a:off x="742950" y="1704975"/>
            <a:ext cx="2190750" cy="171450"/>
          </a:xfrm>
          <a:prstGeom prst="rect">
            <a:avLst/>
          </a:prstGeom>
          <a:noFill/>
          <a:ln w="0">
            <a:noFill/>
            <a:prstDash val="solid"/>
          </a:ln>
        </p:spPr>
        <p:txBody>
          <a:bodyPr lIns="0" tIns="0" rIns="0" bIns="0" anchor="t">
            <a:noAutofit/>
          </a:bodyPr>
          <a:lstStyle/>
          <a:p>
            <a:pPr algn="l">
              <a:lnSpc>
                <a:spcPct val="100000"/>
              </a:lnSpc>
              <a:buNone/>
              <a:defRPr sz="975" b="1">
                <a:solidFill>
                  <a:srgbClr val="FFFFFF"/>
                </a:solidFill>
                <a:latin typeface="Aptos"/>
                <a:ea typeface="Aptos"/>
                <a:cs typeface="Aptos"/>
              </a:defRPr>
            </a:pPr>
            <a:r>
              <a:rPr sz="975" b="1">
                <a:solidFill>
                  <a:srgbClr val="FFFFFF"/>
                </a:solidFill>
                <a:latin typeface="Aptos"/>
                <a:ea typeface="Aptos"/>
                <a:cs typeface="Aptos"/>
              </a:rPr>
              <a:t>APPROACH</a:t>
            </a:r>
          </a:p>
        </p:txBody>
      </p:sp>
      <p:sp>
        <p:nvSpPr>
          <p:cNvPr id="10" name="Rectangle 9">
            <a:extLst>
              <a:ext uri="{FF2B5EF4-FFF2-40B4-BE49-F238E27FC236}">
                <a16:creationId xmlns:a16="http://schemas.microsoft.com/office/drawing/2014/main" id="{60CDB44B-430E-4929-85CE-4C0F2782370B}"/>
              </a:ext>
            </a:extLst>
          </p:cNvPr>
          <p:cNvSpPr>
            <a:spLocks noGrp="1"/>
          </p:cNvSpPr>
          <p:nvPr/>
        </p:nvSpPr>
        <p:spPr>
          <a:xfrm>
            <a:off x="3067050" y="1581150"/>
            <a:ext cx="3048000" cy="419100"/>
          </a:xfrm>
          <a:prstGeom prst="rect">
            <a:avLst/>
          </a:prstGeom>
          <a:solidFill>
            <a:schemeClr val="accent6">
              <a:lumMod val="50000"/>
            </a:schemeClr>
          </a:solidFill>
          <a:ln w="9525">
            <a:solidFill>
              <a:srgbClr val="20252B"/>
            </a:solidFill>
            <a:prstDash val="solid"/>
          </a:ln>
        </p:spPr>
      </p:sp>
      <p:sp>
        <p:nvSpPr>
          <p:cNvPr id="11" name="Rectangle 10">
            <a:extLst>
              <a:ext uri="{FF2B5EF4-FFF2-40B4-BE49-F238E27FC236}">
                <a16:creationId xmlns:a16="http://schemas.microsoft.com/office/drawing/2014/main" id="{342E8089-0848-4A02-B461-01109C947277}"/>
              </a:ext>
            </a:extLst>
          </p:cNvPr>
          <p:cNvSpPr>
            <a:spLocks noGrp="1"/>
          </p:cNvSpPr>
          <p:nvPr/>
        </p:nvSpPr>
        <p:spPr>
          <a:xfrm>
            <a:off x="3200400" y="1704975"/>
            <a:ext cx="2781300" cy="171450"/>
          </a:xfrm>
          <a:prstGeom prst="rect">
            <a:avLst/>
          </a:prstGeom>
          <a:noFill/>
          <a:ln w="0">
            <a:noFill/>
            <a:prstDash val="solid"/>
          </a:ln>
        </p:spPr>
        <p:txBody>
          <a:bodyPr lIns="0" tIns="0" rIns="0" bIns="0" anchor="t">
            <a:noAutofit/>
          </a:bodyPr>
          <a:lstStyle/>
          <a:p>
            <a:pPr algn="l">
              <a:lnSpc>
                <a:spcPct val="100000"/>
              </a:lnSpc>
              <a:buNone/>
              <a:defRPr sz="975" b="1">
                <a:solidFill>
                  <a:srgbClr val="FFFFFF"/>
                </a:solidFill>
                <a:latin typeface="Aptos"/>
                <a:ea typeface="Aptos"/>
                <a:cs typeface="Aptos"/>
              </a:defRPr>
            </a:pPr>
            <a:r>
              <a:rPr sz="975" b="1">
                <a:solidFill>
                  <a:srgbClr val="FFFFFF"/>
                </a:solidFill>
                <a:latin typeface="Aptos"/>
                <a:ea typeface="Aptos"/>
                <a:cs typeface="Aptos"/>
              </a:rPr>
              <a:t>WHAT IT DOES WELL</a:t>
            </a:r>
          </a:p>
        </p:txBody>
      </p:sp>
      <p:sp>
        <p:nvSpPr>
          <p:cNvPr id="12" name="Rectangle 11">
            <a:extLst>
              <a:ext uri="{FF2B5EF4-FFF2-40B4-BE49-F238E27FC236}">
                <a16:creationId xmlns:a16="http://schemas.microsoft.com/office/drawing/2014/main" id="{E2080224-27C8-4F84-9969-32C1A4677C7B}"/>
              </a:ext>
            </a:extLst>
          </p:cNvPr>
          <p:cNvSpPr>
            <a:spLocks noGrp="1"/>
          </p:cNvSpPr>
          <p:nvPr/>
        </p:nvSpPr>
        <p:spPr>
          <a:xfrm>
            <a:off x="6115050" y="1581150"/>
            <a:ext cx="3048000" cy="419100"/>
          </a:xfrm>
          <a:prstGeom prst="rect">
            <a:avLst/>
          </a:prstGeom>
          <a:solidFill>
            <a:schemeClr val="accent6">
              <a:lumMod val="50000"/>
            </a:schemeClr>
          </a:solidFill>
          <a:ln w="9525">
            <a:solidFill>
              <a:srgbClr val="20252B"/>
            </a:solidFill>
            <a:prstDash val="solid"/>
          </a:ln>
        </p:spPr>
      </p:sp>
      <p:sp>
        <p:nvSpPr>
          <p:cNvPr id="13" name="Rectangle 12">
            <a:extLst>
              <a:ext uri="{FF2B5EF4-FFF2-40B4-BE49-F238E27FC236}">
                <a16:creationId xmlns:a16="http://schemas.microsoft.com/office/drawing/2014/main" id="{529B1C90-3177-41CF-A7EA-5FA1358B4A58}"/>
              </a:ext>
            </a:extLst>
          </p:cNvPr>
          <p:cNvSpPr>
            <a:spLocks noGrp="1"/>
          </p:cNvSpPr>
          <p:nvPr/>
        </p:nvSpPr>
        <p:spPr>
          <a:xfrm>
            <a:off x="6248400" y="1704975"/>
            <a:ext cx="2781300" cy="171450"/>
          </a:xfrm>
          <a:prstGeom prst="rect">
            <a:avLst/>
          </a:prstGeom>
          <a:noFill/>
          <a:ln w="0">
            <a:noFill/>
            <a:prstDash val="solid"/>
          </a:ln>
        </p:spPr>
        <p:txBody>
          <a:bodyPr lIns="0" tIns="0" rIns="0" bIns="0" anchor="t">
            <a:noAutofit/>
          </a:bodyPr>
          <a:lstStyle/>
          <a:p>
            <a:pPr algn="l">
              <a:lnSpc>
                <a:spcPct val="100000"/>
              </a:lnSpc>
              <a:buNone/>
              <a:defRPr sz="975" b="1">
                <a:solidFill>
                  <a:srgbClr val="FFFFFF"/>
                </a:solidFill>
                <a:latin typeface="Aptos"/>
                <a:ea typeface="Aptos"/>
                <a:cs typeface="Aptos"/>
              </a:defRPr>
            </a:pPr>
            <a:r>
              <a:rPr sz="975" b="1">
                <a:solidFill>
                  <a:srgbClr val="FFFFFF"/>
                </a:solidFill>
                <a:latin typeface="Aptos"/>
                <a:ea typeface="Aptos"/>
                <a:cs typeface="Aptos"/>
              </a:rPr>
              <a:t>TRADE-OFF</a:t>
            </a:r>
          </a:p>
        </p:txBody>
      </p:sp>
      <p:sp>
        <p:nvSpPr>
          <p:cNvPr id="14" name="Rectangle 13">
            <a:extLst>
              <a:ext uri="{FF2B5EF4-FFF2-40B4-BE49-F238E27FC236}">
                <a16:creationId xmlns:a16="http://schemas.microsoft.com/office/drawing/2014/main" id="{6F207984-7F3A-449A-A8D0-A6E5406E2A66}"/>
              </a:ext>
            </a:extLst>
          </p:cNvPr>
          <p:cNvSpPr>
            <a:spLocks noGrp="1"/>
          </p:cNvSpPr>
          <p:nvPr/>
        </p:nvSpPr>
        <p:spPr>
          <a:xfrm>
            <a:off x="9163050" y="1581150"/>
            <a:ext cx="2114550" cy="419100"/>
          </a:xfrm>
          <a:prstGeom prst="rect">
            <a:avLst/>
          </a:prstGeom>
          <a:solidFill>
            <a:schemeClr val="accent6">
              <a:lumMod val="50000"/>
            </a:schemeClr>
          </a:solidFill>
          <a:ln w="9525">
            <a:solidFill>
              <a:srgbClr val="20252B"/>
            </a:solidFill>
            <a:prstDash val="solid"/>
          </a:ln>
        </p:spPr>
      </p:sp>
      <p:sp>
        <p:nvSpPr>
          <p:cNvPr id="15" name="Rectangle 14">
            <a:extLst>
              <a:ext uri="{FF2B5EF4-FFF2-40B4-BE49-F238E27FC236}">
                <a16:creationId xmlns:a16="http://schemas.microsoft.com/office/drawing/2014/main" id="{279DEF88-0EE8-457C-B0CB-3BF64B5314B1}"/>
              </a:ext>
            </a:extLst>
          </p:cNvPr>
          <p:cNvSpPr>
            <a:spLocks noGrp="1"/>
          </p:cNvSpPr>
          <p:nvPr/>
        </p:nvSpPr>
        <p:spPr>
          <a:xfrm>
            <a:off x="9296400" y="1704975"/>
            <a:ext cx="1847850" cy="171450"/>
          </a:xfrm>
          <a:prstGeom prst="rect">
            <a:avLst/>
          </a:prstGeom>
          <a:noFill/>
          <a:ln w="0">
            <a:noFill/>
            <a:prstDash val="solid"/>
          </a:ln>
        </p:spPr>
        <p:txBody>
          <a:bodyPr lIns="0" tIns="0" rIns="0" bIns="0" anchor="t">
            <a:noAutofit/>
          </a:bodyPr>
          <a:lstStyle/>
          <a:p>
            <a:pPr algn="l">
              <a:lnSpc>
                <a:spcPct val="100000"/>
              </a:lnSpc>
              <a:buNone/>
              <a:defRPr sz="975" b="1">
                <a:solidFill>
                  <a:srgbClr val="FFCD41"/>
                </a:solidFill>
                <a:latin typeface="Aptos"/>
                <a:ea typeface="Aptos"/>
                <a:cs typeface="Aptos"/>
              </a:defRPr>
            </a:pPr>
            <a:r>
              <a:rPr sz="975" b="1">
                <a:solidFill>
                  <a:srgbClr val="FFCD41"/>
                </a:solidFill>
                <a:latin typeface="Aptos"/>
                <a:ea typeface="Aptos"/>
                <a:cs typeface="Aptos"/>
              </a:rPr>
              <a:t>FIT HERE</a:t>
            </a:r>
          </a:p>
        </p:txBody>
      </p:sp>
      <p:sp>
        <p:nvSpPr>
          <p:cNvPr id="16" name="Rectangle 15">
            <a:extLst>
              <a:ext uri="{FF2B5EF4-FFF2-40B4-BE49-F238E27FC236}">
                <a16:creationId xmlns:a16="http://schemas.microsoft.com/office/drawing/2014/main" id="{C51AD2DD-8822-425B-911C-93D24B26E62C}"/>
              </a:ext>
            </a:extLst>
          </p:cNvPr>
          <p:cNvSpPr>
            <a:spLocks noGrp="1"/>
          </p:cNvSpPr>
          <p:nvPr/>
        </p:nvSpPr>
        <p:spPr>
          <a:xfrm>
            <a:off x="609600" y="2000250"/>
            <a:ext cx="2457450" cy="838200"/>
          </a:xfrm>
          <a:prstGeom prst="rect">
            <a:avLst/>
          </a:prstGeom>
          <a:solidFill>
            <a:srgbClr val="FFFFFF"/>
          </a:solidFill>
          <a:ln w="9525">
            <a:solidFill>
              <a:srgbClr val="D7DCE2"/>
            </a:solidFill>
            <a:prstDash val="solid"/>
          </a:ln>
        </p:spPr>
      </p:sp>
      <p:sp>
        <p:nvSpPr>
          <p:cNvPr id="17" name="Rectangle 16">
            <a:extLst>
              <a:ext uri="{FF2B5EF4-FFF2-40B4-BE49-F238E27FC236}">
                <a16:creationId xmlns:a16="http://schemas.microsoft.com/office/drawing/2014/main" id="{2458377D-4227-484B-9648-A1501B4AA718}"/>
              </a:ext>
            </a:extLst>
          </p:cNvPr>
          <p:cNvSpPr>
            <a:spLocks noGrp="1"/>
          </p:cNvSpPr>
          <p:nvPr/>
        </p:nvSpPr>
        <p:spPr>
          <a:xfrm>
            <a:off x="3067050" y="2000250"/>
            <a:ext cx="3048000" cy="838200"/>
          </a:xfrm>
          <a:prstGeom prst="rect">
            <a:avLst/>
          </a:prstGeom>
          <a:solidFill>
            <a:srgbClr val="FFFFFF"/>
          </a:solidFill>
          <a:ln w="9525">
            <a:solidFill>
              <a:srgbClr val="D7DCE2"/>
            </a:solidFill>
            <a:prstDash val="solid"/>
          </a:ln>
        </p:spPr>
      </p:sp>
      <p:sp>
        <p:nvSpPr>
          <p:cNvPr id="18" name="Rectangle 17">
            <a:extLst>
              <a:ext uri="{FF2B5EF4-FFF2-40B4-BE49-F238E27FC236}">
                <a16:creationId xmlns:a16="http://schemas.microsoft.com/office/drawing/2014/main" id="{BCB295F7-74EA-40E9-96B2-BD0775137AEE}"/>
              </a:ext>
            </a:extLst>
          </p:cNvPr>
          <p:cNvSpPr>
            <a:spLocks noGrp="1"/>
          </p:cNvSpPr>
          <p:nvPr/>
        </p:nvSpPr>
        <p:spPr>
          <a:xfrm>
            <a:off x="6115050" y="2000250"/>
            <a:ext cx="3048000" cy="838200"/>
          </a:xfrm>
          <a:prstGeom prst="rect">
            <a:avLst/>
          </a:prstGeom>
          <a:solidFill>
            <a:srgbClr val="FFFFFF"/>
          </a:solidFill>
          <a:ln w="9525">
            <a:solidFill>
              <a:srgbClr val="D7DCE2"/>
            </a:solidFill>
            <a:prstDash val="solid"/>
          </a:ln>
        </p:spPr>
      </p:sp>
      <p:sp>
        <p:nvSpPr>
          <p:cNvPr id="19" name="Rectangle 18">
            <a:extLst>
              <a:ext uri="{FF2B5EF4-FFF2-40B4-BE49-F238E27FC236}">
                <a16:creationId xmlns:a16="http://schemas.microsoft.com/office/drawing/2014/main" id="{A873CF2E-391F-47F1-BA00-E8884B7C19B5}"/>
              </a:ext>
            </a:extLst>
          </p:cNvPr>
          <p:cNvSpPr>
            <a:spLocks noGrp="1"/>
          </p:cNvSpPr>
          <p:nvPr/>
        </p:nvSpPr>
        <p:spPr>
          <a:xfrm>
            <a:off x="9163050" y="2000250"/>
            <a:ext cx="2114550" cy="838200"/>
          </a:xfrm>
          <a:prstGeom prst="rect">
            <a:avLst/>
          </a:prstGeom>
          <a:solidFill>
            <a:srgbClr val="FFFFFF"/>
          </a:solidFill>
          <a:ln w="9525">
            <a:solidFill>
              <a:srgbClr val="D7DCE2"/>
            </a:solidFill>
            <a:prstDash val="solid"/>
          </a:ln>
        </p:spPr>
      </p:sp>
      <p:sp>
        <p:nvSpPr>
          <p:cNvPr id="20" name="Rectangle 19">
            <a:extLst>
              <a:ext uri="{FF2B5EF4-FFF2-40B4-BE49-F238E27FC236}">
                <a16:creationId xmlns:a16="http://schemas.microsoft.com/office/drawing/2014/main" id="{B1C440FA-9B3C-463D-9F15-D34B76A5ACB6}"/>
              </a:ext>
            </a:extLst>
          </p:cNvPr>
          <p:cNvSpPr>
            <a:spLocks noGrp="1"/>
          </p:cNvSpPr>
          <p:nvPr/>
        </p:nvSpPr>
        <p:spPr>
          <a:xfrm>
            <a:off x="762000" y="2209800"/>
            <a:ext cx="2171700" cy="457200"/>
          </a:xfrm>
          <a:prstGeom prst="rect">
            <a:avLst/>
          </a:prstGeom>
          <a:noFill/>
          <a:ln w="0">
            <a:noFill/>
            <a:prstDash val="solid"/>
          </a:ln>
        </p:spPr>
        <p:txBody>
          <a:bodyPr lIns="0" tIns="0" rIns="0" bIns="0" anchor="t">
            <a:noAutofit/>
          </a:bodyPr>
          <a:lstStyle/>
          <a:p>
            <a:pPr algn="l">
              <a:lnSpc>
                <a:spcPct val="100000"/>
              </a:lnSpc>
              <a:buNone/>
              <a:defRPr sz="1275" b="0">
                <a:solidFill>
                  <a:srgbClr val="20252B"/>
                </a:solidFill>
                <a:latin typeface="Aptos"/>
                <a:ea typeface="Aptos"/>
                <a:cs typeface="Aptos"/>
              </a:defRPr>
            </a:pPr>
            <a:r>
              <a:rPr sz="1275" b="0">
                <a:solidFill>
                  <a:srgbClr val="20252B"/>
                </a:solidFill>
                <a:latin typeface="Aptos"/>
                <a:ea typeface="Aptos"/>
                <a:cs typeface="Aptos"/>
              </a:rPr>
              <a:t>Dashboards / BI</a:t>
            </a:r>
          </a:p>
        </p:txBody>
      </p:sp>
      <p:sp>
        <p:nvSpPr>
          <p:cNvPr id="21" name="Rectangle 20">
            <a:extLst>
              <a:ext uri="{FF2B5EF4-FFF2-40B4-BE49-F238E27FC236}">
                <a16:creationId xmlns:a16="http://schemas.microsoft.com/office/drawing/2014/main" id="{57019171-1681-47EC-BDAB-E1E5B49563F7}"/>
              </a:ext>
            </a:extLst>
          </p:cNvPr>
          <p:cNvSpPr>
            <a:spLocks noGrp="1"/>
          </p:cNvSpPr>
          <p:nvPr/>
        </p:nvSpPr>
        <p:spPr>
          <a:xfrm>
            <a:off x="3219450" y="2162175"/>
            <a:ext cx="2762250" cy="514350"/>
          </a:xfrm>
          <a:prstGeom prst="rect">
            <a:avLst/>
          </a:prstGeom>
          <a:noFill/>
          <a:ln w="0">
            <a:noFill/>
            <a:prstDash val="solid"/>
          </a:ln>
        </p:spPr>
        <p:txBody>
          <a:bodyPr lIns="0" tIns="0" rIns="0" bIns="0" anchor="t">
            <a:noAutofit/>
          </a:bodyPr>
          <a:lstStyle/>
          <a:p>
            <a:pPr algn="l">
              <a:lnSpc>
                <a:spcPct val="105000"/>
              </a:lnSpc>
              <a:buNone/>
              <a:defRPr sz="1200" b="0">
                <a:solidFill>
                  <a:srgbClr val="3F4953"/>
                </a:solidFill>
                <a:latin typeface="Aptos"/>
                <a:ea typeface="Aptos"/>
                <a:cs typeface="Aptos"/>
              </a:defRPr>
            </a:pPr>
            <a:r>
              <a:rPr sz="1200" b="0">
                <a:solidFill>
                  <a:srgbClr val="3F4953"/>
                </a:solidFill>
                <a:latin typeface="Aptos"/>
                <a:ea typeface="Aptos"/>
                <a:cs typeface="Aptos"/>
              </a:rPr>
              <a:t>Fast access to predefined views</a:t>
            </a:r>
          </a:p>
        </p:txBody>
      </p:sp>
      <p:sp>
        <p:nvSpPr>
          <p:cNvPr id="22" name="Rectangle 21">
            <a:extLst>
              <a:ext uri="{FF2B5EF4-FFF2-40B4-BE49-F238E27FC236}">
                <a16:creationId xmlns:a16="http://schemas.microsoft.com/office/drawing/2014/main" id="{FB6F29B5-76C3-4CF9-9889-D5BFEC5E7894}"/>
              </a:ext>
            </a:extLst>
          </p:cNvPr>
          <p:cNvSpPr>
            <a:spLocks noGrp="1"/>
          </p:cNvSpPr>
          <p:nvPr/>
        </p:nvSpPr>
        <p:spPr>
          <a:xfrm>
            <a:off x="6267450" y="2162175"/>
            <a:ext cx="2762250" cy="514350"/>
          </a:xfrm>
          <a:prstGeom prst="rect">
            <a:avLst/>
          </a:prstGeom>
          <a:noFill/>
          <a:ln w="0">
            <a:noFill/>
            <a:prstDash val="solid"/>
          </a:ln>
        </p:spPr>
        <p:txBody>
          <a:bodyPr lIns="0" tIns="0" rIns="0" bIns="0" anchor="t">
            <a:noAutofit/>
          </a:bodyPr>
          <a:lstStyle/>
          <a:p>
            <a:pPr algn="l">
              <a:lnSpc>
                <a:spcPct val="105000"/>
              </a:lnSpc>
              <a:buNone/>
              <a:defRPr sz="1200" b="0">
                <a:solidFill>
                  <a:srgbClr val="3F4953"/>
                </a:solidFill>
                <a:latin typeface="Aptos"/>
                <a:ea typeface="Aptos"/>
                <a:cs typeface="Aptos"/>
              </a:defRPr>
            </a:pPr>
            <a:r>
              <a:rPr sz="1200" b="0">
                <a:solidFill>
                  <a:srgbClr val="3F4953"/>
                </a:solidFill>
                <a:latin typeface="Aptos"/>
                <a:ea typeface="Aptos"/>
                <a:cs typeface="Aptos"/>
              </a:rPr>
              <a:t>Less flexible when the question changes</a:t>
            </a:r>
          </a:p>
        </p:txBody>
      </p:sp>
      <p:sp>
        <p:nvSpPr>
          <p:cNvPr id="23" name="Rectangle 22">
            <a:extLst>
              <a:ext uri="{FF2B5EF4-FFF2-40B4-BE49-F238E27FC236}">
                <a16:creationId xmlns:a16="http://schemas.microsoft.com/office/drawing/2014/main" id="{248270F8-9E7D-4FD4-BB2E-EC1616C81D7D}"/>
              </a:ext>
            </a:extLst>
          </p:cNvPr>
          <p:cNvSpPr>
            <a:spLocks noGrp="1"/>
          </p:cNvSpPr>
          <p:nvPr/>
        </p:nvSpPr>
        <p:spPr>
          <a:xfrm>
            <a:off x="9315450" y="2286000"/>
            <a:ext cx="1809750" cy="228600"/>
          </a:xfrm>
          <a:prstGeom prst="rect">
            <a:avLst/>
          </a:prstGeom>
          <a:noFill/>
          <a:ln w="0">
            <a:noFill/>
            <a:prstDash val="solid"/>
          </a:ln>
        </p:spPr>
        <p:txBody>
          <a:bodyPr lIns="0" tIns="0" rIns="0" bIns="0" anchor="t">
            <a:noAutofit/>
          </a:bodyPr>
          <a:lstStyle/>
          <a:p>
            <a:pPr algn="ctr">
              <a:lnSpc>
                <a:spcPct val="100000"/>
              </a:lnSpc>
              <a:buNone/>
              <a:defRPr sz="1200" b="1">
                <a:solidFill>
                  <a:srgbClr val="5D6772"/>
                </a:solidFill>
                <a:latin typeface="Aptos"/>
                <a:ea typeface="Aptos"/>
                <a:cs typeface="Aptos"/>
              </a:defRPr>
            </a:pPr>
            <a:r>
              <a:rPr sz="1200" b="1">
                <a:solidFill>
                  <a:srgbClr val="5D6772"/>
                </a:solidFill>
                <a:latin typeface="Aptos"/>
                <a:ea typeface="Aptos"/>
                <a:cs typeface="Aptos"/>
              </a:rPr>
              <a:t>Useful</a:t>
            </a:r>
          </a:p>
        </p:txBody>
      </p:sp>
      <p:sp>
        <p:nvSpPr>
          <p:cNvPr id="24" name="Rectangle 23">
            <a:extLst>
              <a:ext uri="{FF2B5EF4-FFF2-40B4-BE49-F238E27FC236}">
                <a16:creationId xmlns:a16="http://schemas.microsoft.com/office/drawing/2014/main" id="{224C57A2-2CC4-4606-B9F6-B825B92EC3F7}"/>
              </a:ext>
            </a:extLst>
          </p:cNvPr>
          <p:cNvSpPr>
            <a:spLocks noGrp="1"/>
          </p:cNvSpPr>
          <p:nvPr/>
        </p:nvSpPr>
        <p:spPr>
          <a:xfrm>
            <a:off x="609600" y="2838450"/>
            <a:ext cx="2457450" cy="838200"/>
          </a:xfrm>
          <a:prstGeom prst="rect">
            <a:avLst/>
          </a:prstGeom>
          <a:solidFill>
            <a:srgbClr val="EEF1F4"/>
          </a:solidFill>
          <a:ln w="9525">
            <a:solidFill>
              <a:srgbClr val="D7DCE2"/>
            </a:solidFill>
            <a:prstDash val="solid"/>
          </a:ln>
        </p:spPr>
      </p:sp>
      <p:sp>
        <p:nvSpPr>
          <p:cNvPr id="25" name="Rectangle 24">
            <a:extLst>
              <a:ext uri="{FF2B5EF4-FFF2-40B4-BE49-F238E27FC236}">
                <a16:creationId xmlns:a16="http://schemas.microsoft.com/office/drawing/2014/main" id="{2AD355D5-11C3-4BCB-95EC-74010D9DC9E3}"/>
              </a:ext>
            </a:extLst>
          </p:cNvPr>
          <p:cNvSpPr>
            <a:spLocks noGrp="1"/>
          </p:cNvSpPr>
          <p:nvPr/>
        </p:nvSpPr>
        <p:spPr>
          <a:xfrm>
            <a:off x="3067050" y="2838450"/>
            <a:ext cx="3048000" cy="838200"/>
          </a:xfrm>
          <a:prstGeom prst="rect">
            <a:avLst/>
          </a:prstGeom>
          <a:solidFill>
            <a:srgbClr val="EEF1F4"/>
          </a:solidFill>
          <a:ln w="9525">
            <a:solidFill>
              <a:srgbClr val="D7DCE2"/>
            </a:solidFill>
            <a:prstDash val="solid"/>
          </a:ln>
        </p:spPr>
      </p:sp>
      <p:sp>
        <p:nvSpPr>
          <p:cNvPr id="26" name="Rectangle 25">
            <a:extLst>
              <a:ext uri="{FF2B5EF4-FFF2-40B4-BE49-F238E27FC236}">
                <a16:creationId xmlns:a16="http://schemas.microsoft.com/office/drawing/2014/main" id="{FA082910-6DE0-4583-BA60-62214F1327A5}"/>
              </a:ext>
            </a:extLst>
          </p:cNvPr>
          <p:cNvSpPr>
            <a:spLocks noGrp="1"/>
          </p:cNvSpPr>
          <p:nvPr/>
        </p:nvSpPr>
        <p:spPr>
          <a:xfrm>
            <a:off x="6115050" y="2838450"/>
            <a:ext cx="3048000" cy="838200"/>
          </a:xfrm>
          <a:prstGeom prst="rect">
            <a:avLst/>
          </a:prstGeom>
          <a:solidFill>
            <a:srgbClr val="EEF1F4"/>
          </a:solidFill>
          <a:ln w="9525">
            <a:solidFill>
              <a:srgbClr val="D7DCE2"/>
            </a:solidFill>
            <a:prstDash val="solid"/>
          </a:ln>
        </p:spPr>
      </p:sp>
      <p:sp>
        <p:nvSpPr>
          <p:cNvPr id="27" name="Rectangle 26">
            <a:extLst>
              <a:ext uri="{FF2B5EF4-FFF2-40B4-BE49-F238E27FC236}">
                <a16:creationId xmlns:a16="http://schemas.microsoft.com/office/drawing/2014/main" id="{5EC69259-6C98-4BC0-9D9C-C43E7A757604}"/>
              </a:ext>
            </a:extLst>
          </p:cNvPr>
          <p:cNvSpPr>
            <a:spLocks noGrp="1"/>
          </p:cNvSpPr>
          <p:nvPr/>
        </p:nvSpPr>
        <p:spPr>
          <a:xfrm>
            <a:off x="9163050" y="2838450"/>
            <a:ext cx="2114550" cy="838200"/>
          </a:xfrm>
          <a:prstGeom prst="rect">
            <a:avLst/>
          </a:prstGeom>
          <a:solidFill>
            <a:srgbClr val="EEF1F4"/>
          </a:solidFill>
          <a:ln w="9525">
            <a:solidFill>
              <a:srgbClr val="D7DCE2"/>
            </a:solidFill>
            <a:prstDash val="solid"/>
          </a:ln>
        </p:spPr>
      </p:sp>
      <p:sp>
        <p:nvSpPr>
          <p:cNvPr id="28" name="Rectangle 27">
            <a:extLst>
              <a:ext uri="{FF2B5EF4-FFF2-40B4-BE49-F238E27FC236}">
                <a16:creationId xmlns:a16="http://schemas.microsoft.com/office/drawing/2014/main" id="{3538516C-619C-44EE-9205-8F7BB9928137}"/>
              </a:ext>
            </a:extLst>
          </p:cNvPr>
          <p:cNvSpPr>
            <a:spLocks noGrp="1"/>
          </p:cNvSpPr>
          <p:nvPr/>
        </p:nvSpPr>
        <p:spPr>
          <a:xfrm>
            <a:off x="762000" y="3048000"/>
            <a:ext cx="2171700" cy="457200"/>
          </a:xfrm>
          <a:prstGeom prst="rect">
            <a:avLst/>
          </a:prstGeom>
          <a:noFill/>
          <a:ln w="0">
            <a:noFill/>
            <a:prstDash val="solid"/>
          </a:ln>
        </p:spPr>
        <p:txBody>
          <a:bodyPr lIns="0" tIns="0" rIns="0" bIns="0" anchor="t">
            <a:noAutofit/>
          </a:bodyPr>
          <a:lstStyle/>
          <a:p>
            <a:pPr algn="l">
              <a:lnSpc>
                <a:spcPct val="100000"/>
              </a:lnSpc>
              <a:buNone/>
              <a:defRPr sz="1275" b="0">
                <a:solidFill>
                  <a:srgbClr val="20252B"/>
                </a:solidFill>
                <a:latin typeface="Aptos"/>
                <a:ea typeface="Aptos"/>
                <a:cs typeface="Aptos"/>
              </a:defRPr>
            </a:pPr>
            <a:r>
              <a:rPr sz="1275" b="0">
                <a:solidFill>
                  <a:srgbClr val="20252B"/>
                </a:solidFill>
                <a:latin typeface="Aptos"/>
                <a:ea typeface="Aptos"/>
                <a:cs typeface="Aptos"/>
              </a:rPr>
              <a:t>Direct SQL</a:t>
            </a:r>
          </a:p>
        </p:txBody>
      </p:sp>
      <p:sp>
        <p:nvSpPr>
          <p:cNvPr id="29" name="Rectangle 28">
            <a:extLst>
              <a:ext uri="{FF2B5EF4-FFF2-40B4-BE49-F238E27FC236}">
                <a16:creationId xmlns:a16="http://schemas.microsoft.com/office/drawing/2014/main" id="{F86746DE-2F25-4163-929F-A35DD9739EE8}"/>
              </a:ext>
            </a:extLst>
          </p:cNvPr>
          <p:cNvSpPr>
            <a:spLocks noGrp="1"/>
          </p:cNvSpPr>
          <p:nvPr/>
        </p:nvSpPr>
        <p:spPr>
          <a:xfrm>
            <a:off x="3219450" y="3000375"/>
            <a:ext cx="2762250" cy="514350"/>
          </a:xfrm>
          <a:prstGeom prst="rect">
            <a:avLst/>
          </a:prstGeom>
          <a:noFill/>
          <a:ln w="0">
            <a:noFill/>
            <a:prstDash val="solid"/>
          </a:ln>
        </p:spPr>
        <p:txBody>
          <a:bodyPr lIns="0" tIns="0" rIns="0" bIns="0" anchor="t">
            <a:noAutofit/>
          </a:bodyPr>
          <a:lstStyle/>
          <a:p>
            <a:pPr algn="l">
              <a:lnSpc>
                <a:spcPct val="105000"/>
              </a:lnSpc>
              <a:buNone/>
              <a:defRPr sz="1200" b="0">
                <a:solidFill>
                  <a:srgbClr val="3F4953"/>
                </a:solidFill>
                <a:latin typeface="Aptos"/>
                <a:ea typeface="Aptos"/>
                <a:cs typeface="Aptos"/>
              </a:defRPr>
            </a:pPr>
            <a:r>
              <a:rPr sz="1200" b="0">
                <a:solidFill>
                  <a:srgbClr val="3F4953"/>
                </a:solidFill>
                <a:latin typeface="Aptos"/>
                <a:ea typeface="Aptos"/>
                <a:cs typeface="Aptos"/>
              </a:rPr>
              <a:t>Maximum analytical flexibility</a:t>
            </a:r>
          </a:p>
        </p:txBody>
      </p:sp>
      <p:sp>
        <p:nvSpPr>
          <p:cNvPr id="30" name="Rectangle 29">
            <a:extLst>
              <a:ext uri="{FF2B5EF4-FFF2-40B4-BE49-F238E27FC236}">
                <a16:creationId xmlns:a16="http://schemas.microsoft.com/office/drawing/2014/main" id="{0282A93B-BEB1-4755-82F6-A3DAE887297A}"/>
              </a:ext>
            </a:extLst>
          </p:cNvPr>
          <p:cNvSpPr>
            <a:spLocks noGrp="1"/>
          </p:cNvSpPr>
          <p:nvPr/>
        </p:nvSpPr>
        <p:spPr>
          <a:xfrm>
            <a:off x="6267450" y="3000375"/>
            <a:ext cx="2762250" cy="514350"/>
          </a:xfrm>
          <a:prstGeom prst="rect">
            <a:avLst/>
          </a:prstGeom>
          <a:noFill/>
          <a:ln w="0">
            <a:noFill/>
            <a:prstDash val="solid"/>
          </a:ln>
        </p:spPr>
        <p:txBody>
          <a:bodyPr lIns="0" tIns="0" rIns="0" bIns="0" anchor="t">
            <a:noAutofit/>
          </a:bodyPr>
          <a:lstStyle/>
          <a:p>
            <a:pPr algn="l">
              <a:lnSpc>
                <a:spcPct val="105000"/>
              </a:lnSpc>
              <a:buNone/>
              <a:defRPr sz="1200" b="0">
                <a:solidFill>
                  <a:srgbClr val="3F4953"/>
                </a:solidFill>
                <a:latin typeface="Aptos"/>
                <a:ea typeface="Aptos"/>
                <a:cs typeface="Aptos"/>
              </a:defRPr>
            </a:pPr>
            <a:r>
              <a:rPr sz="1200" b="0">
                <a:solidFill>
                  <a:srgbClr val="3F4953"/>
                </a:solidFill>
                <a:latin typeface="Aptos"/>
                <a:ea typeface="Aptos"/>
                <a:cs typeface="Aptos"/>
              </a:rPr>
              <a:t>Requires specialists and broader data access</a:t>
            </a:r>
          </a:p>
        </p:txBody>
      </p:sp>
      <p:sp>
        <p:nvSpPr>
          <p:cNvPr id="31" name="Rectangle 30">
            <a:extLst>
              <a:ext uri="{FF2B5EF4-FFF2-40B4-BE49-F238E27FC236}">
                <a16:creationId xmlns:a16="http://schemas.microsoft.com/office/drawing/2014/main" id="{B0CD3E52-41B4-41BE-A448-3386D4BE1F2B}"/>
              </a:ext>
            </a:extLst>
          </p:cNvPr>
          <p:cNvSpPr>
            <a:spLocks noGrp="1"/>
          </p:cNvSpPr>
          <p:nvPr/>
        </p:nvSpPr>
        <p:spPr>
          <a:xfrm>
            <a:off x="9315450" y="3124200"/>
            <a:ext cx="1809750" cy="228600"/>
          </a:xfrm>
          <a:prstGeom prst="rect">
            <a:avLst/>
          </a:prstGeom>
          <a:noFill/>
          <a:ln w="0">
            <a:noFill/>
            <a:prstDash val="solid"/>
          </a:ln>
        </p:spPr>
        <p:txBody>
          <a:bodyPr lIns="0" tIns="0" rIns="0" bIns="0" anchor="t">
            <a:noAutofit/>
          </a:bodyPr>
          <a:lstStyle/>
          <a:p>
            <a:pPr algn="ctr">
              <a:lnSpc>
                <a:spcPct val="100000"/>
              </a:lnSpc>
              <a:buNone/>
              <a:defRPr sz="1200" b="1">
                <a:solidFill>
                  <a:srgbClr val="5D6772"/>
                </a:solidFill>
                <a:latin typeface="Aptos"/>
                <a:ea typeface="Aptos"/>
                <a:cs typeface="Aptos"/>
              </a:defRPr>
            </a:pPr>
            <a:r>
              <a:rPr sz="1200" b="1">
                <a:solidFill>
                  <a:srgbClr val="5D6772"/>
                </a:solidFill>
                <a:latin typeface="Aptos"/>
                <a:ea typeface="Aptos"/>
                <a:cs typeface="Aptos"/>
              </a:rPr>
              <a:t>Partial</a:t>
            </a:r>
          </a:p>
        </p:txBody>
      </p:sp>
      <p:sp>
        <p:nvSpPr>
          <p:cNvPr id="32" name="Rectangle 31">
            <a:extLst>
              <a:ext uri="{FF2B5EF4-FFF2-40B4-BE49-F238E27FC236}">
                <a16:creationId xmlns:a16="http://schemas.microsoft.com/office/drawing/2014/main" id="{0A69FF00-7028-4189-B19A-09F29B3F9DE6}"/>
              </a:ext>
            </a:extLst>
          </p:cNvPr>
          <p:cNvSpPr>
            <a:spLocks noGrp="1"/>
          </p:cNvSpPr>
          <p:nvPr/>
        </p:nvSpPr>
        <p:spPr>
          <a:xfrm>
            <a:off x="609600" y="3676650"/>
            <a:ext cx="2457450" cy="838200"/>
          </a:xfrm>
          <a:prstGeom prst="rect">
            <a:avLst/>
          </a:prstGeom>
          <a:solidFill>
            <a:srgbClr val="FFFFFF"/>
          </a:solidFill>
          <a:ln w="9525">
            <a:solidFill>
              <a:srgbClr val="D7DCE2"/>
            </a:solidFill>
            <a:prstDash val="solid"/>
          </a:ln>
        </p:spPr>
      </p:sp>
      <p:sp>
        <p:nvSpPr>
          <p:cNvPr id="33" name="Rectangle 32">
            <a:extLst>
              <a:ext uri="{FF2B5EF4-FFF2-40B4-BE49-F238E27FC236}">
                <a16:creationId xmlns:a16="http://schemas.microsoft.com/office/drawing/2014/main" id="{60BAB463-ECBF-454A-9EC6-67BEE5ABA501}"/>
              </a:ext>
            </a:extLst>
          </p:cNvPr>
          <p:cNvSpPr>
            <a:spLocks noGrp="1"/>
          </p:cNvSpPr>
          <p:nvPr/>
        </p:nvSpPr>
        <p:spPr>
          <a:xfrm>
            <a:off x="3067050" y="3676650"/>
            <a:ext cx="3048000" cy="838200"/>
          </a:xfrm>
          <a:prstGeom prst="rect">
            <a:avLst/>
          </a:prstGeom>
          <a:solidFill>
            <a:srgbClr val="FFFFFF"/>
          </a:solidFill>
          <a:ln w="9525">
            <a:solidFill>
              <a:srgbClr val="D7DCE2"/>
            </a:solidFill>
            <a:prstDash val="solid"/>
          </a:ln>
        </p:spPr>
      </p:sp>
      <p:sp>
        <p:nvSpPr>
          <p:cNvPr id="34" name="Rectangle 33">
            <a:extLst>
              <a:ext uri="{FF2B5EF4-FFF2-40B4-BE49-F238E27FC236}">
                <a16:creationId xmlns:a16="http://schemas.microsoft.com/office/drawing/2014/main" id="{72FF5752-786F-4AD0-8355-A0136A0A9E8E}"/>
              </a:ext>
            </a:extLst>
          </p:cNvPr>
          <p:cNvSpPr>
            <a:spLocks noGrp="1"/>
          </p:cNvSpPr>
          <p:nvPr/>
        </p:nvSpPr>
        <p:spPr>
          <a:xfrm>
            <a:off x="6115050" y="3676650"/>
            <a:ext cx="3048000" cy="838200"/>
          </a:xfrm>
          <a:prstGeom prst="rect">
            <a:avLst/>
          </a:prstGeom>
          <a:solidFill>
            <a:srgbClr val="FFFFFF"/>
          </a:solidFill>
          <a:ln w="9525">
            <a:solidFill>
              <a:srgbClr val="D7DCE2"/>
            </a:solidFill>
            <a:prstDash val="solid"/>
          </a:ln>
        </p:spPr>
      </p:sp>
      <p:sp>
        <p:nvSpPr>
          <p:cNvPr id="35" name="Rectangle 34">
            <a:extLst>
              <a:ext uri="{FF2B5EF4-FFF2-40B4-BE49-F238E27FC236}">
                <a16:creationId xmlns:a16="http://schemas.microsoft.com/office/drawing/2014/main" id="{4C030B4C-C58B-464F-8751-E70BEA876314}"/>
              </a:ext>
            </a:extLst>
          </p:cNvPr>
          <p:cNvSpPr>
            <a:spLocks noGrp="1"/>
          </p:cNvSpPr>
          <p:nvPr/>
        </p:nvSpPr>
        <p:spPr>
          <a:xfrm>
            <a:off x="9163050" y="3676650"/>
            <a:ext cx="2114550" cy="838200"/>
          </a:xfrm>
          <a:prstGeom prst="rect">
            <a:avLst/>
          </a:prstGeom>
          <a:solidFill>
            <a:srgbClr val="FFFFFF"/>
          </a:solidFill>
          <a:ln w="9525">
            <a:solidFill>
              <a:srgbClr val="D7DCE2"/>
            </a:solidFill>
            <a:prstDash val="solid"/>
          </a:ln>
        </p:spPr>
      </p:sp>
      <p:sp>
        <p:nvSpPr>
          <p:cNvPr id="36" name="Rectangle 35">
            <a:extLst>
              <a:ext uri="{FF2B5EF4-FFF2-40B4-BE49-F238E27FC236}">
                <a16:creationId xmlns:a16="http://schemas.microsoft.com/office/drawing/2014/main" id="{0A9C8F8B-22B5-41B0-A834-149846AD8065}"/>
              </a:ext>
            </a:extLst>
          </p:cNvPr>
          <p:cNvSpPr>
            <a:spLocks noGrp="1"/>
          </p:cNvSpPr>
          <p:nvPr/>
        </p:nvSpPr>
        <p:spPr>
          <a:xfrm>
            <a:off x="762000" y="3886200"/>
            <a:ext cx="2171700" cy="457200"/>
          </a:xfrm>
          <a:prstGeom prst="rect">
            <a:avLst/>
          </a:prstGeom>
          <a:noFill/>
          <a:ln w="0">
            <a:noFill/>
            <a:prstDash val="solid"/>
          </a:ln>
        </p:spPr>
        <p:txBody>
          <a:bodyPr lIns="0" tIns="0" rIns="0" bIns="0" anchor="t">
            <a:noAutofit/>
          </a:bodyPr>
          <a:lstStyle/>
          <a:p>
            <a:pPr algn="l">
              <a:lnSpc>
                <a:spcPct val="100000"/>
              </a:lnSpc>
              <a:buNone/>
              <a:defRPr sz="1275" b="0">
                <a:solidFill>
                  <a:srgbClr val="20252B"/>
                </a:solidFill>
                <a:latin typeface="Aptos"/>
                <a:ea typeface="Aptos"/>
                <a:cs typeface="Aptos"/>
              </a:defRPr>
            </a:pPr>
            <a:r>
              <a:rPr sz="1275" b="0">
                <a:solidFill>
                  <a:srgbClr val="20252B"/>
                </a:solidFill>
                <a:latin typeface="Aptos"/>
                <a:ea typeface="Aptos"/>
                <a:cs typeface="Aptos"/>
              </a:rPr>
              <a:t>Central API / data platform</a:t>
            </a:r>
          </a:p>
        </p:txBody>
      </p:sp>
      <p:sp>
        <p:nvSpPr>
          <p:cNvPr id="37" name="Rectangle 36">
            <a:extLst>
              <a:ext uri="{FF2B5EF4-FFF2-40B4-BE49-F238E27FC236}">
                <a16:creationId xmlns:a16="http://schemas.microsoft.com/office/drawing/2014/main" id="{F1ABB5CC-28FE-40E3-829C-B49BCC2D250C}"/>
              </a:ext>
            </a:extLst>
          </p:cNvPr>
          <p:cNvSpPr>
            <a:spLocks noGrp="1"/>
          </p:cNvSpPr>
          <p:nvPr/>
        </p:nvSpPr>
        <p:spPr>
          <a:xfrm>
            <a:off x="3219450" y="3838575"/>
            <a:ext cx="2762250" cy="514350"/>
          </a:xfrm>
          <a:prstGeom prst="rect">
            <a:avLst/>
          </a:prstGeom>
          <a:noFill/>
          <a:ln w="0">
            <a:noFill/>
            <a:prstDash val="solid"/>
          </a:ln>
        </p:spPr>
        <p:txBody>
          <a:bodyPr lIns="0" tIns="0" rIns="0" bIns="0" anchor="t">
            <a:noAutofit/>
          </a:bodyPr>
          <a:lstStyle/>
          <a:p>
            <a:pPr algn="l">
              <a:lnSpc>
                <a:spcPct val="105000"/>
              </a:lnSpc>
              <a:buNone/>
              <a:defRPr sz="1200" b="0">
                <a:solidFill>
                  <a:srgbClr val="3F4953"/>
                </a:solidFill>
                <a:latin typeface="Aptos"/>
                <a:ea typeface="Aptos"/>
                <a:cs typeface="Aptos"/>
              </a:defRPr>
            </a:pPr>
            <a:r>
              <a:rPr sz="1200" b="0">
                <a:solidFill>
                  <a:srgbClr val="3F4953"/>
                </a:solidFill>
                <a:latin typeface="Aptos"/>
                <a:ea typeface="Aptos"/>
                <a:cs typeface="Aptos"/>
              </a:rPr>
              <a:t>Standard interfaces and enterprise scale</a:t>
            </a:r>
          </a:p>
        </p:txBody>
      </p:sp>
      <p:sp>
        <p:nvSpPr>
          <p:cNvPr id="38" name="Rectangle 37">
            <a:extLst>
              <a:ext uri="{FF2B5EF4-FFF2-40B4-BE49-F238E27FC236}">
                <a16:creationId xmlns:a16="http://schemas.microsoft.com/office/drawing/2014/main" id="{A996B698-8D5E-4553-83EF-249A909FDA36}"/>
              </a:ext>
            </a:extLst>
          </p:cNvPr>
          <p:cNvSpPr>
            <a:spLocks noGrp="1"/>
          </p:cNvSpPr>
          <p:nvPr/>
        </p:nvSpPr>
        <p:spPr>
          <a:xfrm>
            <a:off x="6267450" y="3838575"/>
            <a:ext cx="2762250" cy="514350"/>
          </a:xfrm>
          <a:prstGeom prst="rect">
            <a:avLst/>
          </a:prstGeom>
          <a:noFill/>
          <a:ln w="0">
            <a:noFill/>
            <a:prstDash val="solid"/>
          </a:ln>
        </p:spPr>
        <p:txBody>
          <a:bodyPr lIns="0" tIns="0" rIns="0" bIns="0" anchor="t">
            <a:noAutofit/>
          </a:bodyPr>
          <a:lstStyle/>
          <a:p>
            <a:pPr algn="l">
              <a:lnSpc>
                <a:spcPct val="105000"/>
              </a:lnSpc>
              <a:buNone/>
              <a:defRPr sz="1200" b="0">
                <a:solidFill>
                  <a:srgbClr val="3F4953"/>
                </a:solidFill>
                <a:latin typeface="Aptos"/>
                <a:ea typeface="Aptos"/>
                <a:cs typeface="Aptos"/>
              </a:defRPr>
            </a:pPr>
            <a:r>
              <a:rPr sz="1200" b="0">
                <a:solidFill>
                  <a:srgbClr val="3F4953"/>
                </a:solidFill>
                <a:latin typeface="Aptos"/>
                <a:ea typeface="Aptos"/>
                <a:cs typeface="Aptos"/>
              </a:rPr>
              <a:t>Higher integration and build effort</a:t>
            </a:r>
          </a:p>
        </p:txBody>
      </p:sp>
      <p:sp>
        <p:nvSpPr>
          <p:cNvPr id="39" name="Rectangle 38">
            <a:extLst>
              <a:ext uri="{FF2B5EF4-FFF2-40B4-BE49-F238E27FC236}">
                <a16:creationId xmlns:a16="http://schemas.microsoft.com/office/drawing/2014/main" id="{D558EC3F-71B2-412E-92E5-716BF7436BA2}"/>
              </a:ext>
            </a:extLst>
          </p:cNvPr>
          <p:cNvSpPr>
            <a:spLocks noGrp="1"/>
          </p:cNvSpPr>
          <p:nvPr/>
        </p:nvSpPr>
        <p:spPr>
          <a:xfrm>
            <a:off x="9315450" y="3962400"/>
            <a:ext cx="1809750" cy="228600"/>
          </a:xfrm>
          <a:prstGeom prst="rect">
            <a:avLst/>
          </a:prstGeom>
          <a:noFill/>
          <a:ln w="0">
            <a:noFill/>
            <a:prstDash val="solid"/>
          </a:ln>
        </p:spPr>
        <p:txBody>
          <a:bodyPr lIns="0" tIns="0" rIns="0" bIns="0" anchor="t">
            <a:noAutofit/>
          </a:bodyPr>
          <a:lstStyle/>
          <a:p>
            <a:pPr algn="ctr">
              <a:lnSpc>
                <a:spcPct val="100000"/>
              </a:lnSpc>
              <a:buNone/>
              <a:defRPr sz="1200" b="1">
                <a:solidFill>
                  <a:srgbClr val="5D6772"/>
                </a:solidFill>
                <a:latin typeface="Aptos"/>
                <a:ea typeface="Aptos"/>
                <a:cs typeface="Aptos"/>
              </a:defRPr>
            </a:pPr>
            <a:r>
              <a:rPr sz="1200" b="1">
                <a:solidFill>
                  <a:srgbClr val="5D6772"/>
                </a:solidFill>
                <a:latin typeface="Aptos"/>
                <a:ea typeface="Aptos"/>
                <a:cs typeface="Aptos"/>
              </a:rPr>
              <a:t>Longer path</a:t>
            </a:r>
          </a:p>
        </p:txBody>
      </p:sp>
      <p:sp>
        <p:nvSpPr>
          <p:cNvPr id="40" name="Rectangle 39">
            <a:extLst>
              <a:ext uri="{FF2B5EF4-FFF2-40B4-BE49-F238E27FC236}">
                <a16:creationId xmlns:a16="http://schemas.microsoft.com/office/drawing/2014/main" id="{2CC29C32-C6C8-4171-AF84-FC9A0062E057}"/>
              </a:ext>
            </a:extLst>
          </p:cNvPr>
          <p:cNvSpPr>
            <a:spLocks noGrp="1"/>
          </p:cNvSpPr>
          <p:nvPr/>
        </p:nvSpPr>
        <p:spPr>
          <a:xfrm>
            <a:off x="609600" y="4514850"/>
            <a:ext cx="2457450" cy="838200"/>
          </a:xfrm>
          <a:prstGeom prst="rect">
            <a:avLst/>
          </a:prstGeom>
          <a:solidFill>
            <a:srgbClr val="FFFFFF"/>
          </a:solidFill>
          <a:ln w="9525">
            <a:solidFill>
              <a:srgbClr val="D7DCE2"/>
            </a:solidFill>
            <a:prstDash val="solid"/>
          </a:ln>
        </p:spPr>
      </p:sp>
      <p:sp>
        <p:nvSpPr>
          <p:cNvPr id="41" name="Rectangle 40">
            <a:extLst>
              <a:ext uri="{FF2B5EF4-FFF2-40B4-BE49-F238E27FC236}">
                <a16:creationId xmlns:a16="http://schemas.microsoft.com/office/drawing/2014/main" id="{AAAEEEC9-E167-42D4-B037-E88250FE8A28}"/>
              </a:ext>
            </a:extLst>
          </p:cNvPr>
          <p:cNvSpPr>
            <a:spLocks noGrp="1"/>
          </p:cNvSpPr>
          <p:nvPr/>
        </p:nvSpPr>
        <p:spPr>
          <a:xfrm>
            <a:off x="3067050" y="4514850"/>
            <a:ext cx="3048000" cy="838200"/>
          </a:xfrm>
          <a:prstGeom prst="rect">
            <a:avLst/>
          </a:prstGeom>
          <a:solidFill>
            <a:srgbClr val="FFFFFF"/>
          </a:solidFill>
          <a:ln w="9525">
            <a:solidFill>
              <a:srgbClr val="D7DCE2"/>
            </a:solidFill>
            <a:prstDash val="solid"/>
          </a:ln>
        </p:spPr>
      </p:sp>
      <p:sp>
        <p:nvSpPr>
          <p:cNvPr id="42" name="Rectangle 41">
            <a:extLst>
              <a:ext uri="{FF2B5EF4-FFF2-40B4-BE49-F238E27FC236}">
                <a16:creationId xmlns:a16="http://schemas.microsoft.com/office/drawing/2014/main" id="{7DBC3351-2684-477E-B0D5-AF61A8840300}"/>
              </a:ext>
            </a:extLst>
          </p:cNvPr>
          <p:cNvSpPr>
            <a:spLocks noGrp="1"/>
          </p:cNvSpPr>
          <p:nvPr/>
        </p:nvSpPr>
        <p:spPr>
          <a:xfrm>
            <a:off x="6115050" y="4514850"/>
            <a:ext cx="3048000" cy="838200"/>
          </a:xfrm>
          <a:prstGeom prst="rect">
            <a:avLst/>
          </a:prstGeom>
          <a:solidFill>
            <a:srgbClr val="FFFFFF"/>
          </a:solidFill>
          <a:ln w="9525">
            <a:solidFill>
              <a:srgbClr val="D7DCE2"/>
            </a:solidFill>
            <a:prstDash val="solid"/>
          </a:ln>
        </p:spPr>
      </p:sp>
      <p:sp>
        <p:nvSpPr>
          <p:cNvPr id="43" name="Rectangle 42">
            <a:extLst>
              <a:ext uri="{FF2B5EF4-FFF2-40B4-BE49-F238E27FC236}">
                <a16:creationId xmlns:a16="http://schemas.microsoft.com/office/drawing/2014/main" id="{E3ADDDB5-0F37-4971-B803-92474ABB128D}"/>
              </a:ext>
            </a:extLst>
          </p:cNvPr>
          <p:cNvSpPr>
            <a:spLocks noGrp="1"/>
          </p:cNvSpPr>
          <p:nvPr/>
        </p:nvSpPr>
        <p:spPr>
          <a:xfrm>
            <a:off x="9163050" y="4514850"/>
            <a:ext cx="2114550" cy="838200"/>
          </a:xfrm>
          <a:prstGeom prst="rect">
            <a:avLst/>
          </a:prstGeom>
          <a:solidFill>
            <a:srgbClr val="FFFFFF"/>
          </a:solidFill>
          <a:ln w="9525">
            <a:solidFill>
              <a:srgbClr val="D7DCE2"/>
            </a:solidFill>
            <a:prstDash val="solid"/>
          </a:ln>
        </p:spPr>
      </p:sp>
      <p:sp>
        <p:nvSpPr>
          <p:cNvPr id="44" name="Rectangle 43">
            <a:extLst>
              <a:ext uri="{FF2B5EF4-FFF2-40B4-BE49-F238E27FC236}">
                <a16:creationId xmlns:a16="http://schemas.microsoft.com/office/drawing/2014/main" id="{0A02EA06-132D-422B-A46E-F497FBCD4CDD}"/>
              </a:ext>
            </a:extLst>
          </p:cNvPr>
          <p:cNvSpPr>
            <a:spLocks noGrp="1"/>
          </p:cNvSpPr>
          <p:nvPr/>
        </p:nvSpPr>
        <p:spPr>
          <a:xfrm>
            <a:off x="609600" y="4514850"/>
            <a:ext cx="66675" cy="838200"/>
          </a:xfrm>
          <a:prstGeom prst="rect">
            <a:avLst/>
          </a:prstGeom>
          <a:solidFill>
            <a:srgbClr val="D71E28"/>
          </a:solidFill>
          <a:ln w="9525">
            <a:solidFill>
              <a:srgbClr val="D71E28"/>
            </a:solidFill>
            <a:prstDash val="solid"/>
          </a:ln>
        </p:spPr>
      </p:sp>
      <p:sp>
        <p:nvSpPr>
          <p:cNvPr id="45" name="Rectangle 44">
            <a:extLst>
              <a:ext uri="{FF2B5EF4-FFF2-40B4-BE49-F238E27FC236}">
                <a16:creationId xmlns:a16="http://schemas.microsoft.com/office/drawing/2014/main" id="{80C54FCD-2F80-430D-BCE1-CE8154F41C8A}"/>
              </a:ext>
            </a:extLst>
          </p:cNvPr>
          <p:cNvSpPr>
            <a:spLocks noGrp="1"/>
          </p:cNvSpPr>
          <p:nvPr/>
        </p:nvSpPr>
        <p:spPr>
          <a:xfrm>
            <a:off x="762000" y="4724400"/>
            <a:ext cx="2171700" cy="457200"/>
          </a:xfrm>
          <a:prstGeom prst="rect">
            <a:avLst/>
          </a:prstGeom>
          <a:noFill/>
          <a:ln w="0">
            <a:noFill/>
            <a:prstDash val="solid"/>
          </a:ln>
        </p:spPr>
        <p:txBody>
          <a:bodyPr lIns="0" tIns="0" rIns="0" bIns="0" anchor="t">
            <a:noAutofit/>
          </a:bodyPr>
          <a:lstStyle/>
          <a:p>
            <a:pPr algn="l">
              <a:lnSpc>
                <a:spcPct val="100000"/>
              </a:lnSpc>
              <a:buNone/>
              <a:defRPr sz="1275" b="1">
                <a:solidFill>
                  <a:srgbClr val="971B2F"/>
                </a:solidFill>
                <a:latin typeface="Aptos"/>
                <a:ea typeface="Aptos"/>
                <a:cs typeface="Aptos"/>
              </a:defRPr>
            </a:pPr>
            <a:r>
              <a:rPr sz="1275" b="1">
                <a:solidFill>
                  <a:srgbClr val="971B2F"/>
                </a:solidFill>
                <a:latin typeface="Aptos"/>
                <a:ea typeface="Aptos"/>
                <a:cs typeface="Aptos"/>
              </a:rPr>
              <a:t>MCP + DuckDB + Parquet</a:t>
            </a:r>
          </a:p>
        </p:txBody>
      </p:sp>
      <p:sp>
        <p:nvSpPr>
          <p:cNvPr id="46" name="Rectangle 45">
            <a:extLst>
              <a:ext uri="{FF2B5EF4-FFF2-40B4-BE49-F238E27FC236}">
                <a16:creationId xmlns:a16="http://schemas.microsoft.com/office/drawing/2014/main" id="{EC29AA1D-C359-4F42-A5C2-EAE74E9CA904}"/>
              </a:ext>
            </a:extLst>
          </p:cNvPr>
          <p:cNvSpPr>
            <a:spLocks noGrp="1"/>
          </p:cNvSpPr>
          <p:nvPr/>
        </p:nvSpPr>
        <p:spPr>
          <a:xfrm>
            <a:off x="3219450" y="4676775"/>
            <a:ext cx="2762250" cy="514350"/>
          </a:xfrm>
          <a:prstGeom prst="rect">
            <a:avLst/>
          </a:prstGeom>
          <a:noFill/>
          <a:ln w="0">
            <a:noFill/>
            <a:prstDash val="solid"/>
          </a:ln>
        </p:spPr>
        <p:txBody>
          <a:bodyPr lIns="0" tIns="0" rIns="0" bIns="0" anchor="t">
            <a:noAutofit/>
          </a:bodyPr>
          <a:lstStyle/>
          <a:p>
            <a:pPr algn="l">
              <a:lnSpc>
                <a:spcPct val="105000"/>
              </a:lnSpc>
              <a:buNone/>
              <a:defRPr sz="1200" b="0">
                <a:solidFill>
                  <a:srgbClr val="3F4953"/>
                </a:solidFill>
                <a:latin typeface="Aptos"/>
                <a:ea typeface="Aptos"/>
                <a:cs typeface="Aptos"/>
              </a:defRPr>
            </a:pPr>
            <a:r>
              <a:rPr sz="1200" b="0">
                <a:solidFill>
                  <a:srgbClr val="3F4953"/>
                </a:solidFill>
                <a:latin typeface="Aptos"/>
                <a:ea typeface="Aptos"/>
                <a:cs typeface="Aptos"/>
              </a:rPr>
              <a:t>Flexible questions through governed tools</a:t>
            </a:r>
          </a:p>
        </p:txBody>
      </p:sp>
      <p:sp>
        <p:nvSpPr>
          <p:cNvPr id="47" name="Rectangle 46">
            <a:extLst>
              <a:ext uri="{FF2B5EF4-FFF2-40B4-BE49-F238E27FC236}">
                <a16:creationId xmlns:a16="http://schemas.microsoft.com/office/drawing/2014/main" id="{2B79FB9A-C8C2-48BE-9B49-61BE38C84C76}"/>
              </a:ext>
            </a:extLst>
          </p:cNvPr>
          <p:cNvSpPr>
            <a:spLocks noGrp="1"/>
          </p:cNvSpPr>
          <p:nvPr/>
        </p:nvSpPr>
        <p:spPr>
          <a:xfrm>
            <a:off x="6267450" y="4676775"/>
            <a:ext cx="2762250" cy="514350"/>
          </a:xfrm>
          <a:prstGeom prst="rect">
            <a:avLst/>
          </a:prstGeom>
          <a:noFill/>
          <a:ln w="0">
            <a:noFill/>
            <a:prstDash val="solid"/>
          </a:ln>
        </p:spPr>
        <p:txBody>
          <a:bodyPr lIns="0" tIns="0" rIns="0" bIns="0" anchor="t">
            <a:noAutofit/>
          </a:bodyPr>
          <a:lstStyle/>
          <a:p>
            <a:pPr algn="l">
              <a:lnSpc>
                <a:spcPct val="105000"/>
              </a:lnSpc>
              <a:buNone/>
              <a:defRPr sz="1200" b="0">
                <a:solidFill>
                  <a:srgbClr val="3F4953"/>
                </a:solidFill>
                <a:latin typeface="Aptos"/>
                <a:ea typeface="Aptos"/>
                <a:cs typeface="Aptos"/>
              </a:defRPr>
            </a:pPr>
            <a:r>
              <a:rPr sz="1200" b="0">
                <a:solidFill>
                  <a:srgbClr val="3F4953"/>
                </a:solidFill>
                <a:latin typeface="Aptos"/>
                <a:ea typeface="Aptos"/>
                <a:cs typeface="Aptos"/>
              </a:rPr>
              <a:t>Requires strong tests, contracts, and setup</a:t>
            </a:r>
          </a:p>
        </p:txBody>
      </p:sp>
      <p:sp>
        <p:nvSpPr>
          <p:cNvPr id="48" name="Rectangle: Rounded Corners 47">
            <a:extLst>
              <a:ext uri="{FF2B5EF4-FFF2-40B4-BE49-F238E27FC236}">
                <a16:creationId xmlns:a16="http://schemas.microsoft.com/office/drawing/2014/main" id="{E5202EDD-904B-40DD-8379-BEE55D543851}"/>
              </a:ext>
            </a:extLst>
          </p:cNvPr>
          <p:cNvSpPr>
            <a:spLocks noGrp="1"/>
          </p:cNvSpPr>
          <p:nvPr/>
        </p:nvSpPr>
        <p:spPr>
          <a:xfrm>
            <a:off x="9686925" y="4791075"/>
            <a:ext cx="1066800" cy="266700"/>
          </a:xfrm>
          <a:prstGeom prst="roundRect">
            <a:avLst>
              <a:gd name="adj" fmla="val 50000"/>
            </a:avLst>
          </a:prstGeom>
          <a:solidFill>
            <a:srgbClr val="D71E28"/>
          </a:solidFill>
          <a:ln w="9525">
            <a:solidFill>
              <a:srgbClr val="D71E28"/>
            </a:solidFill>
            <a:prstDash val="solid"/>
          </a:ln>
        </p:spPr>
        <p:txBody>
          <a:bodyPr lIns="76200" tIns="0" rIns="76200" bIns="0" anchor="ctr"/>
          <a:lstStyle/>
          <a:p>
            <a:pPr algn="ctr">
              <a:defRPr sz="900" b="1">
                <a:solidFill>
                  <a:srgbClr val="FFFFFF"/>
                </a:solidFill>
                <a:latin typeface="Aptos"/>
                <a:ea typeface="Aptos"/>
                <a:cs typeface="Aptos"/>
              </a:defRPr>
            </a:pPr>
            <a:r>
              <a:rPr sz="900" b="1">
                <a:solidFill>
                  <a:srgbClr val="FFFFFF"/>
                </a:solidFill>
                <a:latin typeface="Aptos"/>
                <a:ea typeface="Aptos"/>
                <a:cs typeface="Aptos"/>
              </a:rPr>
              <a:t>SELECTED</a:t>
            </a:r>
          </a:p>
        </p:txBody>
      </p:sp>
      <p:sp>
        <p:nvSpPr>
          <p:cNvPr id="49" name="Rectangle: Rounded Corners 48">
            <a:extLst>
              <a:ext uri="{FF2B5EF4-FFF2-40B4-BE49-F238E27FC236}">
                <a16:creationId xmlns:a16="http://schemas.microsoft.com/office/drawing/2014/main" id="{E7335370-D23C-43CB-AB0C-97DEBF502494}"/>
              </a:ext>
            </a:extLst>
          </p:cNvPr>
          <p:cNvSpPr>
            <a:spLocks noGrp="1"/>
          </p:cNvSpPr>
          <p:nvPr/>
        </p:nvSpPr>
        <p:spPr>
          <a:xfrm>
            <a:off x="609600" y="5638800"/>
            <a:ext cx="10668000" cy="514350"/>
          </a:xfrm>
          <a:prstGeom prst="roundRect">
            <a:avLst>
              <a:gd name="adj" fmla="val 18519"/>
            </a:avLst>
          </a:prstGeom>
          <a:solidFill>
            <a:srgbClr val="EEF1F4"/>
          </a:solidFill>
          <a:ln w="9525">
            <a:solidFill>
              <a:srgbClr val="D7DCE2"/>
            </a:solidFill>
            <a:prstDash val="solid"/>
          </a:ln>
        </p:spPr>
      </p:sp>
      <p:sp>
        <p:nvSpPr>
          <p:cNvPr id="50" name="Rectangle 49">
            <a:extLst>
              <a:ext uri="{FF2B5EF4-FFF2-40B4-BE49-F238E27FC236}">
                <a16:creationId xmlns:a16="http://schemas.microsoft.com/office/drawing/2014/main" id="{634917A0-AFCF-4BC8-A1DC-35D05D0F3310}"/>
              </a:ext>
            </a:extLst>
          </p:cNvPr>
          <p:cNvSpPr>
            <a:spLocks noGrp="1"/>
          </p:cNvSpPr>
          <p:nvPr/>
        </p:nvSpPr>
        <p:spPr>
          <a:xfrm>
            <a:off x="800100" y="5800725"/>
            <a:ext cx="10287000" cy="209550"/>
          </a:xfrm>
          <a:prstGeom prst="rect">
            <a:avLst/>
          </a:prstGeom>
          <a:noFill/>
          <a:ln w="0">
            <a:noFill/>
            <a:prstDash val="solid"/>
          </a:ln>
        </p:spPr>
        <p:txBody>
          <a:bodyPr lIns="0" tIns="0" rIns="0" bIns="0" anchor="t">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Selection logic: flexible questions  +  governed tool boundary  +  analytics directly over existing date-partitioned files</a:t>
            </a:r>
          </a:p>
        </p:txBody>
      </p:sp>
    </p:spTree>
    <p:extLst>
      <p:ext uri="{BB962C8B-B14F-4D97-AF65-F5344CB8AC3E}">
        <p14:creationId xmlns:p14="http://schemas.microsoft.com/office/powerpoint/2010/main" val="1602872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93727516-05E4-40A4-AC20-CCD35B450778}"/>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B0D40164-C595-4161-BD17-F956941A86D9}"/>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ARCHITECTURE</a:t>
            </a:r>
          </a:p>
        </p:txBody>
      </p:sp>
      <p:sp>
        <p:nvSpPr>
          <p:cNvPr id="3" name="Rectangle 2">
            <a:extLst>
              <a:ext uri="{FF2B5EF4-FFF2-40B4-BE49-F238E27FC236}">
                <a16:creationId xmlns:a16="http://schemas.microsoft.com/office/drawing/2014/main" id="{8F23E1E6-CADF-400A-8B87-A3652E8072BB}"/>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FastMCP, DuckDB, and Parquet form the technical core</a:t>
            </a:r>
          </a:p>
        </p:txBody>
      </p:sp>
      <p:sp>
        <p:nvSpPr>
          <p:cNvPr id="4" name="Straight Connector 3">
            <a:extLst>
              <a:ext uri="{FF2B5EF4-FFF2-40B4-BE49-F238E27FC236}">
                <a16:creationId xmlns:a16="http://schemas.microsoft.com/office/drawing/2014/main" id="{BBEB9663-22C4-4C41-A2E8-F2563ACFCCB2}"/>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3E972B15-9EC4-43F4-B147-D08E5F34B3DD}"/>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8C628610-FDD9-4B90-B444-0D0B52572288}"/>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08</a:t>
            </a:r>
          </a:p>
        </p:txBody>
      </p:sp>
      <p:sp>
        <p:nvSpPr>
          <p:cNvPr id="7" name="Rectangle 6">
            <a:extLst>
              <a:ext uri="{FF2B5EF4-FFF2-40B4-BE49-F238E27FC236}">
                <a16:creationId xmlns:a16="http://schemas.microsoft.com/office/drawing/2014/main" id="{90ACF0E5-9923-42EF-959C-7057CB55554D}"/>
              </a:ext>
            </a:extLst>
          </p:cNvPr>
          <p:cNvSpPr>
            <a:spLocks noGrp="1"/>
          </p:cNvSpPr>
          <p:nvPr/>
        </p:nvSpPr>
        <p:spPr>
          <a:xfrm>
            <a:off x="609600" y="1104900"/>
            <a:ext cx="1038225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The architecture separates conversational intent, governed functions, analytical execution, and data storage.</a:t>
            </a:r>
          </a:p>
        </p:txBody>
      </p:sp>
      <p:sp>
        <p:nvSpPr>
          <p:cNvPr id="8" name="Straight Connector 7">
            <a:extLst>
              <a:ext uri="{FF2B5EF4-FFF2-40B4-BE49-F238E27FC236}">
                <a16:creationId xmlns:a16="http://schemas.microsoft.com/office/drawing/2014/main" id="{7781646A-2425-401E-A5A5-60B3F44B65EB}"/>
              </a:ext>
            </a:extLst>
          </p:cNvPr>
          <p:cNvSpPr>
            <a:spLocks noGrp="1"/>
          </p:cNvSpPr>
          <p:nvPr/>
        </p:nvSpPr>
        <p:spPr>
          <a:xfrm>
            <a:off x="6096000" y="2133600"/>
            <a:ext cx="9525" cy="142875"/>
          </a:xfrm>
          <a:prstGeom prst="line">
            <a:avLst/>
          </a:prstGeom>
          <a:noFill/>
          <a:ln w="28575">
            <a:solidFill>
              <a:srgbClr val="D71E28"/>
            </a:solidFill>
            <a:prstDash val="solid"/>
          </a:ln>
        </p:spPr>
      </p:sp>
      <p:sp>
        <p:nvSpPr>
          <p:cNvPr id="9" name="Straight Connector 8">
            <a:extLst>
              <a:ext uri="{FF2B5EF4-FFF2-40B4-BE49-F238E27FC236}">
                <a16:creationId xmlns:a16="http://schemas.microsoft.com/office/drawing/2014/main" id="{E14DB703-E624-4E54-B51A-883C6769A6B0}"/>
              </a:ext>
            </a:extLst>
          </p:cNvPr>
          <p:cNvSpPr>
            <a:spLocks noGrp="1"/>
          </p:cNvSpPr>
          <p:nvPr/>
        </p:nvSpPr>
        <p:spPr>
          <a:xfrm>
            <a:off x="6096000" y="2981325"/>
            <a:ext cx="9525" cy="142875"/>
          </a:xfrm>
          <a:prstGeom prst="line">
            <a:avLst/>
          </a:prstGeom>
          <a:noFill/>
          <a:ln w="28575">
            <a:solidFill>
              <a:srgbClr val="D71E28"/>
            </a:solidFill>
            <a:prstDash val="solid"/>
          </a:ln>
        </p:spPr>
      </p:sp>
      <p:sp>
        <p:nvSpPr>
          <p:cNvPr id="10" name="Straight Connector 9">
            <a:extLst>
              <a:ext uri="{FF2B5EF4-FFF2-40B4-BE49-F238E27FC236}">
                <a16:creationId xmlns:a16="http://schemas.microsoft.com/office/drawing/2014/main" id="{D36DBCCE-B0DA-4817-950A-7DA2C36B1953}"/>
              </a:ext>
            </a:extLst>
          </p:cNvPr>
          <p:cNvSpPr>
            <a:spLocks noGrp="1"/>
          </p:cNvSpPr>
          <p:nvPr/>
        </p:nvSpPr>
        <p:spPr>
          <a:xfrm>
            <a:off x="6096000" y="3829050"/>
            <a:ext cx="9525" cy="142875"/>
          </a:xfrm>
          <a:prstGeom prst="line">
            <a:avLst/>
          </a:prstGeom>
          <a:noFill/>
          <a:ln w="28575">
            <a:solidFill>
              <a:srgbClr val="D71E28"/>
            </a:solidFill>
            <a:prstDash val="solid"/>
          </a:ln>
        </p:spPr>
      </p:sp>
      <p:sp>
        <p:nvSpPr>
          <p:cNvPr id="11" name="Straight Connector 10">
            <a:extLst>
              <a:ext uri="{FF2B5EF4-FFF2-40B4-BE49-F238E27FC236}">
                <a16:creationId xmlns:a16="http://schemas.microsoft.com/office/drawing/2014/main" id="{9425116E-F229-49D4-8566-C51C39A12440}"/>
              </a:ext>
            </a:extLst>
          </p:cNvPr>
          <p:cNvSpPr>
            <a:spLocks noGrp="1"/>
          </p:cNvSpPr>
          <p:nvPr/>
        </p:nvSpPr>
        <p:spPr>
          <a:xfrm>
            <a:off x="6096000" y="4676775"/>
            <a:ext cx="9525" cy="142875"/>
          </a:xfrm>
          <a:prstGeom prst="line">
            <a:avLst/>
          </a:prstGeom>
          <a:noFill/>
          <a:ln w="28575">
            <a:solidFill>
              <a:srgbClr val="D71E28"/>
            </a:solidFill>
            <a:prstDash val="solid"/>
          </a:ln>
        </p:spPr>
      </p:sp>
      <p:sp>
        <p:nvSpPr>
          <p:cNvPr id="12" name="Straight Connector 11">
            <a:extLst>
              <a:ext uri="{FF2B5EF4-FFF2-40B4-BE49-F238E27FC236}">
                <a16:creationId xmlns:a16="http://schemas.microsoft.com/office/drawing/2014/main" id="{3A9CE7C5-4B0E-4046-9DC9-2417909E2C41}"/>
              </a:ext>
            </a:extLst>
          </p:cNvPr>
          <p:cNvSpPr>
            <a:spLocks noGrp="1"/>
          </p:cNvSpPr>
          <p:nvPr/>
        </p:nvSpPr>
        <p:spPr>
          <a:xfrm>
            <a:off x="6096000" y="5524500"/>
            <a:ext cx="9525" cy="142875"/>
          </a:xfrm>
          <a:prstGeom prst="line">
            <a:avLst/>
          </a:prstGeom>
          <a:noFill/>
          <a:ln w="28575">
            <a:solidFill>
              <a:srgbClr val="D71E28"/>
            </a:solidFill>
            <a:prstDash val="solid"/>
          </a:ln>
        </p:spPr>
      </p:sp>
      <p:sp>
        <p:nvSpPr>
          <p:cNvPr id="13" name="Rectangle: Rounded Corners 12">
            <a:extLst>
              <a:ext uri="{FF2B5EF4-FFF2-40B4-BE49-F238E27FC236}">
                <a16:creationId xmlns:a16="http://schemas.microsoft.com/office/drawing/2014/main" id="{DAD6153E-EAF7-4309-B5CC-C213D1A08512}"/>
              </a:ext>
            </a:extLst>
          </p:cNvPr>
          <p:cNvSpPr>
            <a:spLocks noGrp="1"/>
          </p:cNvSpPr>
          <p:nvPr/>
        </p:nvSpPr>
        <p:spPr>
          <a:xfrm>
            <a:off x="3486150" y="1562100"/>
            <a:ext cx="5219700" cy="571500"/>
          </a:xfrm>
          <a:prstGeom prst="roundRect">
            <a:avLst>
              <a:gd name="adj" fmla="val 20000"/>
            </a:avLst>
          </a:prstGeom>
          <a:solidFill>
            <a:schemeClr val="accent6">
              <a:lumMod val="50000"/>
            </a:schemeClr>
          </a:solidFill>
          <a:ln w="9525">
            <a:solidFill>
              <a:srgbClr val="20252B"/>
            </a:solidFill>
            <a:prstDash val="solid"/>
          </a:ln>
        </p:spPr>
      </p:sp>
      <p:sp>
        <p:nvSpPr>
          <p:cNvPr id="14" name="Rectangle 13">
            <a:extLst>
              <a:ext uri="{FF2B5EF4-FFF2-40B4-BE49-F238E27FC236}">
                <a16:creationId xmlns:a16="http://schemas.microsoft.com/office/drawing/2014/main" id="{63376687-30E0-401D-904D-4EAB0850A6B7}"/>
              </a:ext>
            </a:extLst>
          </p:cNvPr>
          <p:cNvSpPr>
            <a:spLocks noGrp="1"/>
          </p:cNvSpPr>
          <p:nvPr/>
        </p:nvSpPr>
        <p:spPr>
          <a:xfrm>
            <a:off x="3695700" y="1657350"/>
            <a:ext cx="4800600" cy="209550"/>
          </a:xfrm>
          <a:prstGeom prst="rect">
            <a:avLst/>
          </a:prstGeom>
          <a:noFill/>
          <a:ln w="0">
            <a:noFill/>
            <a:prstDash val="solid"/>
          </a:ln>
        </p:spPr>
        <p:txBody>
          <a:bodyPr lIns="0" tIns="0" rIns="0" bIns="0" anchor="t">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ANALYST</a:t>
            </a:r>
          </a:p>
        </p:txBody>
      </p:sp>
      <p:sp>
        <p:nvSpPr>
          <p:cNvPr id="15" name="Rectangle 14">
            <a:extLst>
              <a:ext uri="{FF2B5EF4-FFF2-40B4-BE49-F238E27FC236}">
                <a16:creationId xmlns:a16="http://schemas.microsoft.com/office/drawing/2014/main" id="{431AB8B8-9765-43BD-9F8B-383FA83324CF}"/>
              </a:ext>
            </a:extLst>
          </p:cNvPr>
          <p:cNvSpPr>
            <a:spLocks noGrp="1"/>
          </p:cNvSpPr>
          <p:nvPr/>
        </p:nvSpPr>
        <p:spPr>
          <a:xfrm>
            <a:off x="3695700" y="1895475"/>
            <a:ext cx="4800600" cy="190500"/>
          </a:xfrm>
          <a:prstGeom prst="rect">
            <a:avLst/>
          </a:prstGeom>
          <a:noFill/>
          <a:ln w="0">
            <a:noFill/>
            <a:prstDash val="solid"/>
          </a:ln>
        </p:spPr>
        <p:txBody>
          <a:bodyPr lIns="0" tIns="0" rIns="0" bIns="0" anchor="t">
            <a:noAutofit/>
          </a:bodyPr>
          <a:lstStyle/>
          <a:p>
            <a:pPr algn="ctr">
              <a:lnSpc>
                <a:spcPct val="100000"/>
              </a:lnSpc>
              <a:buNone/>
              <a:defRPr sz="1200" b="0">
                <a:solidFill>
                  <a:srgbClr val="F2E7DF"/>
                </a:solidFill>
                <a:latin typeface="Aptos"/>
                <a:ea typeface="Aptos"/>
                <a:cs typeface="Aptos"/>
              </a:defRPr>
            </a:pPr>
            <a:r>
              <a:rPr sz="1200" b="0">
                <a:solidFill>
                  <a:srgbClr val="F2E7DF"/>
                </a:solidFill>
                <a:latin typeface="Aptos"/>
                <a:ea typeface="Aptos"/>
                <a:cs typeface="Aptos"/>
              </a:rPr>
              <a:t>Business question and review</a:t>
            </a:r>
          </a:p>
        </p:txBody>
      </p:sp>
      <p:sp>
        <p:nvSpPr>
          <p:cNvPr id="16" name="Rectangle: Rounded Corners 15">
            <a:extLst>
              <a:ext uri="{FF2B5EF4-FFF2-40B4-BE49-F238E27FC236}">
                <a16:creationId xmlns:a16="http://schemas.microsoft.com/office/drawing/2014/main" id="{465065BF-3871-4E8A-B15B-CAB7A99A3C12}"/>
              </a:ext>
            </a:extLst>
          </p:cNvPr>
          <p:cNvSpPr>
            <a:spLocks noGrp="1"/>
          </p:cNvSpPr>
          <p:nvPr/>
        </p:nvSpPr>
        <p:spPr>
          <a:xfrm>
            <a:off x="3486150" y="2352675"/>
            <a:ext cx="5219700" cy="628650"/>
          </a:xfrm>
          <a:prstGeom prst="roundRect">
            <a:avLst>
              <a:gd name="adj" fmla="val 18182"/>
            </a:avLst>
          </a:prstGeom>
          <a:solidFill>
            <a:srgbClr val="FFFFFF"/>
          </a:solidFill>
          <a:ln w="9525">
            <a:solidFill>
              <a:srgbClr val="D7DCE2"/>
            </a:solidFill>
            <a:prstDash val="solid"/>
          </a:ln>
        </p:spPr>
      </p:sp>
      <p:sp>
        <p:nvSpPr>
          <p:cNvPr id="17" name="Rectangle 16">
            <a:extLst>
              <a:ext uri="{FF2B5EF4-FFF2-40B4-BE49-F238E27FC236}">
                <a16:creationId xmlns:a16="http://schemas.microsoft.com/office/drawing/2014/main" id="{46641E30-48C2-4F9D-9188-578F3CA7A742}"/>
              </a:ext>
            </a:extLst>
          </p:cNvPr>
          <p:cNvSpPr>
            <a:spLocks noGrp="1"/>
          </p:cNvSpPr>
          <p:nvPr/>
        </p:nvSpPr>
        <p:spPr>
          <a:xfrm>
            <a:off x="3695700" y="2447925"/>
            <a:ext cx="4800600" cy="209550"/>
          </a:xfrm>
          <a:prstGeom prst="rect">
            <a:avLst/>
          </a:prstGeom>
          <a:noFill/>
          <a:ln w="0">
            <a:noFill/>
            <a:prstDash val="solid"/>
          </a:ln>
        </p:spPr>
        <p:txBody>
          <a:bodyPr lIns="0" tIns="0" rIns="0" bIns="0" anchor="t">
            <a:noAutofit/>
          </a:bodyPr>
          <a:lstStyle/>
          <a:p>
            <a:pPr algn="ctr">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LLM / MCP CLIENT</a:t>
            </a:r>
          </a:p>
        </p:txBody>
      </p:sp>
      <p:sp>
        <p:nvSpPr>
          <p:cNvPr id="18" name="Rectangle 17">
            <a:extLst>
              <a:ext uri="{FF2B5EF4-FFF2-40B4-BE49-F238E27FC236}">
                <a16:creationId xmlns:a16="http://schemas.microsoft.com/office/drawing/2014/main" id="{81D6E14D-2BBF-4F2F-A5B7-05AFFCCFACAE}"/>
              </a:ext>
            </a:extLst>
          </p:cNvPr>
          <p:cNvSpPr>
            <a:spLocks noGrp="1"/>
          </p:cNvSpPr>
          <p:nvPr/>
        </p:nvSpPr>
        <p:spPr>
          <a:xfrm>
            <a:off x="3695700" y="2686050"/>
            <a:ext cx="4800600" cy="190500"/>
          </a:xfrm>
          <a:prstGeom prst="rect">
            <a:avLst/>
          </a:prstGeom>
          <a:noFill/>
          <a:ln w="0">
            <a:noFill/>
            <a:prstDash val="solid"/>
          </a:ln>
        </p:spPr>
        <p:txBody>
          <a:bodyPr lIns="0" tIns="0" rIns="0" bIns="0" anchor="t">
            <a:noAutofit/>
          </a:bodyPr>
          <a:lstStyle/>
          <a:p>
            <a:pPr algn="ctr">
              <a:lnSpc>
                <a:spcPct val="100000"/>
              </a:lnSpc>
              <a:buNone/>
              <a:defRPr sz="1200" b="0">
                <a:solidFill>
                  <a:srgbClr val="5D6772"/>
                </a:solidFill>
                <a:latin typeface="Aptos"/>
                <a:ea typeface="Aptos"/>
                <a:cs typeface="Aptos"/>
              </a:defRPr>
            </a:pPr>
            <a:r>
              <a:rPr sz="1200" b="0">
                <a:solidFill>
                  <a:srgbClr val="5D6772"/>
                </a:solidFill>
                <a:latin typeface="Aptos"/>
                <a:ea typeface="Aptos"/>
                <a:cs typeface="Aptos"/>
              </a:rPr>
              <a:t>Interpret intent and select tools</a:t>
            </a:r>
          </a:p>
        </p:txBody>
      </p:sp>
      <p:sp>
        <p:nvSpPr>
          <p:cNvPr id="19" name="Rectangle: Rounded Corners 18">
            <a:extLst>
              <a:ext uri="{FF2B5EF4-FFF2-40B4-BE49-F238E27FC236}">
                <a16:creationId xmlns:a16="http://schemas.microsoft.com/office/drawing/2014/main" id="{7C237DD7-05DB-4508-B1F5-66059B5094B4}"/>
              </a:ext>
            </a:extLst>
          </p:cNvPr>
          <p:cNvSpPr>
            <a:spLocks noGrp="1"/>
          </p:cNvSpPr>
          <p:nvPr/>
        </p:nvSpPr>
        <p:spPr>
          <a:xfrm>
            <a:off x="3486150" y="3200400"/>
            <a:ext cx="5219700" cy="628650"/>
          </a:xfrm>
          <a:prstGeom prst="roundRect">
            <a:avLst>
              <a:gd name="adj" fmla="val 18182"/>
            </a:avLst>
          </a:prstGeom>
          <a:solidFill>
            <a:srgbClr val="D71E28"/>
          </a:solidFill>
          <a:ln w="9525">
            <a:solidFill>
              <a:srgbClr val="D71E28"/>
            </a:solidFill>
            <a:prstDash val="solid"/>
          </a:ln>
        </p:spPr>
      </p:sp>
      <p:sp>
        <p:nvSpPr>
          <p:cNvPr id="20" name="Rectangle 19">
            <a:extLst>
              <a:ext uri="{FF2B5EF4-FFF2-40B4-BE49-F238E27FC236}">
                <a16:creationId xmlns:a16="http://schemas.microsoft.com/office/drawing/2014/main" id="{E1706C6D-3FAC-45F3-B8CE-09870C68DE24}"/>
              </a:ext>
            </a:extLst>
          </p:cNvPr>
          <p:cNvSpPr>
            <a:spLocks noGrp="1"/>
          </p:cNvSpPr>
          <p:nvPr/>
        </p:nvSpPr>
        <p:spPr>
          <a:xfrm>
            <a:off x="3695700" y="3295650"/>
            <a:ext cx="4800600" cy="209550"/>
          </a:xfrm>
          <a:prstGeom prst="rect">
            <a:avLst/>
          </a:prstGeom>
          <a:noFill/>
          <a:ln w="0">
            <a:noFill/>
            <a:prstDash val="solid"/>
          </a:ln>
        </p:spPr>
        <p:txBody>
          <a:bodyPr lIns="0" tIns="0" rIns="0" bIns="0" anchor="t">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server.py / FastMCP</a:t>
            </a:r>
          </a:p>
        </p:txBody>
      </p:sp>
      <p:sp>
        <p:nvSpPr>
          <p:cNvPr id="21" name="Rectangle 20">
            <a:extLst>
              <a:ext uri="{FF2B5EF4-FFF2-40B4-BE49-F238E27FC236}">
                <a16:creationId xmlns:a16="http://schemas.microsoft.com/office/drawing/2014/main" id="{D3C36C58-11DB-490F-A3EA-CA4DE5C98B62}"/>
              </a:ext>
            </a:extLst>
          </p:cNvPr>
          <p:cNvSpPr>
            <a:spLocks noGrp="1"/>
          </p:cNvSpPr>
          <p:nvPr/>
        </p:nvSpPr>
        <p:spPr>
          <a:xfrm>
            <a:off x="3695700" y="3533775"/>
            <a:ext cx="4800600" cy="190500"/>
          </a:xfrm>
          <a:prstGeom prst="rect">
            <a:avLst/>
          </a:prstGeom>
          <a:noFill/>
          <a:ln w="0">
            <a:noFill/>
            <a:prstDash val="solid"/>
          </a:ln>
        </p:spPr>
        <p:txBody>
          <a:bodyPr lIns="0" tIns="0" rIns="0" bIns="0" anchor="t">
            <a:noAutofit/>
          </a:bodyPr>
          <a:lstStyle/>
          <a:p>
            <a:pPr algn="ctr">
              <a:lnSpc>
                <a:spcPct val="100000"/>
              </a:lnSpc>
              <a:buNone/>
              <a:defRPr sz="1200" b="0">
                <a:solidFill>
                  <a:srgbClr val="F2E7DF"/>
                </a:solidFill>
                <a:latin typeface="Aptos"/>
                <a:ea typeface="Aptos"/>
                <a:cs typeface="Aptos"/>
              </a:defRPr>
            </a:pPr>
            <a:r>
              <a:rPr sz="1200" b="0">
                <a:solidFill>
                  <a:srgbClr val="F2E7DF"/>
                </a:solidFill>
                <a:latin typeface="Aptos"/>
                <a:ea typeface="Aptos"/>
                <a:cs typeface="Aptos"/>
              </a:rPr>
              <a:t>Register and expose governed tools</a:t>
            </a:r>
          </a:p>
        </p:txBody>
      </p:sp>
      <p:sp>
        <p:nvSpPr>
          <p:cNvPr id="22" name="Rectangle: Rounded Corners 21">
            <a:extLst>
              <a:ext uri="{FF2B5EF4-FFF2-40B4-BE49-F238E27FC236}">
                <a16:creationId xmlns:a16="http://schemas.microsoft.com/office/drawing/2014/main" id="{3D25B261-3871-4B71-B6D4-C458F8FFA9AD}"/>
              </a:ext>
            </a:extLst>
          </p:cNvPr>
          <p:cNvSpPr>
            <a:spLocks noGrp="1"/>
          </p:cNvSpPr>
          <p:nvPr/>
        </p:nvSpPr>
        <p:spPr>
          <a:xfrm>
            <a:off x="3486150" y="4048125"/>
            <a:ext cx="5219700" cy="628650"/>
          </a:xfrm>
          <a:prstGeom prst="roundRect">
            <a:avLst>
              <a:gd name="adj" fmla="val 18182"/>
            </a:avLst>
          </a:prstGeom>
          <a:solidFill>
            <a:srgbClr val="EEF1F4"/>
          </a:solidFill>
          <a:ln w="9525">
            <a:solidFill>
              <a:srgbClr val="EEF1F4"/>
            </a:solidFill>
            <a:prstDash val="solid"/>
          </a:ln>
        </p:spPr>
      </p:sp>
      <p:sp>
        <p:nvSpPr>
          <p:cNvPr id="23" name="Rectangle 22">
            <a:extLst>
              <a:ext uri="{FF2B5EF4-FFF2-40B4-BE49-F238E27FC236}">
                <a16:creationId xmlns:a16="http://schemas.microsoft.com/office/drawing/2014/main" id="{147EC229-2FFE-4B66-9A69-476FD40AFF73}"/>
              </a:ext>
            </a:extLst>
          </p:cNvPr>
          <p:cNvSpPr>
            <a:spLocks noGrp="1"/>
          </p:cNvSpPr>
          <p:nvPr/>
        </p:nvSpPr>
        <p:spPr>
          <a:xfrm>
            <a:off x="3695700" y="4143375"/>
            <a:ext cx="4800600" cy="209550"/>
          </a:xfrm>
          <a:prstGeom prst="rect">
            <a:avLst/>
          </a:prstGeom>
          <a:noFill/>
          <a:ln w="0">
            <a:noFill/>
            <a:prstDash val="solid"/>
          </a:ln>
        </p:spPr>
        <p:txBody>
          <a:bodyPr lIns="0" tIns="0" rIns="0" bIns="0" anchor="t">
            <a:noAutofit/>
          </a:bodyPr>
          <a:lstStyle/>
          <a:p>
            <a:pPr algn="ctr">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P0 CORE  •  P1 EXPLORATION  •  P2 ANALYTICS</a:t>
            </a:r>
          </a:p>
        </p:txBody>
      </p:sp>
      <p:sp>
        <p:nvSpPr>
          <p:cNvPr id="24" name="Rectangle 23">
            <a:extLst>
              <a:ext uri="{FF2B5EF4-FFF2-40B4-BE49-F238E27FC236}">
                <a16:creationId xmlns:a16="http://schemas.microsoft.com/office/drawing/2014/main" id="{9AAEC293-DA14-4AAD-8013-7103A209D87C}"/>
              </a:ext>
            </a:extLst>
          </p:cNvPr>
          <p:cNvSpPr>
            <a:spLocks noGrp="1"/>
          </p:cNvSpPr>
          <p:nvPr/>
        </p:nvSpPr>
        <p:spPr>
          <a:xfrm>
            <a:off x="3695700" y="4381500"/>
            <a:ext cx="4800600" cy="190500"/>
          </a:xfrm>
          <a:prstGeom prst="rect">
            <a:avLst/>
          </a:prstGeom>
          <a:noFill/>
          <a:ln w="0">
            <a:noFill/>
            <a:prstDash val="solid"/>
          </a:ln>
        </p:spPr>
        <p:txBody>
          <a:bodyPr lIns="0" tIns="0" rIns="0" bIns="0" anchor="t">
            <a:noAutofit/>
          </a:bodyPr>
          <a:lstStyle/>
          <a:p>
            <a:pPr algn="ctr">
              <a:lnSpc>
                <a:spcPct val="100000"/>
              </a:lnSpc>
              <a:buNone/>
              <a:defRPr sz="1200" b="0">
                <a:solidFill>
                  <a:srgbClr val="5D6772"/>
                </a:solidFill>
                <a:latin typeface="Aptos"/>
                <a:ea typeface="Aptos"/>
                <a:cs typeface="Aptos"/>
              </a:defRPr>
            </a:pPr>
            <a:r>
              <a:rPr sz="1200" b="0">
                <a:solidFill>
                  <a:srgbClr val="5D6772"/>
                </a:solidFill>
                <a:latin typeface="Aptos"/>
                <a:ea typeface="Aptos"/>
                <a:cs typeface="Aptos"/>
              </a:rPr>
              <a:t>Discover, inspect, summarize, and query</a:t>
            </a:r>
          </a:p>
        </p:txBody>
      </p:sp>
      <p:sp>
        <p:nvSpPr>
          <p:cNvPr id="25" name="Rectangle: Rounded Corners 24">
            <a:extLst>
              <a:ext uri="{FF2B5EF4-FFF2-40B4-BE49-F238E27FC236}">
                <a16:creationId xmlns:a16="http://schemas.microsoft.com/office/drawing/2014/main" id="{C700B861-1346-4FBF-97AA-A4A794D52F97}"/>
              </a:ext>
            </a:extLst>
          </p:cNvPr>
          <p:cNvSpPr>
            <a:spLocks noGrp="1"/>
          </p:cNvSpPr>
          <p:nvPr/>
        </p:nvSpPr>
        <p:spPr>
          <a:xfrm>
            <a:off x="3486150" y="4895850"/>
            <a:ext cx="5219700" cy="628650"/>
          </a:xfrm>
          <a:prstGeom prst="roundRect">
            <a:avLst>
              <a:gd name="adj" fmla="val 18182"/>
            </a:avLst>
          </a:prstGeom>
          <a:solidFill>
            <a:srgbClr val="FFFFFF"/>
          </a:solidFill>
          <a:ln w="9525">
            <a:solidFill>
              <a:srgbClr val="D7DCE2"/>
            </a:solidFill>
            <a:prstDash val="solid"/>
          </a:ln>
        </p:spPr>
      </p:sp>
      <p:sp>
        <p:nvSpPr>
          <p:cNvPr id="26" name="Rectangle 25">
            <a:extLst>
              <a:ext uri="{FF2B5EF4-FFF2-40B4-BE49-F238E27FC236}">
                <a16:creationId xmlns:a16="http://schemas.microsoft.com/office/drawing/2014/main" id="{46EF3786-64DF-4425-8BD6-70BC97267BA4}"/>
              </a:ext>
            </a:extLst>
          </p:cNvPr>
          <p:cNvSpPr>
            <a:spLocks noGrp="1"/>
          </p:cNvSpPr>
          <p:nvPr/>
        </p:nvSpPr>
        <p:spPr>
          <a:xfrm>
            <a:off x="3695700" y="4991100"/>
            <a:ext cx="4800600" cy="209550"/>
          </a:xfrm>
          <a:prstGeom prst="rect">
            <a:avLst/>
          </a:prstGeom>
          <a:noFill/>
          <a:ln w="0">
            <a:noFill/>
            <a:prstDash val="solid"/>
          </a:ln>
        </p:spPr>
        <p:txBody>
          <a:bodyPr lIns="0" tIns="0" rIns="0" bIns="0" anchor="t">
            <a:noAutofit/>
          </a:bodyPr>
          <a:lstStyle/>
          <a:p>
            <a:pPr algn="ctr">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DuckDB views  •  SQL safety  •  audit logging</a:t>
            </a:r>
          </a:p>
        </p:txBody>
      </p:sp>
      <p:sp>
        <p:nvSpPr>
          <p:cNvPr id="27" name="Rectangle 26">
            <a:extLst>
              <a:ext uri="{FF2B5EF4-FFF2-40B4-BE49-F238E27FC236}">
                <a16:creationId xmlns:a16="http://schemas.microsoft.com/office/drawing/2014/main" id="{0DC796D1-F5C1-4555-9250-61FAF59F3F66}"/>
              </a:ext>
            </a:extLst>
          </p:cNvPr>
          <p:cNvSpPr>
            <a:spLocks noGrp="1"/>
          </p:cNvSpPr>
          <p:nvPr/>
        </p:nvSpPr>
        <p:spPr>
          <a:xfrm>
            <a:off x="3695700" y="5229225"/>
            <a:ext cx="4800600" cy="190500"/>
          </a:xfrm>
          <a:prstGeom prst="rect">
            <a:avLst/>
          </a:prstGeom>
          <a:noFill/>
          <a:ln w="0">
            <a:noFill/>
            <a:prstDash val="solid"/>
          </a:ln>
        </p:spPr>
        <p:txBody>
          <a:bodyPr lIns="0" tIns="0" rIns="0" bIns="0" anchor="t">
            <a:noAutofit/>
          </a:bodyPr>
          <a:lstStyle/>
          <a:p>
            <a:pPr algn="ctr">
              <a:lnSpc>
                <a:spcPct val="100000"/>
              </a:lnSpc>
              <a:buNone/>
              <a:defRPr sz="1200" b="0">
                <a:solidFill>
                  <a:srgbClr val="5D6772"/>
                </a:solidFill>
                <a:latin typeface="Aptos"/>
                <a:ea typeface="Aptos"/>
                <a:cs typeface="Aptos"/>
              </a:defRPr>
            </a:pPr>
            <a:r>
              <a:rPr sz="1200" b="0">
                <a:solidFill>
                  <a:srgbClr val="5D6772"/>
                </a:solidFill>
                <a:latin typeface="Aptos"/>
                <a:ea typeface="Aptos"/>
                <a:cs typeface="Aptos"/>
              </a:rPr>
              <a:t>Execute and control analytical access</a:t>
            </a:r>
          </a:p>
        </p:txBody>
      </p:sp>
      <p:sp>
        <p:nvSpPr>
          <p:cNvPr id="28" name="Rectangle: Rounded Corners 27">
            <a:extLst>
              <a:ext uri="{FF2B5EF4-FFF2-40B4-BE49-F238E27FC236}">
                <a16:creationId xmlns:a16="http://schemas.microsoft.com/office/drawing/2014/main" id="{1284B035-6DA8-44BC-990D-A9948F61251F}"/>
              </a:ext>
            </a:extLst>
          </p:cNvPr>
          <p:cNvSpPr>
            <a:spLocks noGrp="1"/>
          </p:cNvSpPr>
          <p:nvPr/>
        </p:nvSpPr>
        <p:spPr>
          <a:xfrm>
            <a:off x="3486150" y="5743575"/>
            <a:ext cx="5219700" cy="438150"/>
          </a:xfrm>
          <a:prstGeom prst="roundRect">
            <a:avLst>
              <a:gd name="adj" fmla="val 26087"/>
            </a:avLst>
          </a:prstGeom>
          <a:solidFill>
            <a:srgbClr val="3F4953"/>
          </a:solidFill>
          <a:ln w="9525">
            <a:solidFill>
              <a:srgbClr val="3F4953"/>
            </a:solidFill>
            <a:prstDash val="solid"/>
          </a:ln>
        </p:spPr>
      </p:sp>
      <p:sp>
        <p:nvSpPr>
          <p:cNvPr id="29" name="Rectangle 28">
            <a:extLst>
              <a:ext uri="{FF2B5EF4-FFF2-40B4-BE49-F238E27FC236}">
                <a16:creationId xmlns:a16="http://schemas.microsoft.com/office/drawing/2014/main" id="{59A28144-A9A6-49A8-AF86-B5C4AA14F7A7}"/>
              </a:ext>
            </a:extLst>
          </p:cNvPr>
          <p:cNvSpPr>
            <a:spLocks noGrp="1"/>
          </p:cNvSpPr>
          <p:nvPr/>
        </p:nvSpPr>
        <p:spPr>
          <a:xfrm>
            <a:off x="3695700" y="5867400"/>
            <a:ext cx="4800600" cy="190500"/>
          </a:xfrm>
          <a:prstGeom prst="rect">
            <a:avLst/>
          </a:prstGeom>
          <a:noFill/>
          <a:ln w="0">
            <a:noFill/>
            <a:prstDash val="solid"/>
          </a:ln>
        </p:spPr>
        <p:txBody>
          <a:bodyPr lIns="0" tIns="0" rIns="0" bIns="0" anchor="t">
            <a:noAutofit/>
          </a:bodyPr>
          <a:lstStyle/>
          <a:p>
            <a:pPr algn="ctr">
              <a:lnSpc>
                <a:spcPct val="100000"/>
              </a:lnSpc>
              <a:buNone/>
              <a:defRPr sz="1275" b="1">
                <a:solidFill>
                  <a:srgbClr val="FFFFFF"/>
                </a:solidFill>
                <a:latin typeface="Aptos"/>
                <a:ea typeface="Aptos"/>
                <a:cs typeface="Aptos"/>
              </a:defRPr>
            </a:pPr>
            <a:r>
              <a:rPr sz="1275" b="1">
                <a:solidFill>
                  <a:srgbClr val="FFFFFF"/>
                </a:solidFill>
                <a:latin typeface="Aptos"/>
                <a:ea typeface="Aptos"/>
                <a:cs typeface="Aptos"/>
              </a:rPr>
              <a:t>DATE-PARTITIONED PARQUET</a:t>
            </a:r>
          </a:p>
        </p:txBody>
      </p:sp>
      <p:sp>
        <p:nvSpPr>
          <p:cNvPr id="30" name="Rectangle 29">
            <a:extLst>
              <a:ext uri="{FF2B5EF4-FFF2-40B4-BE49-F238E27FC236}">
                <a16:creationId xmlns:a16="http://schemas.microsoft.com/office/drawing/2014/main" id="{371DC48D-E67E-4197-9D63-72C989947F88}"/>
              </a:ext>
            </a:extLst>
          </p:cNvPr>
          <p:cNvSpPr>
            <a:spLocks noGrp="1"/>
          </p:cNvSpPr>
          <p:nvPr/>
        </p:nvSpPr>
        <p:spPr>
          <a:xfrm>
            <a:off x="609600" y="1590675"/>
            <a:ext cx="20955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RESPONSIBILITY</a:t>
            </a:r>
          </a:p>
        </p:txBody>
      </p:sp>
      <p:sp>
        <p:nvSpPr>
          <p:cNvPr id="31" name="Rectangle: Rounded Corners 30">
            <a:extLst>
              <a:ext uri="{FF2B5EF4-FFF2-40B4-BE49-F238E27FC236}">
                <a16:creationId xmlns:a16="http://schemas.microsoft.com/office/drawing/2014/main" id="{E1C721C3-71A6-443E-8861-2460F98AFCD4}"/>
              </a:ext>
            </a:extLst>
          </p:cNvPr>
          <p:cNvSpPr>
            <a:spLocks noGrp="1"/>
          </p:cNvSpPr>
          <p:nvPr/>
        </p:nvSpPr>
        <p:spPr>
          <a:xfrm>
            <a:off x="609600" y="1943100"/>
            <a:ext cx="2343150" cy="1066800"/>
          </a:xfrm>
          <a:prstGeom prst="roundRect">
            <a:avLst>
              <a:gd name="adj" fmla="val 10714"/>
            </a:avLst>
          </a:prstGeom>
          <a:solidFill>
            <a:srgbClr val="FFFFFF"/>
          </a:solidFill>
          <a:ln w="9525">
            <a:solidFill>
              <a:srgbClr val="D7DCE2"/>
            </a:solidFill>
            <a:prstDash val="solid"/>
          </a:ln>
        </p:spPr>
      </p:sp>
      <p:sp>
        <p:nvSpPr>
          <p:cNvPr id="32" name="Rectangle 31">
            <a:extLst>
              <a:ext uri="{FF2B5EF4-FFF2-40B4-BE49-F238E27FC236}">
                <a16:creationId xmlns:a16="http://schemas.microsoft.com/office/drawing/2014/main" id="{418B7D2F-4ACE-417D-9F4C-835E7B45F2A2}"/>
              </a:ext>
            </a:extLst>
          </p:cNvPr>
          <p:cNvSpPr>
            <a:spLocks noGrp="1"/>
          </p:cNvSpPr>
          <p:nvPr/>
        </p:nvSpPr>
        <p:spPr>
          <a:xfrm>
            <a:off x="609600" y="1943100"/>
            <a:ext cx="76200" cy="1066800"/>
          </a:xfrm>
          <a:prstGeom prst="rect">
            <a:avLst/>
          </a:prstGeom>
          <a:solidFill>
            <a:srgbClr val="D71E28"/>
          </a:solidFill>
          <a:ln w="9525">
            <a:solidFill>
              <a:srgbClr val="D71E28"/>
            </a:solidFill>
            <a:prstDash val="solid"/>
          </a:ln>
        </p:spPr>
      </p:sp>
      <p:sp>
        <p:nvSpPr>
          <p:cNvPr id="33" name="Rectangle 32">
            <a:extLst>
              <a:ext uri="{FF2B5EF4-FFF2-40B4-BE49-F238E27FC236}">
                <a16:creationId xmlns:a16="http://schemas.microsoft.com/office/drawing/2014/main" id="{60EFAC6A-82CE-4542-93D4-F5F908867A21}"/>
              </a:ext>
            </a:extLst>
          </p:cNvPr>
          <p:cNvSpPr>
            <a:spLocks noGrp="1"/>
          </p:cNvSpPr>
          <p:nvPr/>
        </p:nvSpPr>
        <p:spPr>
          <a:xfrm>
            <a:off x="838200" y="2114550"/>
            <a:ext cx="1943100" cy="228600"/>
          </a:xfrm>
          <a:prstGeom prst="rect">
            <a:avLst/>
          </a:prstGeom>
          <a:noFill/>
          <a:ln w="0">
            <a:noFill/>
            <a:prstDash val="solid"/>
          </a:ln>
        </p:spPr>
        <p:txBody>
          <a:bodyPr lIns="0" tIns="0" rIns="0" bIns="0" anchor="t">
            <a:noAutofit/>
          </a:bodyPr>
          <a:lstStyle/>
          <a:p>
            <a:pPr algn="l">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CONVERSATION</a:t>
            </a:r>
          </a:p>
        </p:txBody>
      </p:sp>
      <p:sp>
        <p:nvSpPr>
          <p:cNvPr id="34" name="Rectangle 33">
            <a:extLst>
              <a:ext uri="{FF2B5EF4-FFF2-40B4-BE49-F238E27FC236}">
                <a16:creationId xmlns:a16="http://schemas.microsoft.com/office/drawing/2014/main" id="{A83ECDA9-C58E-4FC8-B4EB-A13649EFA3F6}"/>
              </a:ext>
            </a:extLst>
          </p:cNvPr>
          <p:cNvSpPr>
            <a:spLocks noGrp="1"/>
          </p:cNvSpPr>
          <p:nvPr/>
        </p:nvSpPr>
        <p:spPr>
          <a:xfrm>
            <a:off x="838200" y="2438400"/>
            <a:ext cx="1943100" cy="438150"/>
          </a:xfrm>
          <a:prstGeom prst="rect">
            <a:avLst/>
          </a:prstGeom>
          <a:noFill/>
          <a:ln w="0">
            <a:noFill/>
            <a:prstDash val="solid"/>
          </a:ln>
        </p:spPr>
        <p:txBody>
          <a:bodyPr lIns="0" tIns="0" rIns="0" bIns="0" anchor="t">
            <a:noAutofit/>
          </a:bodyPr>
          <a:lstStyle/>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Interpret the question and choose a governed tool.</a:t>
            </a:r>
          </a:p>
        </p:txBody>
      </p:sp>
      <p:sp>
        <p:nvSpPr>
          <p:cNvPr id="35" name="Rectangle: Rounded Corners 34">
            <a:extLst>
              <a:ext uri="{FF2B5EF4-FFF2-40B4-BE49-F238E27FC236}">
                <a16:creationId xmlns:a16="http://schemas.microsoft.com/office/drawing/2014/main" id="{EEE85F06-9E7E-4162-BB9E-CD381A6D5E88}"/>
              </a:ext>
            </a:extLst>
          </p:cNvPr>
          <p:cNvSpPr>
            <a:spLocks noGrp="1"/>
          </p:cNvSpPr>
          <p:nvPr/>
        </p:nvSpPr>
        <p:spPr>
          <a:xfrm>
            <a:off x="609600" y="3333750"/>
            <a:ext cx="2343150" cy="1066800"/>
          </a:xfrm>
          <a:prstGeom prst="roundRect">
            <a:avLst>
              <a:gd name="adj" fmla="val 10714"/>
            </a:avLst>
          </a:prstGeom>
          <a:solidFill>
            <a:srgbClr val="FFFFFF"/>
          </a:solidFill>
          <a:ln w="9525">
            <a:solidFill>
              <a:srgbClr val="D7DCE2"/>
            </a:solidFill>
            <a:prstDash val="solid"/>
          </a:ln>
        </p:spPr>
      </p:sp>
      <p:sp>
        <p:nvSpPr>
          <p:cNvPr id="36" name="Rectangle 35">
            <a:extLst>
              <a:ext uri="{FF2B5EF4-FFF2-40B4-BE49-F238E27FC236}">
                <a16:creationId xmlns:a16="http://schemas.microsoft.com/office/drawing/2014/main" id="{47279528-0B09-4110-B1D7-9E9BD1DE892F}"/>
              </a:ext>
            </a:extLst>
          </p:cNvPr>
          <p:cNvSpPr>
            <a:spLocks noGrp="1"/>
          </p:cNvSpPr>
          <p:nvPr/>
        </p:nvSpPr>
        <p:spPr>
          <a:xfrm>
            <a:off x="609600" y="3333750"/>
            <a:ext cx="76200" cy="1066800"/>
          </a:xfrm>
          <a:prstGeom prst="rect">
            <a:avLst/>
          </a:prstGeom>
          <a:solidFill>
            <a:srgbClr val="2F5D73"/>
          </a:solidFill>
          <a:ln w="9525">
            <a:solidFill>
              <a:srgbClr val="2F5D73"/>
            </a:solidFill>
            <a:prstDash val="solid"/>
          </a:ln>
        </p:spPr>
      </p:sp>
      <p:sp>
        <p:nvSpPr>
          <p:cNvPr id="37" name="Rectangle 36">
            <a:extLst>
              <a:ext uri="{FF2B5EF4-FFF2-40B4-BE49-F238E27FC236}">
                <a16:creationId xmlns:a16="http://schemas.microsoft.com/office/drawing/2014/main" id="{2B7B0DD2-07F1-4D8D-B0AF-4219C621565C}"/>
              </a:ext>
            </a:extLst>
          </p:cNvPr>
          <p:cNvSpPr>
            <a:spLocks noGrp="1"/>
          </p:cNvSpPr>
          <p:nvPr/>
        </p:nvSpPr>
        <p:spPr>
          <a:xfrm>
            <a:off x="838200" y="3505200"/>
            <a:ext cx="1943100" cy="228600"/>
          </a:xfrm>
          <a:prstGeom prst="rect">
            <a:avLst/>
          </a:prstGeom>
          <a:noFill/>
          <a:ln w="0">
            <a:noFill/>
            <a:prstDash val="solid"/>
          </a:ln>
        </p:spPr>
        <p:txBody>
          <a:bodyPr lIns="0" tIns="0" rIns="0" bIns="0" anchor="t">
            <a:noAutofit/>
          </a:bodyPr>
          <a:lstStyle/>
          <a:p>
            <a:pPr algn="l">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ANALYSIS</a:t>
            </a:r>
          </a:p>
        </p:txBody>
      </p:sp>
      <p:sp>
        <p:nvSpPr>
          <p:cNvPr id="38" name="Rectangle 37">
            <a:extLst>
              <a:ext uri="{FF2B5EF4-FFF2-40B4-BE49-F238E27FC236}">
                <a16:creationId xmlns:a16="http://schemas.microsoft.com/office/drawing/2014/main" id="{FC948CCD-329C-4265-9795-82A0F471D018}"/>
              </a:ext>
            </a:extLst>
          </p:cNvPr>
          <p:cNvSpPr>
            <a:spLocks noGrp="1"/>
          </p:cNvSpPr>
          <p:nvPr/>
        </p:nvSpPr>
        <p:spPr>
          <a:xfrm>
            <a:off x="838200" y="3829050"/>
            <a:ext cx="1943100" cy="438150"/>
          </a:xfrm>
          <a:prstGeom prst="rect">
            <a:avLst/>
          </a:prstGeom>
          <a:noFill/>
          <a:ln w="0">
            <a:noFill/>
            <a:prstDash val="solid"/>
          </a:ln>
        </p:spPr>
        <p:txBody>
          <a:bodyPr lIns="0" tIns="0" rIns="0" bIns="0" anchor="t">
            <a:noAutofit/>
          </a:bodyPr>
          <a:lstStyle/>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Run analytical SQL over the required dates.</a:t>
            </a:r>
          </a:p>
        </p:txBody>
      </p:sp>
      <p:sp>
        <p:nvSpPr>
          <p:cNvPr id="39" name="Rectangle: Rounded Corners 38">
            <a:extLst>
              <a:ext uri="{FF2B5EF4-FFF2-40B4-BE49-F238E27FC236}">
                <a16:creationId xmlns:a16="http://schemas.microsoft.com/office/drawing/2014/main" id="{EA99E941-A954-4CB3-B8CD-762AA3AD880D}"/>
              </a:ext>
            </a:extLst>
          </p:cNvPr>
          <p:cNvSpPr>
            <a:spLocks noGrp="1"/>
          </p:cNvSpPr>
          <p:nvPr/>
        </p:nvSpPr>
        <p:spPr>
          <a:xfrm>
            <a:off x="609600" y="4724400"/>
            <a:ext cx="2343150" cy="1066800"/>
          </a:xfrm>
          <a:prstGeom prst="roundRect">
            <a:avLst>
              <a:gd name="adj" fmla="val 10714"/>
            </a:avLst>
          </a:prstGeom>
          <a:solidFill>
            <a:srgbClr val="EEF1F4"/>
          </a:solidFill>
          <a:ln w="9525">
            <a:solidFill>
              <a:srgbClr val="D7DCE2"/>
            </a:solidFill>
            <a:prstDash val="solid"/>
          </a:ln>
        </p:spPr>
      </p:sp>
      <p:sp>
        <p:nvSpPr>
          <p:cNvPr id="40" name="Rectangle 39">
            <a:extLst>
              <a:ext uri="{FF2B5EF4-FFF2-40B4-BE49-F238E27FC236}">
                <a16:creationId xmlns:a16="http://schemas.microsoft.com/office/drawing/2014/main" id="{D84EC682-2B7A-433B-B2D6-D580D14297A5}"/>
              </a:ext>
            </a:extLst>
          </p:cNvPr>
          <p:cNvSpPr>
            <a:spLocks noGrp="1"/>
          </p:cNvSpPr>
          <p:nvPr/>
        </p:nvSpPr>
        <p:spPr>
          <a:xfrm>
            <a:off x="609600" y="4724400"/>
            <a:ext cx="76200" cy="1066800"/>
          </a:xfrm>
          <a:prstGeom prst="rect">
            <a:avLst/>
          </a:prstGeom>
          <a:solidFill>
            <a:srgbClr val="20252B"/>
          </a:solidFill>
          <a:ln w="9525">
            <a:solidFill>
              <a:srgbClr val="20252B"/>
            </a:solidFill>
            <a:prstDash val="solid"/>
          </a:ln>
        </p:spPr>
      </p:sp>
      <p:sp>
        <p:nvSpPr>
          <p:cNvPr id="41" name="Rectangle 40">
            <a:extLst>
              <a:ext uri="{FF2B5EF4-FFF2-40B4-BE49-F238E27FC236}">
                <a16:creationId xmlns:a16="http://schemas.microsoft.com/office/drawing/2014/main" id="{C305F213-958B-4892-8FB2-89C6EEEA34C3}"/>
              </a:ext>
            </a:extLst>
          </p:cNvPr>
          <p:cNvSpPr>
            <a:spLocks noGrp="1"/>
          </p:cNvSpPr>
          <p:nvPr/>
        </p:nvSpPr>
        <p:spPr>
          <a:xfrm>
            <a:off x="838200" y="4895850"/>
            <a:ext cx="1943100" cy="228600"/>
          </a:xfrm>
          <a:prstGeom prst="rect">
            <a:avLst/>
          </a:prstGeom>
          <a:noFill/>
          <a:ln w="0">
            <a:noFill/>
            <a:prstDash val="solid"/>
          </a:ln>
        </p:spPr>
        <p:txBody>
          <a:bodyPr lIns="0" tIns="0" rIns="0" bIns="0" anchor="t">
            <a:noAutofit/>
          </a:bodyPr>
          <a:lstStyle/>
          <a:p>
            <a:pPr algn="l">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DATA</a:t>
            </a:r>
          </a:p>
        </p:txBody>
      </p:sp>
      <p:sp>
        <p:nvSpPr>
          <p:cNvPr id="42" name="Rectangle 41">
            <a:extLst>
              <a:ext uri="{FF2B5EF4-FFF2-40B4-BE49-F238E27FC236}">
                <a16:creationId xmlns:a16="http://schemas.microsoft.com/office/drawing/2014/main" id="{1F884AB4-A49F-454F-AE58-09DFF571A161}"/>
              </a:ext>
            </a:extLst>
          </p:cNvPr>
          <p:cNvSpPr>
            <a:spLocks noGrp="1"/>
          </p:cNvSpPr>
          <p:nvPr/>
        </p:nvSpPr>
        <p:spPr>
          <a:xfrm>
            <a:off x="838200" y="5219700"/>
            <a:ext cx="1943100" cy="438150"/>
          </a:xfrm>
          <a:prstGeom prst="rect">
            <a:avLst/>
          </a:prstGeom>
          <a:noFill/>
          <a:ln w="0">
            <a:noFill/>
            <a:prstDash val="solid"/>
          </a:ln>
        </p:spPr>
        <p:txBody>
          <a:bodyPr lIns="0" tIns="0" rIns="0" bIns="0" anchor="t">
            <a:noAutofit/>
          </a:bodyPr>
          <a:lstStyle/>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Store standardized files by business date.</a:t>
            </a:r>
          </a:p>
        </p:txBody>
      </p:sp>
      <p:sp>
        <p:nvSpPr>
          <p:cNvPr id="43" name="Rectangle 42">
            <a:extLst>
              <a:ext uri="{FF2B5EF4-FFF2-40B4-BE49-F238E27FC236}">
                <a16:creationId xmlns:a16="http://schemas.microsoft.com/office/drawing/2014/main" id="{42FC1E35-99B5-4FDA-9D7E-101E9A628BAD}"/>
              </a:ext>
            </a:extLst>
          </p:cNvPr>
          <p:cNvSpPr>
            <a:spLocks noGrp="1"/>
          </p:cNvSpPr>
          <p:nvPr/>
        </p:nvSpPr>
        <p:spPr>
          <a:xfrm>
            <a:off x="9277350" y="1590675"/>
            <a:ext cx="20955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CONTROL RAIL</a:t>
            </a:r>
          </a:p>
        </p:txBody>
      </p:sp>
      <p:sp>
        <p:nvSpPr>
          <p:cNvPr id="44" name="Rectangle: Rounded Corners 43">
            <a:extLst>
              <a:ext uri="{FF2B5EF4-FFF2-40B4-BE49-F238E27FC236}">
                <a16:creationId xmlns:a16="http://schemas.microsoft.com/office/drawing/2014/main" id="{ABDAC9A3-A459-4072-9F46-8A772E0E7AA8}"/>
              </a:ext>
            </a:extLst>
          </p:cNvPr>
          <p:cNvSpPr>
            <a:spLocks noGrp="1"/>
          </p:cNvSpPr>
          <p:nvPr/>
        </p:nvSpPr>
        <p:spPr>
          <a:xfrm>
            <a:off x="9277350" y="1943100"/>
            <a:ext cx="2000250" cy="3848100"/>
          </a:xfrm>
          <a:prstGeom prst="roundRect">
            <a:avLst>
              <a:gd name="adj" fmla="val 6667"/>
            </a:avLst>
          </a:prstGeom>
          <a:solidFill>
            <a:srgbClr val="FFFFFF"/>
          </a:solidFill>
          <a:ln w="9525">
            <a:solidFill>
              <a:srgbClr val="D7DCE2"/>
            </a:solidFill>
            <a:prstDash val="solid"/>
          </a:ln>
        </p:spPr>
      </p:sp>
      <p:sp>
        <p:nvSpPr>
          <p:cNvPr id="45" name="Rectangle 44">
            <a:extLst>
              <a:ext uri="{FF2B5EF4-FFF2-40B4-BE49-F238E27FC236}">
                <a16:creationId xmlns:a16="http://schemas.microsoft.com/office/drawing/2014/main" id="{D8FD51A4-94CD-4C2E-A3FE-0A347C5086EF}"/>
              </a:ext>
            </a:extLst>
          </p:cNvPr>
          <p:cNvSpPr>
            <a:spLocks noGrp="1"/>
          </p:cNvSpPr>
          <p:nvPr/>
        </p:nvSpPr>
        <p:spPr>
          <a:xfrm>
            <a:off x="9277350" y="2114550"/>
            <a:ext cx="57150" cy="3505200"/>
          </a:xfrm>
          <a:prstGeom prst="rect">
            <a:avLst/>
          </a:prstGeom>
          <a:solidFill>
            <a:srgbClr val="D71E28"/>
          </a:solidFill>
          <a:ln w="9525">
            <a:solidFill>
              <a:srgbClr val="D71E28"/>
            </a:solidFill>
            <a:prstDash val="solid"/>
          </a:ln>
        </p:spPr>
      </p:sp>
      <p:sp>
        <p:nvSpPr>
          <p:cNvPr id="46" name="Oval 45">
            <a:extLst>
              <a:ext uri="{FF2B5EF4-FFF2-40B4-BE49-F238E27FC236}">
                <a16:creationId xmlns:a16="http://schemas.microsoft.com/office/drawing/2014/main" id="{C7A6759A-3918-480E-98B6-C82ABA71DAAC}"/>
              </a:ext>
            </a:extLst>
          </p:cNvPr>
          <p:cNvSpPr>
            <a:spLocks noGrp="1"/>
          </p:cNvSpPr>
          <p:nvPr/>
        </p:nvSpPr>
        <p:spPr>
          <a:xfrm>
            <a:off x="9448800" y="2181225"/>
            <a:ext cx="266700" cy="266700"/>
          </a:xfrm>
          <a:prstGeom prst="ellipse">
            <a:avLst/>
          </a:prstGeom>
          <a:solidFill>
            <a:srgbClr val="971B2F"/>
          </a:solidFill>
          <a:ln w="9525">
            <a:solidFill>
              <a:srgbClr val="971B2F"/>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47" name="Rectangle 46">
            <a:extLst>
              <a:ext uri="{FF2B5EF4-FFF2-40B4-BE49-F238E27FC236}">
                <a16:creationId xmlns:a16="http://schemas.microsoft.com/office/drawing/2014/main" id="{BEBC92C0-58AA-4948-A6D7-E427082C73D4}"/>
              </a:ext>
            </a:extLst>
          </p:cNvPr>
          <p:cNvSpPr>
            <a:spLocks noGrp="1"/>
          </p:cNvSpPr>
          <p:nvPr/>
        </p:nvSpPr>
        <p:spPr>
          <a:xfrm>
            <a:off x="9829800" y="2181225"/>
            <a:ext cx="1276350" cy="342900"/>
          </a:xfrm>
          <a:prstGeom prst="rect">
            <a:avLst/>
          </a:prstGeom>
          <a:noFill/>
          <a:ln w="0">
            <a:noFill/>
            <a:prstDash val="solid"/>
          </a:ln>
        </p:spPr>
        <p:txBody>
          <a:bodyPr lIns="0" tIns="0" rIns="0" bIns="0" anchor="ctr">
            <a:noAutofit/>
          </a:bodyPr>
          <a:lstStyle/>
          <a:p>
            <a:pPr algn="l">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Read-only default</a:t>
            </a:r>
          </a:p>
        </p:txBody>
      </p:sp>
      <p:sp>
        <p:nvSpPr>
          <p:cNvPr id="48" name="Oval 47">
            <a:extLst>
              <a:ext uri="{FF2B5EF4-FFF2-40B4-BE49-F238E27FC236}">
                <a16:creationId xmlns:a16="http://schemas.microsoft.com/office/drawing/2014/main" id="{C2D89F85-B0B9-4942-9C8B-007EADAC9F7A}"/>
              </a:ext>
            </a:extLst>
          </p:cNvPr>
          <p:cNvSpPr>
            <a:spLocks noGrp="1"/>
          </p:cNvSpPr>
          <p:nvPr/>
        </p:nvSpPr>
        <p:spPr>
          <a:xfrm>
            <a:off x="9448800" y="2724150"/>
            <a:ext cx="266700" cy="266700"/>
          </a:xfrm>
          <a:prstGeom prst="ellipse">
            <a:avLst/>
          </a:prstGeom>
          <a:solidFill>
            <a:srgbClr val="971B2F"/>
          </a:solidFill>
          <a:ln w="9525">
            <a:solidFill>
              <a:srgbClr val="971B2F"/>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49" name="Rectangle 48">
            <a:extLst>
              <a:ext uri="{FF2B5EF4-FFF2-40B4-BE49-F238E27FC236}">
                <a16:creationId xmlns:a16="http://schemas.microsoft.com/office/drawing/2014/main" id="{43A35D46-8FB1-469E-A30E-5DA1F5C700DA}"/>
              </a:ext>
            </a:extLst>
          </p:cNvPr>
          <p:cNvSpPr>
            <a:spLocks noGrp="1"/>
          </p:cNvSpPr>
          <p:nvPr/>
        </p:nvSpPr>
        <p:spPr>
          <a:xfrm>
            <a:off x="9829800" y="2724150"/>
            <a:ext cx="1276350" cy="342900"/>
          </a:xfrm>
          <a:prstGeom prst="rect">
            <a:avLst/>
          </a:prstGeom>
          <a:noFill/>
          <a:ln w="0">
            <a:noFill/>
            <a:prstDash val="solid"/>
          </a:ln>
        </p:spPr>
        <p:txBody>
          <a:bodyPr lIns="0" tIns="0" rIns="0" bIns="0" anchor="ctr">
            <a:noAutofit/>
          </a:bodyPr>
          <a:lstStyle/>
          <a:p>
            <a:pPr algn="l">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Denied operations</a:t>
            </a:r>
          </a:p>
        </p:txBody>
      </p:sp>
      <p:sp>
        <p:nvSpPr>
          <p:cNvPr id="50" name="Oval 49">
            <a:extLst>
              <a:ext uri="{FF2B5EF4-FFF2-40B4-BE49-F238E27FC236}">
                <a16:creationId xmlns:a16="http://schemas.microsoft.com/office/drawing/2014/main" id="{E2416A76-DCF8-4222-85E5-83374357D167}"/>
              </a:ext>
            </a:extLst>
          </p:cNvPr>
          <p:cNvSpPr>
            <a:spLocks noGrp="1"/>
          </p:cNvSpPr>
          <p:nvPr/>
        </p:nvSpPr>
        <p:spPr>
          <a:xfrm>
            <a:off x="9448800" y="3267075"/>
            <a:ext cx="266700" cy="266700"/>
          </a:xfrm>
          <a:prstGeom prst="ellipse">
            <a:avLst/>
          </a:prstGeom>
          <a:solidFill>
            <a:srgbClr val="971B2F"/>
          </a:solidFill>
          <a:ln w="9525">
            <a:solidFill>
              <a:srgbClr val="971B2F"/>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51" name="Rectangle 50">
            <a:extLst>
              <a:ext uri="{FF2B5EF4-FFF2-40B4-BE49-F238E27FC236}">
                <a16:creationId xmlns:a16="http://schemas.microsoft.com/office/drawing/2014/main" id="{FA02123F-051C-4E4F-B7FA-117D382EF1C0}"/>
              </a:ext>
            </a:extLst>
          </p:cNvPr>
          <p:cNvSpPr>
            <a:spLocks noGrp="1"/>
          </p:cNvSpPr>
          <p:nvPr/>
        </p:nvSpPr>
        <p:spPr>
          <a:xfrm>
            <a:off x="9829800" y="3267075"/>
            <a:ext cx="1276350" cy="342900"/>
          </a:xfrm>
          <a:prstGeom prst="rect">
            <a:avLst/>
          </a:prstGeom>
          <a:noFill/>
          <a:ln w="0">
            <a:noFill/>
            <a:prstDash val="solid"/>
          </a:ln>
        </p:spPr>
        <p:txBody>
          <a:bodyPr lIns="0" tIns="0" rIns="0" bIns="0" anchor="ctr">
            <a:noAutofit/>
          </a:bodyPr>
          <a:lstStyle/>
          <a:p>
            <a:pPr algn="l">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Optional denied objects</a:t>
            </a:r>
          </a:p>
        </p:txBody>
      </p:sp>
      <p:sp>
        <p:nvSpPr>
          <p:cNvPr id="52" name="Oval 51">
            <a:extLst>
              <a:ext uri="{FF2B5EF4-FFF2-40B4-BE49-F238E27FC236}">
                <a16:creationId xmlns:a16="http://schemas.microsoft.com/office/drawing/2014/main" id="{25E1F685-55AA-4F39-98DD-AE571EF63524}"/>
              </a:ext>
            </a:extLst>
          </p:cNvPr>
          <p:cNvSpPr>
            <a:spLocks noGrp="1"/>
          </p:cNvSpPr>
          <p:nvPr/>
        </p:nvSpPr>
        <p:spPr>
          <a:xfrm>
            <a:off x="9448800" y="3810000"/>
            <a:ext cx="266700" cy="266700"/>
          </a:xfrm>
          <a:prstGeom prst="ellipse">
            <a:avLst/>
          </a:prstGeom>
          <a:solidFill>
            <a:srgbClr val="971B2F"/>
          </a:solidFill>
          <a:ln w="9525">
            <a:solidFill>
              <a:srgbClr val="971B2F"/>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53" name="Rectangle 52">
            <a:extLst>
              <a:ext uri="{FF2B5EF4-FFF2-40B4-BE49-F238E27FC236}">
                <a16:creationId xmlns:a16="http://schemas.microsoft.com/office/drawing/2014/main" id="{7CDCFD36-A1AE-4151-9BE3-069E0F4561CF}"/>
              </a:ext>
            </a:extLst>
          </p:cNvPr>
          <p:cNvSpPr>
            <a:spLocks noGrp="1"/>
          </p:cNvSpPr>
          <p:nvPr/>
        </p:nvSpPr>
        <p:spPr>
          <a:xfrm>
            <a:off x="9829800" y="3810000"/>
            <a:ext cx="1276350" cy="342900"/>
          </a:xfrm>
          <a:prstGeom prst="rect">
            <a:avLst/>
          </a:prstGeom>
          <a:noFill/>
          <a:ln w="0">
            <a:noFill/>
            <a:prstDash val="solid"/>
          </a:ln>
        </p:spPr>
        <p:txBody>
          <a:bodyPr lIns="0" tIns="0" rIns="0" bIns="0" anchor="ctr">
            <a:noAutofit/>
          </a:bodyPr>
          <a:lstStyle/>
          <a:p>
            <a:pPr algn="l">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Row limits</a:t>
            </a:r>
          </a:p>
        </p:txBody>
      </p:sp>
      <p:sp>
        <p:nvSpPr>
          <p:cNvPr id="54" name="Oval 53">
            <a:extLst>
              <a:ext uri="{FF2B5EF4-FFF2-40B4-BE49-F238E27FC236}">
                <a16:creationId xmlns:a16="http://schemas.microsoft.com/office/drawing/2014/main" id="{2B6255B1-D979-4B79-867B-7CCB4DCDE545}"/>
              </a:ext>
            </a:extLst>
          </p:cNvPr>
          <p:cNvSpPr>
            <a:spLocks noGrp="1"/>
          </p:cNvSpPr>
          <p:nvPr/>
        </p:nvSpPr>
        <p:spPr>
          <a:xfrm>
            <a:off x="9448800" y="4352925"/>
            <a:ext cx="266700" cy="266700"/>
          </a:xfrm>
          <a:prstGeom prst="ellipse">
            <a:avLst/>
          </a:prstGeom>
          <a:solidFill>
            <a:srgbClr val="971B2F"/>
          </a:solidFill>
          <a:ln w="9525">
            <a:solidFill>
              <a:srgbClr val="971B2F"/>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55" name="Rectangle 54">
            <a:extLst>
              <a:ext uri="{FF2B5EF4-FFF2-40B4-BE49-F238E27FC236}">
                <a16:creationId xmlns:a16="http://schemas.microsoft.com/office/drawing/2014/main" id="{41301A86-E9F4-459C-AA24-9DC374FA4278}"/>
              </a:ext>
            </a:extLst>
          </p:cNvPr>
          <p:cNvSpPr>
            <a:spLocks noGrp="1"/>
          </p:cNvSpPr>
          <p:nvPr/>
        </p:nvSpPr>
        <p:spPr>
          <a:xfrm>
            <a:off x="9829800" y="4352925"/>
            <a:ext cx="1276350" cy="342900"/>
          </a:xfrm>
          <a:prstGeom prst="rect">
            <a:avLst/>
          </a:prstGeom>
          <a:noFill/>
          <a:ln w="0">
            <a:noFill/>
            <a:prstDash val="solid"/>
          </a:ln>
        </p:spPr>
        <p:txBody>
          <a:bodyPr lIns="0" tIns="0" rIns="0" bIns="0" anchor="ctr">
            <a:noAutofit/>
          </a:bodyPr>
          <a:lstStyle/>
          <a:p>
            <a:pPr algn="l">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Query timeout</a:t>
            </a:r>
          </a:p>
        </p:txBody>
      </p:sp>
      <p:sp>
        <p:nvSpPr>
          <p:cNvPr id="56" name="Oval 55">
            <a:extLst>
              <a:ext uri="{FF2B5EF4-FFF2-40B4-BE49-F238E27FC236}">
                <a16:creationId xmlns:a16="http://schemas.microsoft.com/office/drawing/2014/main" id="{71260490-E41D-49E8-8566-D681D6B0031A}"/>
              </a:ext>
            </a:extLst>
          </p:cNvPr>
          <p:cNvSpPr>
            <a:spLocks noGrp="1"/>
          </p:cNvSpPr>
          <p:nvPr/>
        </p:nvSpPr>
        <p:spPr>
          <a:xfrm>
            <a:off x="9448800" y="4895850"/>
            <a:ext cx="266700" cy="266700"/>
          </a:xfrm>
          <a:prstGeom prst="ellipse">
            <a:avLst/>
          </a:prstGeom>
          <a:solidFill>
            <a:srgbClr val="971B2F"/>
          </a:solidFill>
          <a:ln w="9525">
            <a:solidFill>
              <a:srgbClr val="971B2F"/>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6</a:t>
            </a:r>
          </a:p>
        </p:txBody>
      </p:sp>
      <p:sp>
        <p:nvSpPr>
          <p:cNvPr id="57" name="Rectangle 56">
            <a:extLst>
              <a:ext uri="{FF2B5EF4-FFF2-40B4-BE49-F238E27FC236}">
                <a16:creationId xmlns:a16="http://schemas.microsoft.com/office/drawing/2014/main" id="{F42BE8A6-2154-4382-B2CE-2933D2D435E9}"/>
              </a:ext>
            </a:extLst>
          </p:cNvPr>
          <p:cNvSpPr>
            <a:spLocks noGrp="1"/>
          </p:cNvSpPr>
          <p:nvPr/>
        </p:nvSpPr>
        <p:spPr>
          <a:xfrm>
            <a:off x="9829800" y="4895850"/>
            <a:ext cx="1276350" cy="342900"/>
          </a:xfrm>
          <a:prstGeom prst="rect">
            <a:avLst/>
          </a:prstGeom>
          <a:noFill/>
          <a:ln w="0">
            <a:noFill/>
            <a:prstDash val="solid"/>
          </a:ln>
        </p:spPr>
        <p:txBody>
          <a:bodyPr lIns="0" tIns="0" rIns="0" bIns="0" anchor="ctr">
            <a:noAutofit/>
          </a:bodyPr>
          <a:lstStyle/>
          <a:p>
            <a:pPr algn="l">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Audit logging</a:t>
            </a:r>
          </a:p>
        </p:txBody>
      </p:sp>
    </p:spTree>
    <p:extLst>
      <p:ext uri="{BB962C8B-B14F-4D97-AF65-F5344CB8AC3E}">
        <p14:creationId xmlns:p14="http://schemas.microsoft.com/office/powerpoint/2010/main" val="1748780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F191331-54A5-45CC-9B3F-C79C7E5293A6}"/>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10FD0ED5-CDCD-4563-9E79-AD8D52237F3D}"/>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TOOLS</a:t>
            </a:r>
          </a:p>
        </p:txBody>
      </p:sp>
      <p:sp>
        <p:nvSpPr>
          <p:cNvPr id="3" name="Rectangle 2">
            <a:extLst>
              <a:ext uri="{FF2B5EF4-FFF2-40B4-BE49-F238E27FC236}">
                <a16:creationId xmlns:a16="http://schemas.microsoft.com/office/drawing/2014/main" id="{52820668-B85E-4731-85BE-EFDFBE84AE01}"/>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Three tool tiers guide the AI from access to analysis</a:t>
            </a:r>
          </a:p>
        </p:txBody>
      </p:sp>
      <p:sp>
        <p:nvSpPr>
          <p:cNvPr id="4" name="Straight Connector 3">
            <a:extLst>
              <a:ext uri="{FF2B5EF4-FFF2-40B4-BE49-F238E27FC236}">
                <a16:creationId xmlns:a16="http://schemas.microsoft.com/office/drawing/2014/main" id="{D9FC6EB9-7DF1-45A2-8BA8-12537716C0CB}"/>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9C30DF11-1721-45B8-98FF-A0B3D100863B}"/>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B397A0AC-1913-4157-8010-0996DC0CC735}"/>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09</a:t>
            </a:r>
          </a:p>
        </p:txBody>
      </p:sp>
      <p:sp>
        <p:nvSpPr>
          <p:cNvPr id="7" name="Rectangle 6">
            <a:extLst>
              <a:ext uri="{FF2B5EF4-FFF2-40B4-BE49-F238E27FC236}">
                <a16:creationId xmlns:a16="http://schemas.microsoft.com/office/drawing/2014/main" id="{CF19BA1F-458E-4870-B088-12832DA1804E}"/>
              </a:ext>
            </a:extLst>
          </p:cNvPr>
          <p:cNvSpPr>
            <a:spLocks noGrp="1"/>
          </p:cNvSpPr>
          <p:nvPr/>
        </p:nvSpPr>
        <p:spPr>
          <a:xfrm>
            <a:off x="609600" y="1104900"/>
            <a:ext cx="102870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Each tier has a distinct purpose, helping the assistant choose the simplest appropriate capability.</a:t>
            </a:r>
          </a:p>
        </p:txBody>
      </p:sp>
      <p:sp>
        <p:nvSpPr>
          <p:cNvPr id="8" name="Rectangle: Rounded Corners 7">
            <a:extLst>
              <a:ext uri="{FF2B5EF4-FFF2-40B4-BE49-F238E27FC236}">
                <a16:creationId xmlns:a16="http://schemas.microsoft.com/office/drawing/2014/main" id="{67ED9D07-1893-4424-94BF-EFFDB0430B3A}"/>
              </a:ext>
            </a:extLst>
          </p:cNvPr>
          <p:cNvSpPr>
            <a:spLocks noGrp="1"/>
          </p:cNvSpPr>
          <p:nvPr/>
        </p:nvSpPr>
        <p:spPr>
          <a:xfrm>
            <a:off x="609600" y="1562100"/>
            <a:ext cx="10668000" cy="1200150"/>
          </a:xfrm>
          <a:prstGeom prst="roundRect">
            <a:avLst>
              <a:gd name="adj" fmla="val 11111"/>
            </a:avLst>
          </a:prstGeom>
          <a:solidFill>
            <a:srgbClr val="FCEEEF"/>
          </a:solidFill>
          <a:ln w="9525">
            <a:solidFill>
              <a:srgbClr val="D71E28"/>
            </a:solidFill>
            <a:prstDash val="solid"/>
          </a:ln>
        </p:spPr>
      </p:sp>
      <p:sp>
        <p:nvSpPr>
          <p:cNvPr id="9" name="Oval 8">
            <a:extLst>
              <a:ext uri="{FF2B5EF4-FFF2-40B4-BE49-F238E27FC236}">
                <a16:creationId xmlns:a16="http://schemas.microsoft.com/office/drawing/2014/main" id="{D516FDD4-321E-491A-B216-CB8528B34342}"/>
              </a:ext>
            </a:extLst>
          </p:cNvPr>
          <p:cNvSpPr>
            <a:spLocks noGrp="1"/>
          </p:cNvSpPr>
          <p:nvPr/>
        </p:nvSpPr>
        <p:spPr>
          <a:xfrm>
            <a:off x="876300" y="1847850"/>
            <a:ext cx="628650" cy="628650"/>
          </a:xfrm>
          <a:prstGeom prst="ellipse">
            <a:avLst/>
          </a:prstGeom>
          <a:solidFill>
            <a:srgbClr val="D71E28"/>
          </a:solidFill>
          <a:ln w="9525">
            <a:solidFill>
              <a:srgbClr val="D71E28"/>
            </a:solidFill>
            <a:prstDash val="solid"/>
          </a:ln>
        </p:spPr>
      </p:sp>
      <p:sp>
        <p:nvSpPr>
          <p:cNvPr id="10" name="Rectangle 9">
            <a:extLst>
              <a:ext uri="{FF2B5EF4-FFF2-40B4-BE49-F238E27FC236}">
                <a16:creationId xmlns:a16="http://schemas.microsoft.com/office/drawing/2014/main" id="{2AFC34AF-BA0A-4C10-91EE-0480C6C17536}"/>
              </a:ext>
            </a:extLst>
          </p:cNvPr>
          <p:cNvSpPr>
            <a:spLocks noGrp="1"/>
          </p:cNvSpPr>
          <p:nvPr/>
        </p:nvSpPr>
        <p:spPr>
          <a:xfrm>
            <a:off x="876300" y="2028825"/>
            <a:ext cx="628650" cy="266700"/>
          </a:xfrm>
          <a:prstGeom prst="rect">
            <a:avLst/>
          </a:prstGeom>
          <a:noFill/>
          <a:ln w="0">
            <a:noFill/>
            <a:prstDash val="solid"/>
          </a:ln>
        </p:spPr>
        <p:txBody>
          <a:bodyPr lIns="0" tIns="0" rIns="0" bIns="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P0</a:t>
            </a:r>
          </a:p>
        </p:txBody>
      </p:sp>
      <p:sp>
        <p:nvSpPr>
          <p:cNvPr id="11" name="Rectangle 10">
            <a:extLst>
              <a:ext uri="{FF2B5EF4-FFF2-40B4-BE49-F238E27FC236}">
                <a16:creationId xmlns:a16="http://schemas.microsoft.com/office/drawing/2014/main" id="{DA473A7C-6666-4602-B24F-9848197009A0}"/>
              </a:ext>
            </a:extLst>
          </p:cNvPr>
          <p:cNvSpPr>
            <a:spLocks noGrp="1"/>
          </p:cNvSpPr>
          <p:nvPr/>
        </p:nvSpPr>
        <p:spPr>
          <a:xfrm>
            <a:off x="1790700" y="1743075"/>
            <a:ext cx="8763000" cy="257175"/>
          </a:xfrm>
          <a:prstGeom prst="rect">
            <a:avLst/>
          </a:prstGeom>
          <a:noFill/>
          <a:ln w="0">
            <a:noFill/>
            <a:prstDash val="solid"/>
          </a:ln>
        </p:spPr>
        <p:txBody>
          <a:bodyPr lIns="0" tIns="0" rIns="0" bIns="0" anchor="t">
            <a:noAutofit/>
          </a:bodyPr>
          <a:lstStyle/>
          <a:p>
            <a:pPr algn="l">
              <a:lnSpc>
                <a:spcPct val="100000"/>
              </a:lnSpc>
              <a:buNone/>
              <a:defRPr sz="1500" b="1">
                <a:solidFill>
                  <a:srgbClr val="20252B"/>
                </a:solidFill>
                <a:latin typeface="Aptos"/>
                <a:ea typeface="Aptos"/>
                <a:cs typeface="Aptos"/>
              </a:defRPr>
            </a:pPr>
            <a:r>
              <a:rPr sz="1500" b="1">
                <a:solidFill>
                  <a:srgbClr val="20252B"/>
                </a:solidFill>
                <a:latin typeface="Aptos"/>
                <a:ea typeface="Aptos"/>
                <a:cs typeface="Aptos"/>
              </a:rPr>
              <a:t>CORE — availability, metadata, and SQL entry</a:t>
            </a:r>
          </a:p>
        </p:txBody>
      </p:sp>
      <p:sp>
        <p:nvSpPr>
          <p:cNvPr id="12" name="Rectangle 11">
            <a:extLst>
              <a:ext uri="{FF2B5EF4-FFF2-40B4-BE49-F238E27FC236}">
                <a16:creationId xmlns:a16="http://schemas.microsoft.com/office/drawing/2014/main" id="{C35DF77B-F67F-45BE-B6E2-4066E0E4A2C3}"/>
              </a:ext>
            </a:extLst>
          </p:cNvPr>
          <p:cNvSpPr>
            <a:spLocks noGrp="1"/>
          </p:cNvSpPr>
          <p:nvPr/>
        </p:nvSpPr>
        <p:spPr>
          <a:xfrm>
            <a:off x="1790700" y="2057400"/>
            <a:ext cx="8763000" cy="24765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Confirm the service, discover data and fields, or run controlled read-only SQL.</a:t>
            </a:r>
          </a:p>
        </p:txBody>
      </p:sp>
      <p:sp>
        <p:nvSpPr>
          <p:cNvPr id="13" name="Rectangle 12">
            <a:extLst>
              <a:ext uri="{FF2B5EF4-FFF2-40B4-BE49-F238E27FC236}">
                <a16:creationId xmlns:a16="http://schemas.microsoft.com/office/drawing/2014/main" id="{2F2B85FD-0827-48C0-B5B4-AA9A06B933B5}"/>
              </a:ext>
            </a:extLst>
          </p:cNvPr>
          <p:cNvSpPr>
            <a:spLocks noGrp="1"/>
          </p:cNvSpPr>
          <p:nvPr/>
        </p:nvSpPr>
        <p:spPr>
          <a:xfrm>
            <a:off x="1790700" y="2400300"/>
            <a:ext cx="8953500" cy="209550"/>
          </a:xfrm>
          <a:prstGeom prst="rect">
            <a:avLst/>
          </a:prstGeom>
          <a:noFill/>
          <a:ln w="0">
            <a:noFill/>
            <a:prstDash val="solid"/>
          </a:ln>
        </p:spPr>
        <p:txBody>
          <a:bodyPr lIns="0" tIns="0" rIns="0" bIns="0" anchor="t">
            <a:noAutofit/>
          </a:bodyPr>
          <a:lstStyle/>
          <a:p>
            <a:pPr algn="l">
              <a:lnSpc>
                <a:spcPct val="100000"/>
              </a:lnSpc>
              <a:buNone/>
              <a:defRPr sz="1200" b="1">
                <a:solidFill>
                  <a:srgbClr val="D71E28"/>
                </a:solidFill>
                <a:latin typeface="Aptos Mono"/>
                <a:ea typeface="Aptos Mono"/>
                <a:cs typeface="Aptos Mono"/>
              </a:defRPr>
            </a:pPr>
            <a:r>
              <a:rPr sz="1200" b="1">
                <a:solidFill>
                  <a:srgbClr val="D71E28"/>
                </a:solidFill>
                <a:latin typeface="Aptos Mono"/>
                <a:ea typeface="Aptos Mono"/>
                <a:cs typeface="Aptos Mono"/>
              </a:rPr>
              <a:t>health_check  •  list_datasets  •  describe_table  •  execute_custom_sql  •  list_instrument_types</a:t>
            </a:r>
          </a:p>
        </p:txBody>
      </p:sp>
      <p:sp>
        <p:nvSpPr>
          <p:cNvPr id="14" name="Rectangle: Rounded Corners 13">
            <a:extLst>
              <a:ext uri="{FF2B5EF4-FFF2-40B4-BE49-F238E27FC236}">
                <a16:creationId xmlns:a16="http://schemas.microsoft.com/office/drawing/2014/main" id="{F42B3608-2B84-4A75-9050-A74BF68B5BA6}"/>
              </a:ext>
            </a:extLst>
          </p:cNvPr>
          <p:cNvSpPr>
            <a:spLocks noGrp="1"/>
          </p:cNvSpPr>
          <p:nvPr/>
        </p:nvSpPr>
        <p:spPr>
          <a:xfrm>
            <a:off x="609600" y="2971800"/>
            <a:ext cx="10668000" cy="1200150"/>
          </a:xfrm>
          <a:prstGeom prst="roundRect">
            <a:avLst>
              <a:gd name="adj" fmla="val 11111"/>
            </a:avLst>
          </a:prstGeom>
          <a:solidFill>
            <a:srgbClr val="FFF8E0"/>
          </a:solidFill>
          <a:ln w="9525">
            <a:solidFill>
              <a:srgbClr val="8A5A00"/>
            </a:solidFill>
            <a:prstDash val="solid"/>
          </a:ln>
        </p:spPr>
      </p:sp>
      <p:sp>
        <p:nvSpPr>
          <p:cNvPr id="15" name="Oval 14">
            <a:extLst>
              <a:ext uri="{FF2B5EF4-FFF2-40B4-BE49-F238E27FC236}">
                <a16:creationId xmlns:a16="http://schemas.microsoft.com/office/drawing/2014/main" id="{662C165E-6EF4-428C-934F-7368B1E7BE39}"/>
              </a:ext>
            </a:extLst>
          </p:cNvPr>
          <p:cNvSpPr>
            <a:spLocks noGrp="1"/>
          </p:cNvSpPr>
          <p:nvPr/>
        </p:nvSpPr>
        <p:spPr>
          <a:xfrm>
            <a:off x="876300" y="3257550"/>
            <a:ext cx="628650" cy="628650"/>
          </a:xfrm>
          <a:prstGeom prst="ellipse">
            <a:avLst/>
          </a:prstGeom>
          <a:solidFill>
            <a:srgbClr val="8A5A00"/>
          </a:solidFill>
          <a:ln w="9525">
            <a:solidFill>
              <a:srgbClr val="8A5A00"/>
            </a:solidFill>
            <a:prstDash val="solid"/>
          </a:ln>
        </p:spPr>
      </p:sp>
      <p:sp>
        <p:nvSpPr>
          <p:cNvPr id="16" name="Rectangle 15">
            <a:extLst>
              <a:ext uri="{FF2B5EF4-FFF2-40B4-BE49-F238E27FC236}">
                <a16:creationId xmlns:a16="http://schemas.microsoft.com/office/drawing/2014/main" id="{148F151A-931A-4EFA-91B6-3853F8AFC7E1}"/>
              </a:ext>
            </a:extLst>
          </p:cNvPr>
          <p:cNvSpPr>
            <a:spLocks noGrp="1"/>
          </p:cNvSpPr>
          <p:nvPr/>
        </p:nvSpPr>
        <p:spPr>
          <a:xfrm>
            <a:off x="876300" y="3438525"/>
            <a:ext cx="628650" cy="266700"/>
          </a:xfrm>
          <a:prstGeom prst="rect">
            <a:avLst/>
          </a:prstGeom>
          <a:noFill/>
          <a:ln w="0">
            <a:noFill/>
            <a:prstDash val="solid"/>
          </a:ln>
        </p:spPr>
        <p:txBody>
          <a:bodyPr lIns="0" tIns="0" rIns="0" bIns="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P1</a:t>
            </a:r>
          </a:p>
        </p:txBody>
      </p:sp>
      <p:sp>
        <p:nvSpPr>
          <p:cNvPr id="17" name="Rectangle 16">
            <a:extLst>
              <a:ext uri="{FF2B5EF4-FFF2-40B4-BE49-F238E27FC236}">
                <a16:creationId xmlns:a16="http://schemas.microsoft.com/office/drawing/2014/main" id="{FFAB074D-FF23-4160-9EB9-30B069F9C7E2}"/>
              </a:ext>
            </a:extLst>
          </p:cNvPr>
          <p:cNvSpPr>
            <a:spLocks noGrp="1"/>
          </p:cNvSpPr>
          <p:nvPr/>
        </p:nvSpPr>
        <p:spPr>
          <a:xfrm>
            <a:off x="1790700" y="3152775"/>
            <a:ext cx="8763000" cy="257175"/>
          </a:xfrm>
          <a:prstGeom prst="rect">
            <a:avLst/>
          </a:prstGeom>
          <a:noFill/>
          <a:ln w="0">
            <a:noFill/>
            <a:prstDash val="solid"/>
          </a:ln>
        </p:spPr>
        <p:txBody>
          <a:bodyPr lIns="0" tIns="0" rIns="0" bIns="0" anchor="t">
            <a:noAutofit/>
          </a:bodyPr>
          <a:lstStyle/>
          <a:p>
            <a:pPr algn="l">
              <a:lnSpc>
                <a:spcPct val="100000"/>
              </a:lnSpc>
              <a:buNone/>
              <a:defRPr sz="1500" b="1">
                <a:solidFill>
                  <a:srgbClr val="20252B"/>
                </a:solidFill>
                <a:latin typeface="Aptos"/>
                <a:ea typeface="Aptos"/>
                <a:cs typeface="Aptos"/>
              </a:defRPr>
            </a:pPr>
            <a:r>
              <a:rPr sz="1500" b="1">
                <a:solidFill>
                  <a:srgbClr val="20252B"/>
                </a:solidFill>
                <a:latin typeface="Aptos"/>
                <a:ea typeface="Aptos"/>
                <a:cs typeface="Aptos"/>
              </a:rPr>
              <a:t>EXPLORATION — lightweight discovery</a:t>
            </a:r>
          </a:p>
        </p:txBody>
      </p:sp>
      <p:sp>
        <p:nvSpPr>
          <p:cNvPr id="18" name="Rectangle 17">
            <a:extLst>
              <a:ext uri="{FF2B5EF4-FFF2-40B4-BE49-F238E27FC236}">
                <a16:creationId xmlns:a16="http://schemas.microsoft.com/office/drawing/2014/main" id="{99CF2A45-A914-4A84-8CF2-129F7E7CD1A0}"/>
              </a:ext>
            </a:extLst>
          </p:cNvPr>
          <p:cNvSpPr>
            <a:spLocks noGrp="1"/>
          </p:cNvSpPr>
          <p:nvPr/>
        </p:nvSpPr>
        <p:spPr>
          <a:xfrm>
            <a:off x="1790700" y="3467100"/>
            <a:ext cx="8763000" cy="24765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Preview example rows, search tables or columns, and inspect how a query will run.</a:t>
            </a:r>
          </a:p>
        </p:txBody>
      </p:sp>
      <p:sp>
        <p:nvSpPr>
          <p:cNvPr id="19" name="Rectangle 18">
            <a:extLst>
              <a:ext uri="{FF2B5EF4-FFF2-40B4-BE49-F238E27FC236}">
                <a16:creationId xmlns:a16="http://schemas.microsoft.com/office/drawing/2014/main" id="{09A80383-9449-4424-8CF8-61ABE5B234B2}"/>
              </a:ext>
            </a:extLst>
          </p:cNvPr>
          <p:cNvSpPr>
            <a:spLocks noGrp="1"/>
          </p:cNvSpPr>
          <p:nvPr/>
        </p:nvSpPr>
        <p:spPr>
          <a:xfrm>
            <a:off x="1790700" y="3810000"/>
            <a:ext cx="8953500" cy="209550"/>
          </a:xfrm>
          <a:prstGeom prst="rect">
            <a:avLst/>
          </a:prstGeom>
          <a:noFill/>
          <a:ln w="0">
            <a:noFill/>
            <a:prstDash val="solid"/>
          </a:ln>
        </p:spPr>
        <p:txBody>
          <a:bodyPr lIns="0" tIns="0" rIns="0" bIns="0" anchor="t">
            <a:noAutofit/>
          </a:bodyPr>
          <a:lstStyle/>
          <a:p>
            <a:pPr algn="l">
              <a:lnSpc>
                <a:spcPct val="100000"/>
              </a:lnSpc>
              <a:buNone/>
              <a:defRPr sz="1200" b="1">
                <a:solidFill>
                  <a:srgbClr val="8A5A00"/>
                </a:solidFill>
                <a:latin typeface="Aptos Mono"/>
                <a:ea typeface="Aptos Mono"/>
                <a:cs typeface="Aptos Mono"/>
              </a:defRPr>
            </a:pPr>
            <a:r>
              <a:rPr sz="1200" b="1">
                <a:solidFill>
                  <a:srgbClr val="8A5A00"/>
                </a:solidFill>
                <a:latin typeface="Aptos Mono"/>
                <a:ea typeface="Aptos Mono"/>
                <a:cs typeface="Aptos Mono"/>
              </a:rPr>
              <a:t>get_table_sample  •  search_tables  •  explain_query</a:t>
            </a:r>
          </a:p>
        </p:txBody>
      </p:sp>
      <p:sp>
        <p:nvSpPr>
          <p:cNvPr id="20" name="Rectangle: Rounded Corners 19">
            <a:extLst>
              <a:ext uri="{FF2B5EF4-FFF2-40B4-BE49-F238E27FC236}">
                <a16:creationId xmlns:a16="http://schemas.microsoft.com/office/drawing/2014/main" id="{8E159C24-F185-4A5C-A22F-0B5824BA85B5}"/>
              </a:ext>
            </a:extLst>
          </p:cNvPr>
          <p:cNvSpPr>
            <a:spLocks noGrp="1"/>
          </p:cNvSpPr>
          <p:nvPr/>
        </p:nvSpPr>
        <p:spPr>
          <a:xfrm>
            <a:off x="609600" y="4381500"/>
            <a:ext cx="10668000" cy="1200150"/>
          </a:xfrm>
          <a:prstGeom prst="roundRect">
            <a:avLst>
              <a:gd name="adj" fmla="val 11111"/>
            </a:avLst>
          </a:prstGeom>
          <a:solidFill>
            <a:srgbClr val="EAF1F4"/>
          </a:solidFill>
          <a:ln w="9525">
            <a:solidFill>
              <a:srgbClr val="2F5D73"/>
            </a:solidFill>
            <a:prstDash val="solid"/>
          </a:ln>
        </p:spPr>
      </p:sp>
      <p:sp>
        <p:nvSpPr>
          <p:cNvPr id="21" name="Oval 20">
            <a:extLst>
              <a:ext uri="{FF2B5EF4-FFF2-40B4-BE49-F238E27FC236}">
                <a16:creationId xmlns:a16="http://schemas.microsoft.com/office/drawing/2014/main" id="{78708EC8-298F-46DD-9C98-E6C2AAF5F488}"/>
              </a:ext>
            </a:extLst>
          </p:cNvPr>
          <p:cNvSpPr>
            <a:spLocks noGrp="1"/>
          </p:cNvSpPr>
          <p:nvPr/>
        </p:nvSpPr>
        <p:spPr>
          <a:xfrm>
            <a:off x="876300" y="4667250"/>
            <a:ext cx="628650" cy="628650"/>
          </a:xfrm>
          <a:prstGeom prst="ellipse">
            <a:avLst/>
          </a:prstGeom>
          <a:solidFill>
            <a:srgbClr val="2F5D73"/>
          </a:solidFill>
          <a:ln w="9525">
            <a:solidFill>
              <a:srgbClr val="2F5D73"/>
            </a:solidFill>
            <a:prstDash val="solid"/>
          </a:ln>
        </p:spPr>
      </p:sp>
      <p:sp>
        <p:nvSpPr>
          <p:cNvPr id="22" name="Rectangle 21">
            <a:extLst>
              <a:ext uri="{FF2B5EF4-FFF2-40B4-BE49-F238E27FC236}">
                <a16:creationId xmlns:a16="http://schemas.microsoft.com/office/drawing/2014/main" id="{FE9E417B-4771-463F-982A-143989D46B64}"/>
              </a:ext>
            </a:extLst>
          </p:cNvPr>
          <p:cNvSpPr>
            <a:spLocks noGrp="1"/>
          </p:cNvSpPr>
          <p:nvPr/>
        </p:nvSpPr>
        <p:spPr>
          <a:xfrm>
            <a:off x="876300" y="4848225"/>
            <a:ext cx="628650" cy="266700"/>
          </a:xfrm>
          <a:prstGeom prst="rect">
            <a:avLst/>
          </a:prstGeom>
          <a:noFill/>
          <a:ln w="0">
            <a:noFill/>
            <a:prstDash val="solid"/>
          </a:ln>
        </p:spPr>
        <p:txBody>
          <a:bodyPr lIns="0" tIns="0" rIns="0" bIns="0" anchor="ctr">
            <a:noAutofit/>
          </a:bodyPr>
          <a:lstStyle/>
          <a:p>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P2</a:t>
            </a:r>
          </a:p>
        </p:txBody>
      </p:sp>
      <p:sp>
        <p:nvSpPr>
          <p:cNvPr id="23" name="Rectangle 22">
            <a:extLst>
              <a:ext uri="{FF2B5EF4-FFF2-40B4-BE49-F238E27FC236}">
                <a16:creationId xmlns:a16="http://schemas.microsoft.com/office/drawing/2014/main" id="{CB87A0E4-8693-4524-9A0D-9FBE452A017E}"/>
              </a:ext>
            </a:extLst>
          </p:cNvPr>
          <p:cNvSpPr>
            <a:spLocks noGrp="1"/>
          </p:cNvSpPr>
          <p:nvPr/>
        </p:nvSpPr>
        <p:spPr>
          <a:xfrm>
            <a:off x="1790700" y="4562475"/>
            <a:ext cx="8763000" cy="257175"/>
          </a:xfrm>
          <a:prstGeom prst="rect">
            <a:avLst/>
          </a:prstGeom>
          <a:noFill/>
          <a:ln w="0">
            <a:noFill/>
            <a:prstDash val="solid"/>
          </a:ln>
        </p:spPr>
        <p:txBody>
          <a:bodyPr lIns="0" tIns="0" rIns="0" bIns="0" anchor="t">
            <a:noAutofit/>
          </a:bodyPr>
          <a:lstStyle/>
          <a:p>
            <a:pPr algn="l">
              <a:lnSpc>
                <a:spcPct val="100000"/>
              </a:lnSpc>
              <a:buNone/>
              <a:defRPr sz="1500" b="1">
                <a:solidFill>
                  <a:srgbClr val="20252B"/>
                </a:solidFill>
                <a:latin typeface="Aptos"/>
                <a:ea typeface="Aptos"/>
                <a:cs typeface="Aptos"/>
              </a:defRPr>
            </a:pPr>
            <a:r>
              <a:rPr sz="1500" b="1">
                <a:solidFill>
                  <a:srgbClr val="20252B"/>
                </a:solidFill>
                <a:latin typeface="Aptos"/>
                <a:ea typeface="Aptos"/>
                <a:cs typeface="Aptos"/>
              </a:rPr>
              <a:t>ANALYTICS — common aggregates and profiling</a:t>
            </a:r>
          </a:p>
        </p:txBody>
      </p:sp>
      <p:sp>
        <p:nvSpPr>
          <p:cNvPr id="24" name="Rectangle 23">
            <a:extLst>
              <a:ext uri="{FF2B5EF4-FFF2-40B4-BE49-F238E27FC236}">
                <a16:creationId xmlns:a16="http://schemas.microsoft.com/office/drawing/2014/main" id="{234FE7CF-194D-4A7B-A262-65AE50773E15}"/>
              </a:ext>
            </a:extLst>
          </p:cNvPr>
          <p:cNvSpPr>
            <a:spLocks noGrp="1"/>
          </p:cNvSpPr>
          <p:nvPr/>
        </p:nvSpPr>
        <p:spPr>
          <a:xfrm>
            <a:off x="1790700" y="4876800"/>
            <a:ext cx="8763000" cy="24765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Answer repeated summary questions without requiring custom SQL for every request.</a:t>
            </a:r>
          </a:p>
        </p:txBody>
      </p:sp>
      <p:sp>
        <p:nvSpPr>
          <p:cNvPr id="25" name="Rectangle 24">
            <a:extLst>
              <a:ext uri="{FF2B5EF4-FFF2-40B4-BE49-F238E27FC236}">
                <a16:creationId xmlns:a16="http://schemas.microsoft.com/office/drawing/2014/main" id="{C545817A-C67E-42D9-A752-22D1189D4B01}"/>
              </a:ext>
            </a:extLst>
          </p:cNvPr>
          <p:cNvSpPr>
            <a:spLocks noGrp="1"/>
          </p:cNvSpPr>
          <p:nvPr/>
        </p:nvSpPr>
        <p:spPr>
          <a:xfrm>
            <a:off x="1790700" y="5219700"/>
            <a:ext cx="8953500" cy="209550"/>
          </a:xfrm>
          <a:prstGeom prst="rect">
            <a:avLst/>
          </a:prstGeom>
          <a:noFill/>
          <a:ln w="0">
            <a:noFill/>
            <a:prstDash val="solid"/>
          </a:ln>
        </p:spPr>
        <p:txBody>
          <a:bodyPr lIns="0" tIns="0" rIns="0" bIns="0" anchor="t">
            <a:noAutofit/>
          </a:bodyPr>
          <a:lstStyle/>
          <a:p>
            <a:pPr algn="l">
              <a:lnSpc>
                <a:spcPct val="100000"/>
              </a:lnSpc>
              <a:buNone/>
              <a:defRPr sz="1200" b="1">
                <a:solidFill>
                  <a:srgbClr val="2F5D73"/>
                </a:solidFill>
                <a:latin typeface="Aptos Mono"/>
                <a:ea typeface="Aptos Mono"/>
                <a:cs typeface="Aptos Mono"/>
              </a:defRPr>
            </a:pPr>
            <a:r>
              <a:rPr sz="1200" b="1">
                <a:solidFill>
                  <a:srgbClr val="2F5D73"/>
                </a:solidFill>
                <a:latin typeface="Aptos Mono"/>
                <a:ea typeface="Aptos Mono"/>
                <a:cs typeface="Aptos Mono"/>
              </a:rPr>
              <a:t>get_row_count  •  get_distinct_values  •  get_column_stats  •  aggregate_table</a:t>
            </a:r>
          </a:p>
        </p:txBody>
      </p:sp>
      <p:sp>
        <p:nvSpPr>
          <p:cNvPr id="26" name="Rectangle 25">
            <a:extLst>
              <a:ext uri="{FF2B5EF4-FFF2-40B4-BE49-F238E27FC236}">
                <a16:creationId xmlns:a16="http://schemas.microsoft.com/office/drawing/2014/main" id="{34FF915D-1C9F-41C3-9A97-0D9E80F6C157}"/>
              </a:ext>
            </a:extLst>
          </p:cNvPr>
          <p:cNvSpPr>
            <a:spLocks noGrp="1"/>
          </p:cNvSpPr>
          <p:nvPr/>
        </p:nvSpPr>
        <p:spPr>
          <a:xfrm>
            <a:off x="609600" y="5886450"/>
            <a:ext cx="10668000" cy="247650"/>
          </a:xfrm>
          <a:prstGeom prst="rect">
            <a:avLst/>
          </a:prstGeom>
          <a:noFill/>
          <a:ln w="0">
            <a:noFill/>
            <a:prstDash val="solid"/>
          </a:ln>
        </p:spPr>
        <p:txBody>
          <a:bodyPr lIns="0" tIns="0" rIns="0" bIns="0" anchor="t">
            <a:noAutofit/>
          </a:bodyPr>
          <a:lstStyle/>
          <a:p>
            <a:pPr algn="ctr">
              <a:lnSpc>
                <a:spcPct val="100000"/>
              </a:lnSpc>
              <a:buNone/>
              <a:defRPr sz="1275" b="1">
                <a:solidFill>
                  <a:srgbClr val="971B2F"/>
                </a:solidFill>
                <a:latin typeface="Aptos"/>
                <a:ea typeface="Aptos"/>
                <a:cs typeface="Aptos"/>
              </a:defRPr>
            </a:pPr>
            <a:r>
              <a:rPr sz="1275" b="1">
                <a:solidFill>
                  <a:srgbClr val="971B2F"/>
                </a:solidFill>
                <a:latin typeface="Aptos"/>
                <a:ea typeface="Aptos"/>
                <a:cs typeface="Aptos"/>
              </a:rPr>
              <a:t>Default pattern: discover first  →  inspect and explore  →  summarize with bounded analytics</a:t>
            </a:r>
          </a:p>
        </p:txBody>
      </p:sp>
    </p:spTree>
    <p:extLst>
      <p:ext uri="{BB962C8B-B14F-4D97-AF65-F5344CB8AC3E}">
        <p14:creationId xmlns:p14="http://schemas.microsoft.com/office/powerpoint/2010/main" val="1888202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FBE0A529-E2E5-4FCE-B9CA-125BDA5075CE}"/>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DB9C65DF-D955-4112-9F41-EE817E13A80D}"/>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EXECUTION</a:t>
            </a:r>
          </a:p>
        </p:txBody>
      </p:sp>
      <p:sp>
        <p:nvSpPr>
          <p:cNvPr id="3" name="Rectangle 2">
            <a:extLst>
              <a:ext uri="{FF2B5EF4-FFF2-40B4-BE49-F238E27FC236}">
                <a16:creationId xmlns:a16="http://schemas.microsoft.com/office/drawing/2014/main" id="{47DB79BA-3DEC-47FE-880D-5413D32F9B23}"/>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A trading question follows six governed steps</a:t>
            </a:r>
          </a:p>
        </p:txBody>
      </p:sp>
      <p:sp>
        <p:nvSpPr>
          <p:cNvPr id="4" name="Straight Connector 3">
            <a:extLst>
              <a:ext uri="{FF2B5EF4-FFF2-40B4-BE49-F238E27FC236}">
                <a16:creationId xmlns:a16="http://schemas.microsoft.com/office/drawing/2014/main" id="{B76A9AA1-6640-4180-80A3-EBB39524C14C}"/>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1A03DF2D-B4D6-4B18-8B90-7629C158B3D2}"/>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96780699-6F9C-4DC7-93CD-2848437D1C67}"/>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10</a:t>
            </a:r>
          </a:p>
        </p:txBody>
      </p:sp>
      <p:sp>
        <p:nvSpPr>
          <p:cNvPr id="7" name="Rectangle 6">
            <a:extLst>
              <a:ext uri="{FF2B5EF4-FFF2-40B4-BE49-F238E27FC236}">
                <a16:creationId xmlns:a16="http://schemas.microsoft.com/office/drawing/2014/main" id="{2CFC245E-D120-4B41-9BF7-F6896C8C1CFD}"/>
              </a:ext>
            </a:extLst>
          </p:cNvPr>
          <p:cNvSpPr>
            <a:spLocks noGrp="1"/>
          </p:cNvSpPr>
          <p:nvPr/>
        </p:nvSpPr>
        <p:spPr>
          <a:xfrm>
            <a:off x="609600" y="1104900"/>
            <a:ext cx="106680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Discovery happens before execution so the assistant can use the right datasets, fields, dates, and join keys.</a:t>
            </a:r>
          </a:p>
        </p:txBody>
      </p:sp>
      <p:sp>
        <p:nvSpPr>
          <p:cNvPr id="8" name="Straight Connector 7">
            <a:extLst>
              <a:ext uri="{FF2B5EF4-FFF2-40B4-BE49-F238E27FC236}">
                <a16:creationId xmlns:a16="http://schemas.microsoft.com/office/drawing/2014/main" id="{0C946BFC-7491-48A2-8FF4-91081DFD62BE}"/>
              </a:ext>
            </a:extLst>
          </p:cNvPr>
          <p:cNvSpPr>
            <a:spLocks noGrp="1"/>
          </p:cNvSpPr>
          <p:nvPr/>
        </p:nvSpPr>
        <p:spPr>
          <a:xfrm>
            <a:off x="3352800" y="2466975"/>
            <a:ext cx="628650" cy="0"/>
          </a:xfrm>
          <a:prstGeom prst="line">
            <a:avLst/>
          </a:prstGeom>
          <a:noFill/>
          <a:ln w="28575">
            <a:solidFill>
              <a:srgbClr val="D71E28"/>
            </a:solidFill>
            <a:prstDash val="solid"/>
          </a:ln>
        </p:spPr>
      </p:sp>
      <p:sp>
        <p:nvSpPr>
          <p:cNvPr id="9" name="Straight Connector 8">
            <a:extLst>
              <a:ext uri="{FF2B5EF4-FFF2-40B4-BE49-F238E27FC236}">
                <a16:creationId xmlns:a16="http://schemas.microsoft.com/office/drawing/2014/main" id="{9EFF3E84-B29E-4421-9307-10A2B9506F44}"/>
              </a:ext>
            </a:extLst>
          </p:cNvPr>
          <p:cNvSpPr>
            <a:spLocks noGrp="1"/>
          </p:cNvSpPr>
          <p:nvPr/>
        </p:nvSpPr>
        <p:spPr>
          <a:xfrm>
            <a:off x="6858000" y="2466975"/>
            <a:ext cx="628650" cy="0"/>
          </a:xfrm>
          <a:prstGeom prst="line">
            <a:avLst/>
          </a:prstGeom>
          <a:noFill/>
          <a:ln w="28575">
            <a:solidFill>
              <a:srgbClr val="D71E28"/>
            </a:solidFill>
            <a:prstDash val="solid"/>
          </a:ln>
        </p:spPr>
      </p:sp>
      <p:sp>
        <p:nvSpPr>
          <p:cNvPr id="10" name="Straight Connector 9">
            <a:extLst>
              <a:ext uri="{FF2B5EF4-FFF2-40B4-BE49-F238E27FC236}">
                <a16:creationId xmlns:a16="http://schemas.microsoft.com/office/drawing/2014/main" id="{05231DE5-40ED-4C6B-A1B9-2A699DADF118}"/>
              </a:ext>
            </a:extLst>
          </p:cNvPr>
          <p:cNvSpPr>
            <a:spLocks noGrp="1"/>
          </p:cNvSpPr>
          <p:nvPr/>
        </p:nvSpPr>
        <p:spPr>
          <a:xfrm>
            <a:off x="10363200" y="3276600"/>
            <a:ext cx="9525" cy="552450"/>
          </a:xfrm>
          <a:prstGeom prst="line">
            <a:avLst/>
          </a:prstGeom>
          <a:noFill/>
          <a:ln w="28575">
            <a:solidFill>
              <a:srgbClr val="D71E28"/>
            </a:solidFill>
            <a:prstDash val="solid"/>
          </a:ln>
        </p:spPr>
      </p:sp>
      <p:sp>
        <p:nvSpPr>
          <p:cNvPr id="11" name="Straight Connector 10">
            <a:extLst>
              <a:ext uri="{FF2B5EF4-FFF2-40B4-BE49-F238E27FC236}">
                <a16:creationId xmlns:a16="http://schemas.microsoft.com/office/drawing/2014/main" id="{037BDEE9-84CC-496F-98BC-AF6396160120}"/>
              </a:ext>
            </a:extLst>
          </p:cNvPr>
          <p:cNvSpPr>
            <a:spLocks noGrp="1"/>
          </p:cNvSpPr>
          <p:nvPr/>
        </p:nvSpPr>
        <p:spPr>
          <a:xfrm flipH="1">
            <a:off x="6991350" y="4638675"/>
            <a:ext cx="628650" cy="0"/>
          </a:xfrm>
          <a:prstGeom prst="line">
            <a:avLst/>
          </a:prstGeom>
          <a:noFill/>
          <a:ln w="28575">
            <a:solidFill>
              <a:srgbClr val="D71E28"/>
            </a:solidFill>
            <a:prstDash val="solid"/>
          </a:ln>
        </p:spPr>
      </p:sp>
      <p:sp>
        <p:nvSpPr>
          <p:cNvPr id="12" name="Straight Connector 11">
            <a:extLst>
              <a:ext uri="{FF2B5EF4-FFF2-40B4-BE49-F238E27FC236}">
                <a16:creationId xmlns:a16="http://schemas.microsoft.com/office/drawing/2014/main" id="{FCA6D217-70B7-4EB5-A726-1AECA77B5386}"/>
              </a:ext>
            </a:extLst>
          </p:cNvPr>
          <p:cNvSpPr>
            <a:spLocks noGrp="1"/>
          </p:cNvSpPr>
          <p:nvPr/>
        </p:nvSpPr>
        <p:spPr>
          <a:xfrm flipH="1">
            <a:off x="3486150" y="4638675"/>
            <a:ext cx="628650" cy="0"/>
          </a:xfrm>
          <a:prstGeom prst="line">
            <a:avLst/>
          </a:prstGeom>
          <a:noFill/>
          <a:ln w="28575">
            <a:solidFill>
              <a:srgbClr val="D71E28"/>
            </a:solidFill>
            <a:prstDash val="solid"/>
          </a:ln>
        </p:spPr>
      </p:sp>
      <p:sp>
        <p:nvSpPr>
          <p:cNvPr id="13" name="Rectangle: Rounded Corners 12">
            <a:extLst>
              <a:ext uri="{FF2B5EF4-FFF2-40B4-BE49-F238E27FC236}">
                <a16:creationId xmlns:a16="http://schemas.microsoft.com/office/drawing/2014/main" id="{46031C96-64D4-440D-8E6A-92F0FF896324}"/>
              </a:ext>
            </a:extLst>
          </p:cNvPr>
          <p:cNvSpPr>
            <a:spLocks noGrp="1"/>
          </p:cNvSpPr>
          <p:nvPr/>
        </p:nvSpPr>
        <p:spPr>
          <a:xfrm>
            <a:off x="609600" y="1657350"/>
            <a:ext cx="2743200" cy="1619250"/>
          </a:xfrm>
          <a:prstGeom prst="roundRect">
            <a:avLst>
              <a:gd name="adj" fmla="val 8235"/>
            </a:avLst>
          </a:prstGeom>
          <a:solidFill>
            <a:srgbClr val="FFFFFF"/>
          </a:solidFill>
          <a:ln w="9525">
            <a:solidFill>
              <a:srgbClr val="D7DCE2"/>
            </a:solidFill>
            <a:prstDash val="solid"/>
          </a:ln>
        </p:spPr>
      </p:sp>
      <p:sp>
        <p:nvSpPr>
          <p:cNvPr id="14" name="Oval 13">
            <a:extLst>
              <a:ext uri="{FF2B5EF4-FFF2-40B4-BE49-F238E27FC236}">
                <a16:creationId xmlns:a16="http://schemas.microsoft.com/office/drawing/2014/main" id="{001466F6-4B88-4744-89AF-B20D67981BA7}"/>
              </a:ext>
            </a:extLst>
          </p:cNvPr>
          <p:cNvSpPr>
            <a:spLocks noGrp="1"/>
          </p:cNvSpPr>
          <p:nvPr/>
        </p:nvSpPr>
        <p:spPr>
          <a:xfrm>
            <a:off x="819150" y="1866900"/>
            <a:ext cx="342900" cy="3429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5" name="Rectangle 14">
            <a:extLst>
              <a:ext uri="{FF2B5EF4-FFF2-40B4-BE49-F238E27FC236}">
                <a16:creationId xmlns:a16="http://schemas.microsoft.com/office/drawing/2014/main" id="{FB0E207E-70C8-42C5-A3D7-59CD525D30B2}"/>
              </a:ext>
            </a:extLst>
          </p:cNvPr>
          <p:cNvSpPr>
            <a:spLocks noGrp="1"/>
          </p:cNvSpPr>
          <p:nvPr/>
        </p:nvSpPr>
        <p:spPr>
          <a:xfrm>
            <a:off x="1295400" y="1933575"/>
            <a:ext cx="1790700" cy="20955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ASK</a:t>
            </a:r>
          </a:p>
        </p:txBody>
      </p:sp>
      <p:sp>
        <p:nvSpPr>
          <p:cNvPr id="16" name="Rectangle 15">
            <a:extLst>
              <a:ext uri="{FF2B5EF4-FFF2-40B4-BE49-F238E27FC236}">
                <a16:creationId xmlns:a16="http://schemas.microsoft.com/office/drawing/2014/main" id="{F6E2EED1-7BBD-4367-8BF5-32BFBEC16769}"/>
              </a:ext>
            </a:extLst>
          </p:cNvPr>
          <p:cNvSpPr>
            <a:spLocks noGrp="1"/>
          </p:cNvSpPr>
          <p:nvPr/>
        </p:nvSpPr>
        <p:spPr>
          <a:xfrm>
            <a:off x="838200" y="2409825"/>
            <a:ext cx="2286000" cy="628650"/>
          </a:xfrm>
          <a:prstGeom prst="rect">
            <a:avLst/>
          </a:prstGeom>
          <a:noFill/>
          <a:ln w="0">
            <a:noFill/>
            <a:prstDash val="solid"/>
          </a:ln>
        </p:spPr>
        <p:txBody>
          <a:bodyPr lIns="0" tIns="0" rIns="0" bIns="0" anchor="t">
            <a:noAutofit/>
          </a:bodyPr>
          <a:lstStyle/>
          <a:p>
            <a:pPr algn="ctr">
              <a:lnSpc>
                <a:spcPct val="104000"/>
              </a:lnSpc>
              <a:buNone/>
              <a:defRPr sz="1425" b="1">
                <a:solidFill>
                  <a:srgbClr val="20252B"/>
                </a:solidFill>
                <a:latin typeface="Aptos"/>
                <a:ea typeface="Aptos"/>
                <a:cs typeface="Aptos"/>
              </a:defRPr>
            </a:pPr>
            <a:r>
              <a:rPr sz="1425" b="1">
                <a:solidFill>
                  <a:srgbClr val="20252B"/>
                </a:solidFill>
                <a:latin typeface="Aptos"/>
                <a:ea typeface="Aptos"/>
                <a:cs typeface="Aptos"/>
              </a:rPr>
              <a:t>User asks a trading-data question</a:t>
            </a:r>
          </a:p>
        </p:txBody>
      </p:sp>
      <p:sp>
        <p:nvSpPr>
          <p:cNvPr id="17" name="Rectangle: Rounded Corners 16">
            <a:extLst>
              <a:ext uri="{FF2B5EF4-FFF2-40B4-BE49-F238E27FC236}">
                <a16:creationId xmlns:a16="http://schemas.microsoft.com/office/drawing/2014/main" id="{22BC4ACF-71D7-4340-B76D-76F1C614103C}"/>
              </a:ext>
            </a:extLst>
          </p:cNvPr>
          <p:cNvSpPr>
            <a:spLocks noGrp="1"/>
          </p:cNvSpPr>
          <p:nvPr/>
        </p:nvSpPr>
        <p:spPr>
          <a:xfrm>
            <a:off x="4114800" y="1657350"/>
            <a:ext cx="2743200" cy="1619250"/>
          </a:xfrm>
          <a:prstGeom prst="roundRect">
            <a:avLst>
              <a:gd name="adj" fmla="val 8235"/>
            </a:avLst>
          </a:prstGeom>
          <a:solidFill>
            <a:srgbClr val="FFFFFF"/>
          </a:solidFill>
          <a:ln w="9525">
            <a:solidFill>
              <a:srgbClr val="D7DCE2"/>
            </a:solidFill>
            <a:prstDash val="solid"/>
          </a:ln>
        </p:spPr>
      </p:sp>
      <p:sp>
        <p:nvSpPr>
          <p:cNvPr id="18" name="Oval 17">
            <a:extLst>
              <a:ext uri="{FF2B5EF4-FFF2-40B4-BE49-F238E27FC236}">
                <a16:creationId xmlns:a16="http://schemas.microsoft.com/office/drawing/2014/main" id="{4773358E-8C57-47E3-9367-D9E93E0BB18A}"/>
              </a:ext>
            </a:extLst>
          </p:cNvPr>
          <p:cNvSpPr>
            <a:spLocks noGrp="1"/>
          </p:cNvSpPr>
          <p:nvPr/>
        </p:nvSpPr>
        <p:spPr>
          <a:xfrm>
            <a:off x="4324350" y="1866900"/>
            <a:ext cx="342900" cy="3429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9" name="Rectangle 18">
            <a:extLst>
              <a:ext uri="{FF2B5EF4-FFF2-40B4-BE49-F238E27FC236}">
                <a16:creationId xmlns:a16="http://schemas.microsoft.com/office/drawing/2014/main" id="{B8EBA5F6-C8EC-40BF-ABED-D5BC11C91D88}"/>
              </a:ext>
            </a:extLst>
          </p:cNvPr>
          <p:cNvSpPr>
            <a:spLocks noGrp="1"/>
          </p:cNvSpPr>
          <p:nvPr/>
        </p:nvSpPr>
        <p:spPr>
          <a:xfrm>
            <a:off x="4800600" y="1933575"/>
            <a:ext cx="1790700" cy="20955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DISCOVER</a:t>
            </a:r>
          </a:p>
        </p:txBody>
      </p:sp>
      <p:sp>
        <p:nvSpPr>
          <p:cNvPr id="20" name="Rectangle 19">
            <a:extLst>
              <a:ext uri="{FF2B5EF4-FFF2-40B4-BE49-F238E27FC236}">
                <a16:creationId xmlns:a16="http://schemas.microsoft.com/office/drawing/2014/main" id="{8AAAFC64-CF59-4950-A013-CE317FE1DBE7}"/>
              </a:ext>
            </a:extLst>
          </p:cNvPr>
          <p:cNvSpPr>
            <a:spLocks noGrp="1"/>
          </p:cNvSpPr>
          <p:nvPr/>
        </p:nvSpPr>
        <p:spPr>
          <a:xfrm>
            <a:off x="4343400" y="2409825"/>
            <a:ext cx="2286000" cy="628650"/>
          </a:xfrm>
          <a:prstGeom prst="rect">
            <a:avLst/>
          </a:prstGeom>
          <a:noFill/>
          <a:ln w="0">
            <a:noFill/>
            <a:prstDash val="solid"/>
          </a:ln>
        </p:spPr>
        <p:txBody>
          <a:bodyPr lIns="0" tIns="0" rIns="0" bIns="0" anchor="t">
            <a:noAutofit/>
          </a:bodyPr>
          <a:lstStyle/>
          <a:p>
            <a:pPr algn="ctr">
              <a:lnSpc>
                <a:spcPct val="104000"/>
              </a:lnSpc>
              <a:buNone/>
              <a:defRPr sz="1425" b="1">
                <a:solidFill>
                  <a:srgbClr val="20252B"/>
                </a:solidFill>
                <a:latin typeface="Aptos"/>
                <a:ea typeface="Aptos"/>
                <a:cs typeface="Aptos"/>
              </a:defRPr>
            </a:pPr>
            <a:r>
              <a:rPr sz="1425" b="1">
                <a:solidFill>
                  <a:srgbClr val="20252B"/>
                </a:solidFill>
                <a:latin typeface="Aptos"/>
                <a:ea typeface="Aptos"/>
                <a:cs typeface="Aptos"/>
              </a:rPr>
              <a:t>Find datasets, fields, dates, and join keys</a:t>
            </a:r>
          </a:p>
        </p:txBody>
      </p:sp>
      <p:sp>
        <p:nvSpPr>
          <p:cNvPr id="21" name="Rectangle: Rounded Corners 20">
            <a:extLst>
              <a:ext uri="{FF2B5EF4-FFF2-40B4-BE49-F238E27FC236}">
                <a16:creationId xmlns:a16="http://schemas.microsoft.com/office/drawing/2014/main" id="{67A15456-2C43-4842-9884-12BCE516D746}"/>
              </a:ext>
            </a:extLst>
          </p:cNvPr>
          <p:cNvSpPr>
            <a:spLocks noGrp="1"/>
          </p:cNvSpPr>
          <p:nvPr/>
        </p:nvSpPr>
        <p:spPr>
          <a:xfrm>
            <a:off x="7620000" y="1657350"/>
            <a:ext cx="2743200" cy="1619250"/>
          </a:xfrm>
          <a:prstGeom prst="roundRect">
            <a:avLst>
              <a:gd name="adj" fmla="val 8235"/>
            </a:avLst>
          </a:prstGeom>
          <a:solidFill>
            <a:srgbClr val="FFFFFF"/>
          </a:solidFill>
          <a:ln w="9525">
            <a:solidFill>
              <a:srgbClr val="D7DCE2"/>
            </a:solidFill>
            <a:prstDash val="solid"/>
          </a:ln>
        </p:spPr>
      </p:sp>
      <p:sp>
        <p:nvSpPr>
          <p:cNvPr id="22" name="Oval 21">
            <a:extLst>
              <a:ext uri="{FF2B5EF4-FFF2-40B4-BE49-F238E27FC236}">
                <a16:creationId xmlns:a16="http://schemas.microsoft.com/office/drawing/2014/main" id="{C790D672-08B8-44F9-B4DF-555676486E63}"/>
              </a:ext>
            </a:extLst>
          </p:cNvPr>
          <p:cNvSpPr>
            <a:spLocks noGrp="1"/>
          </p:cNvSpPr>
          <p:nvPr/>
        </p:nvSpPr>
        <p:spPr>
          <a:xfrm>
            <a:off x="7829550" y="1866900"/>
            <a:ext cx="342900" cy="3429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3" name="Rectangle 22">
            <a:extLst>
              <a:ext uri="{FF2B5EF4-FFF2-40B4-BE49-F238E27FC236}">
                <a16:creationId xmlns:a16="http://schemas.microsoft.com/office/drawing/2014/main" id="{32387FA8-36AE-46F1-AF71-FD51C442CE52}"/>
              </a:ext>
            </a:extLst>
          </p:cNvPr>
          <p:cNvSpPr>
            <a:spLocks noGrp="1"/>
          </p:cNvSpPr>
          <p:nvPr/>
        </p:nvSpPr>
        <p:spPr>
          <a:xfrm>
            <a:off x="8305800" y="1933575"/>
            <a:ext cx="1790700" cy="20955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OPEN</a:t>
            </a:r>
          </a:p>
        </p:txBody>
      </p:sp>
      <p:sp>
        <p:nvSpPr>
          <p:cNvPr id="24" name="Rectangle 23">
            <a:extLst>
              <a:ext uri="{FF2B5EF4-FFF2-40B4-BE49-F238E27FC236}">
                <a16:creationId xmlns:a16="http://schemas.microsoft.com/office/drawing/2014/main" id="{C9F3B296-E940-4F59-B42D-E44281854D88}"/>
              </a:ext>
            </a:extLst>
          </p:cNvPr>
          <p:cNvSpPr>
            <a:spLocks noGrp="1"/>
          </p:cNvSpPr>
          <p:nvPr/>
        </p:nvSpPr>
        <p:spPr>
          <a:xfrm>
            <a:off x="7848600" y="2409825"/>
            <a:ext cx="2286000" cy="628650"/>
          </a:xfrm>
          <a:prstGeom prst="rect">
            <a:avLst/>
          </a:prstGeom>
          <a:noFill/>
          <a:ln w="0">
            <a:noFill/>
            <a:prstDash val="solid"/>
          </a:ln>
        </p:spPr>
        <p:txBody>
          <a:bodyPr lIns="0" tIns="0" rIns="0" bIns="0" anchor="t">
            <a:noAutofit/>
          </a:bodyPr>
          <a:lstStyle/>
          <a:p>
            <a:pPr algn="ctr">
              <a:lnSpc>
                <a:spcPct val="104000"/>
              </a:lnSpc>
              <a:buNone/>
              <a:defRPr sz="1425" b="1">
                <a:solidFill>
                  <a:srgbClr val="20252B"/>
                </a:solidFill>
                <a:latin typeface="Aptos"/>
                <a:ea typeface="Aptos"/>
                <a:cs typeface="Aptos"/>
              </a:defRPr>
            </a:pPr>
            <a:r>
              <a:rPr sz="1425" b="1">
                <a:solidFill>
                  <a:srgbClr val="20252B"/>
                </a:solidFill>
                <a:latin typeface="Aptos"/>
                <a:ea typeface="Aptos"/>
                <a:cs typeface="Aptos"/>
              </a:rPr>
              <a:t>Start an in-memory DuckDB connection</a:t>
            </a:r>
          </a:p>
        </p:txBody>
      </p:sp>
      <p:sp>
        <p:nvSpPr>
          <p:cNvPr id="25" name="Rectangle: Rounded Corners 24">
            <a:extLst>
              <a:ext uri="{FF2B5EF4-FFF2-40B4-BE49-F238E27FC236}">
                <a16:creationId xmlns:a16="http://schemas.microsoft.com/office/drawing/2014/main" id="{31B18872-B4FD-402F-9D06-1D290DC7DF80}"/>
              </a:ext>
            </a:extLst>
          </p:cNvPr>
          <p:cNvSpPr>
            <a:spLocks noGrp="1"/>
          </p:cNvSpPr>
          <p:nvPr/>
        </p:nvSpPr>
        <p:spPr>
          <a:xfrm>
            <a:off x="7620000" y="3829050"/>
            <a:ext cx="2743200" cy="1619250"/>
          </a:xfrm>
          <a:prstGeom prst="roundRect">
            <a:avLst>
              <a:gd name="adj" fmla="val 8235"/>
            </a:avLst>
          </a:prstGeom>
          <a:solidFill>
            <a:srgbClr val="FFFFFF"/>
          </a:solidFill>
          <a:ln w="9525">
            <a:solidFill>
              <a:srgbClr val="D7DCE2"/>
            </a:solidFill>
            <a:prstDash val="solid"/>
          </a:ln>
        </p:spPr>
      </p:sp>
      <p:sp>
        <p:nvSpPr>
          <p:cNvPr id="26" name="Oval 25">
            <a:extLst>
              <a:ext uri="{FF2B5EF4-FFF2-40B4-BE49-F238E27FC236}">
                <a16:creationId xmlns:a16="http://schemas.microsoft.com/office/drawing/2014/main" id="{023B57A7-D66B-4CBB-8554-3DAF49E58240}"/>
              </a:ext>
            </a:extLst>
          </p:cNvPr>
          <p:cNvSpPr>
            <a:spLocks noGrp="1"/>
          </p:cNvSpPr>
          <p:nvPr/>
        </p:nvSpPr>
        <p:spPr>
          <a:xfrm>
            <a:off x="7829550" y="4038600"/>
            <a:ext cx="342900" cy="3429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27" name="Rectangle 26">
            <a:extLst>
              <a:ext uri="{FF2B5EF4-FFF2-40B4-BE49-F238E27FC236}">
                <a16:creationId xmlns:a16="http://schemas.microsoft.com/office/drawing/2014/main" id="{BBA4D7BE-D86B-4E4E-8122-DAAB14E711FB}"/>
              </a:ext>
            </a:extLst>
          </p:cNvPr>
          <p:cNvSpPr>
            <a:spLocks noGrp="1"/>
          </p:cNvSpPr>
          <p:nvPr/>
        </p:nvSpPr>
        <p:spPr>
          <a:xfrm>
            <a:off x="8305800" y="4105275"/>
            <a:ext cx="1790700" cy="20955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REGISTER</a:t>
            </a:r>
          </a:p>
        </p:txBody>
      </p:sp>
      <p:sp>
        <p:nvSpPr>
          <p:cNvPr id="28" name="Rectangle 27">
            <a:extLst>
              <a:ext uri="{FF2B5EF4-FFF2-40B4-BE49-F238E27FC236}">
                <a16:creationId xmlns:a16="http://schemas.microsoft.com/office/drawing/2014/main" id="{5E20A976-FB52-498C-A48A-046EF280457B}"/>
              </a:ext>
            </a:extLst>
          </p:cNvPr>
          <p:cNvSpPr>
            <a:spLocks noGrp="1"/>
          </p:cNvSpPr>
          <p:nvPr/>
        </p:nvSpPr>
        <p:spPr>
          <a:xfrm>
            <a:off x="7848600" y="4581525"/>
            <a:ext cx="2286000" cy="628650"/>
          </a:xfrm>
          <a:prstGeom prst="rect">
            <a:avLst/>
          </a:prstGeom>
          <a:noFill/>
          <a:ln w="0">
            <a:noFill/>
            <a:prstDash val="solid"/>
          </a:ln>
        </p:spPr>
        <p:txBody>
          <a:bodyPr lIns="0" tIns="0" rIns="0" bIns="0" anchor="t">
            <a:noAutofit/>
          </a:bodyPr>
          <a:lstStyle/>
          <a:p>
            <a:pPr algn="ctr">
              <a:lnSpc>
                <a:spcPct val="104000"/>
              </a:lnSpc>
              <a:buNone/>
              <a:defRPr sz="1425" b="1">
                <a:solidFill>
                  <a:srgbClr val="20252B"/>
                </a:solidFill>
                <a:latin typeface="Aptos"/>
                <a:ea typeface="Aptos"/>
                <a:cs typeface="Aptos"/>
              </a:defRPr>
            </a:pPr>
            <a:r>
              <a:rPr sz="1425" b="1">
                <a:solidFill>
                  <a:srgbClr val="20252B"/>
                </a:solidFill>
                <a:latin typeface="Aptos"/>
                <a:ea typeface="Aptos"/>
                <a:cs typeface="Aptos"/>
              </a:rPr>
              <a:t>Create date-scoped views over Parquet files</a:t>
            </a:r>
          </a:p>
        </p:txBody>
      </p:sp>
      <p:sp>
        <p:nvSpPr>
          <p:cNvPr id="29" name="Rectangle: Rounded Corners 28">
            <a:extLst>
              <a:ext uri="{FF2B5EF4-FFF2-40B4-BE49-F238E27FC236}">
                <a16:creationId xmlns:a16="http://schemas.microsoft.com/office/drawing/2014/main" id="{4486861E-1572-4B2E-B22B-A8AC99356AF4}"/>
              </a:ext>
            </a:extLst>
          </p:cNvPr>
          <p:cNvSpPr>
            <a:spLocks noGrp="1"/>
          </p:cNvSpPr>
          <p:nvPr/>
        </p:nvSpPr>
        <p:spPr>
          <a:xfrm>
            <a:off x="4114800" y="3829050"/>
            <a:ext cx="2743200" cy="1619250"/>
          </a:xfrm>
          <a:prstGeom prst="roundRect">
            <a:avLst>
              <a:gd name="adj" fmla="val 8235"/>
            </a:avLst>
          </a:prstGeom>
          <a:solidFill>
            <a:srgbClr val="FFFFFF"/>
          </a:solidFill>
          <a:ln w="9525">
            <a:solidFill>
              <a:srgbClr val="D7DCE2"/>
            </a:solidFill>
            <a:prstDash val="solid"/>
          </a:ln>
        </p:spPr>
      </p:sp>
      <p:sp>
        <p:nvSpPr>
          <p:cNvPr id="30" name="Oval 29">
            <a:extLst>
              <a:ext uri="{FF2B5EF4-FFF2-40B4-BE49-F238E27FC236}">
                <a16:creationId xmlns:a16="http://schemas.microsoft.com/office/drawing/2014/main" id="{3194099E-3090-45D8-BF94-3C3919CEB356}"/>
              </a:ext>
            </a:extLst>
          </p:cNvPr>
          <p:cNvSpPr>
            <a:spLocks noGrp="1"/>
          </p:cNvSpPr>
          <p:nvPr/>
        </p:nvSpPr>
        <p:spPr>
          <a:xfrm>
            <a:off x="4324350" y="4038600"/>
            <a:ext cx="342900" cy="3429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31" name="Rectangle 30">
            <a:extLst>
              <a:ext uri="{FF2B5EF4-FFF2-40B4-BE49-F238E27FC236}">
                <a16:creationId xmlns:a16="http://schemas.microsoft.com/office/drawing/2014/main" id="{003AEE34-F73C-4EC9-8EAF-E9FCE2F65D50}"/>
              </a:ext>
            </a:extLst>
          </p:cNvPr>
          <p:cNvSpPr>
            <a:spLocks noGrp="1"/>
          </p:cNvSpPr>
          <p:nvPr/>
        </p:nvSpPr>
        <p:spPr>
          <a:xfrm>
            <a:off x="4800600" y="4105275"/>
            <a:ext cx="1790700" cy="209550"/>
          </a:xfrm>
          <a:prstGeom prst="rect">
            <a:avLst/>
          </a:prstGeom>
          <a:noFill/>
          <a:ln w="0">
            <a:noFill/>
            <a:prstDash val="solid"/>
          </a:ln>
        </p:spPr>
        <p:txBody>
          <a:bodyPr lIns="0" tIns="0" rIns="0" bIns="0" anchor="t">
            <a:noAutofit/>
          </a:bodyPr>
          <a:lstStyle/>
          <a:p>
            <a:pPr algn="l">
              <a:lnSpc>
                <a:spcPct val="100000"/>
              </a:lnSpc>
              <a:buNone/>
              <a:defRPr sz="1125" b="1">
                <a:solidFill>
                  <a:srgbClr val="971B2F"/>
                </a:solidFill>
                <a:latin typeface="Aptos"/>
                <a:ea typeface="Aptos"/>
                <a:cs typeface="Aptos"/>
              </a:defRPr>
            </a:pPr>
            <a:r>
              <a:rPr sz="1125" b="1">
                <a:solidFill>
                  <a:srgbClr val="971B2F"/>
                </a:solidFill>
                <a:latin typeface="Aptos"/>
                <a:ea typeface="Aptos"/>
                <a:cs typeface="Aptos"/>
              </a:rPr>
              <a:t>EXECUTE</a:t>
            </a:r>
          </a:p>
        </p:txBody>
      </p:sp>
      <p:sp>
        <p:nvSpPr>
          <p:cNvPr id="32" name="Rectangle 31">
            <a:extLst>
              <a:ext uri="{FF2B5EF4-FFF2-40B4-BE49-F238E27FC236}">
                <a16:creationId xmlns:a16="http://schemas.microsoft.com/office/drawing/2014/main" id="{A6772BE3-ED48-4ADC-BE14-396B068CC461}"/>
              </a:ext>
            </a:extLst>
          </p:cNvPr>
          <p:cNvSpPr>
            <a:spLocks noGrp="1"/>
          </p:cNvSpPr>
          <p:nvPr/>
        </p:nvSpPr>
        <p:spPr>
          <a:xfrm>
            <a:off x="4343400" y="4581525"/>
            <a:ext cx="2286000" cy="628650"/>
          </a:xfrm>
          <a:prstGeom prst="rect">
            <a:avLst/>
          </a:prstGeom>
          <a:noFill/>
          <a:ln w="0">
            <a:noFill/>
            <a:prstDash val="solid"/>
          </a:ln>
        </p:spPr>
        <p:txBody>
          <a:bodyPr lIns="0" tIns="0" rIns="0" bIns="0" anchor="t">
            <a:noAutofit/>
          </a:bodyPr>
          <a:lstStyle/>
          <a:p>
            <a:pPr algn="ctr">
              <a:lnSpc>
                <a:spcPct val="104000"/>
              </a:lnSpc>
              <a:buNone/>
              <a:defRPr sz="1425" b="1">
                <a:solidFill>
                  <a:srgbClr val="20252B"/>
                </a:solidFill>
                <a:latin typeface="Aptos"/>
                <a:ea typeface="Aptos"/>
                <a:cs typeface="Aptos"/>
              </a:defRPr>
            </a:pPr>
            <a:r>
              <a:rPr sz="1425" b="1">
                <a:solidFill>
                  <a:srgbClr val="20252B"/>
                </a:solidFill>
                <a:latin typeface="Aptos"/>
                <a:ea typeface="Aptos"/>
                <a:cs typeface="Aptos"/>
              </a:rPr>
              <a:t>Run with SQL safety and row limits</a:t>
            </a:r>
          </a:p>
        </p:txBody>
      </p:sp>
      <p:sp>
        <p:nvSpPr>
          <p:cNvPr id="33" name="Rectangle: Rounded Corners 32">
            <a:extLst>
              <a:ext uri="{FF2B5EF4-FFF2-40B4-BE49-F238E27FC236}">
                <a16:creationId xmlns:a16="http://schemas.microsoft.com/office/drawing/2014/main" id="{AFEFFC8C-5C9D-4035-A572-8FCA14AD0DEE}"/>
              </a:ext>
            </a:extLst>
          </p:cNvPr>
          <p:cNvSpPr>
            <a:spLocks noGrp="1"/>
          </p:cNvSpPr>
          <p:nvPr/>
        </p:nvSpPr>
        <p:spPr>
          <a:xfrm>
            <a:off x="609600" y="3829050"/>
            <a:ext cx="2743200" cy="1619250"/>
          </a:xfrm>
          <a:prstGeom prst="roundRect">
            <a:avLst>
              <a:gd name="adj" fmla="val 8235"/>
            </a:avLst>
          </a:prstGeom>
          <a:solidFill>
            <a:schemeClr val="accent6">
              <a:lumMod val="75000"/>
            </a:schemeClr>
          </a:solidFill>
          <a:ln w="9525">
            <a:solidFill>
              <a:srgbClr val="20252B"/>
            </a:solidFill>
            <a:prstDash val="solid"/>
          </a:ln>
        </p:spPr>
      </p:sp>
      <p:sp>
        <p:nvSpPr>
          <p:cNvPr id="34" name="Oval 33">
            <a:extLst>
              <a:ext uri="{FF2B5EF4-FFF2-40B4-BE49-F238E27FC236}">
                <a16:creationId xmlns:a16="http://schemas.microsoft.com/office/drawing/2014/main" id="{367CF521-FDFD-403C-840E-03CB1D07192D}"/>
              </a:ext>
            </a:extLst>
          </p:cNvPr>
          <p:cNvSpPr>
            <a:spLocks noGrp="1"/>
          </p:cNvSpPr>
          <p:nvPr/>
        </p:nvSpPr>
        <p:spPr>
          <a:xfrm>
            <a:off x="819150" y="4038600"/>
            <a:ext cx="342900" cy="342900"/>
          </a:xfrm>
          <a:prstGeom prst="ellipse">
            <a:avLst/>
          </a:prstGeom>
          <a:solidFill>
            <a:srgbClr val="8A5A00"/>
          </a:solidFill>
          <a:ln w="9525">
            <a:solidFill>
              <a:srgbClr val="8A5A00"/>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6</a:t>
            </a:r>
          </a:p>
        </p:txBody>
      </p:sp>
      <p:sp>
        <p:nvSpPr>
          <p:cNvPr id="35" name="Rectangle 34">
            <a:extLst>
              <a:ext uri="{FF2B5EF4-FFF2-40B4-BE49-F238E27FC236}">
                <a16:creationId xmlns:a16="http://schemas.microsoft.com/office/drawing/2014/main" id="{F652E96C-9C58-490E-8637-724CF6CE3A05}"/>
              </a:ext>
            </a:extLst>
          </p:cNvPr>
          <p:cNvSpPr>
            <a:spLocks noGrp="1"/>
          </p:cNvSpPr>
          <p:nvPr/>
        </p:nvSpPr>
        <p:spPr>
          <a:xfrm>
            <a:off x="1295400" y="4105275"/>
            <a:ext cx="1790700" cy="209550"/>
          </a:xfrm>
          <a:prstGeom prst="rect">
            <a:avLst/>
          </a:prstGeom>
          <a:noFill/>
          <a:ln w="0">
            <a:noFill/>
            <a:prstDash val="solid"/>
          </a:ln>
        </p:spPr>
        <p:txBody>
          <a:bodyPr lIns="0" tIns="0" rIns="0" bIns="0" anchor="t">
            <a:noAutofit/>
          </a:bodyPr>
          <a:lstStyle/>
          <a:p>
            <a:pPr algn="l">
              <a:lnSpc>
                <a:spcPct val="100000"/>
              </a:lnSpc>
              <a:buNone/>
              <a:defRPr sz="1125" b="1">
                <a:solidFill>
                  <a:srgbClr val="FFCD41"/>
                </a:solidFill>
                <a:latin typeface="Aptos"/>
                <a:ea typeface="Aptos"/>
                <a:cs typeface="Aptos"/>
              </a:defRPr>
            </a:pPr>
            <a:r>
              <a:rPr sz="1125" b="1">
                <a:solidFill>
                  <a:srgbClr val="FFCD41"/>
                </a:solidFill>
                <a:latin typeface="Aptos"/>
                <a:ea typeface="Aptos"/>
                <a:cs typeface="Aptos"/>
              </a:rPr>
              <a:t>RETURN</a:t>
            </a:r>
          </a:p>
        </p:txBody>
      </p:sp>
      <p:sp>
        <p:nvSpPr>
          <p:cNvPr id="36" name="Rectangle 35">
            <a:extLst>
              <a:ext uri="{FF2B5EF4-FFF2-40B4-BE49-F238E27FC236}">
                <a16:creationId xmlns:a16="http://schemas.microsoft.com/office/drawing/2014/main" id="{E97AC979-52DB-4C9B-8086-B6C218C03BB2}"/>
              </a:ext>
            </a:extLst>
          </p:cNvPr>
          <p:cNvSpPr>
            <a:spLocks noGrp="1"/>
          </p:cNvSpPr>
          <p:nvPr/>
        </p:nvSpPr>
        <p:spPr>
          <a:xfrm>
            <a:off x="838200" y="4581525"/>
            <a:ext cx="2286000" cy="628650"/>
          </a:xfrm>
          <a:prstGeom prst="rect">
            <a:avLst/>
          </a:prstGeom>
          <a:noFill/>
          <a:ln w="0">
            <a:noFill/>
            <a:prstDash val="solid"/>
          </a:ln>
        </p:spPr>
        <p:txBody>
          <a:bodyPr lIns="0" tIns="0" rIns="0" bIns="0" anchor="t">
            <a:noAutofit/>
          </a:bodyPr>
          <a:lstStyle/>
          <a:p>
            <a:pPr algn="ctr">
              <a:lnSpc>
                <a:spcPct val="104000"/>
              </a:lnSpc>
              <a:buNone/>
              <a:defRPr sz="1425" b="1">
                <a:solidFill>
                  <a:srgbClr val="FFFFFF"/>
                </a:solidFill>
                <a:latin typeface="Aptos"/>
                <a:ea typeface="Aptos"/>
                <a:cs typeface="Aptos"/>
              </a:defRPr>
            </a:pPr>
            <a:r>
              <a:rPr sz="1425" b="1">
                <a:solidFill>
                  <a:srgbClr val="FFFFFF"/>
                </a:solidFill>
                <a:latin typeface="Aptos"/>
                <a:ea typeface="Aptos"/>
                <a:cs typeface="Aptos"/>
              </a:rPr>
              <a:t>Send structured results to the assistant</a:t>
            </a:r>
          </a:p>
        </p:txBody>
      </p:sp>
      <p:sp>
        <p:nvSpPr>
          <p:cNvPr id="37" name="Rectangle: Rounded Corners 36">
            <a:extLst>
              <a:ext uri="{FF2B5EF4-FFF2-40B4-BE49-F238E27FC236}">
                <a16:creationId xmlns:a16="http://schemas.microsoft.com/office/drawing/2014/main" id="{8F8EDC17-A113-4CF1-9DCC-A4CFD573ED1E}"/>
              </a:ext>
            </a:extLst>
          </p:cNvPr>
          <p:cNvSpPr>
            <a:spLocks noGrp="1"/>
          </p:cNvSpPr>
          <p:nvPr/>
        </p:nvSpPr>
        <p:spPr>
          <a:xfrm>
            <a:off x="609600" y="5753100"/>
            <a:ext cx="10668000" cy="400050"/>
          </a:xfrm>
          <a:prstGeom prst="roundRect">
            <a:avLst>
              <a:gd name="adj" fmla="val 19048"/>
            </a:avLst>
          </a:prstGeom>
          <a:solidFill>
            <a:srgbClr val="EEF1F4"/>
          </a:solidFill>
          <a:ln w="9525">
            <a:solidFill>
              <a:srgbClr val="D7DCE2"/>
            </a:solidFill>
            <a:prstDash val="solid"/>
          </a:ln>
        </p:spPr>
      </p:sp>
      <p:sp>
        <p:nvSpPr>
          <p:cNvPr id="38" name="Rectangle 37">
            <a:extLst>
              <a:ext uri="{FF2B5EF4-FFF2-40B4-BE49-F238E27FC236}">
                <a16:creationId xmlns:a16="http://schemas.microsoft.com/office/drawing/2014/main" id="{08C3380C-955F-4069-BFBE-D9CF8AA2D278}"/>
              </a:ext>
            </a:extLst>
          </p:cNvPr>
          <p:cNvSpPr>
            <a:spLocks noGrp="1"/>
          </p:cNvSpPr>
          <p:nvPr/>
        </p:nvSpPr>
        <p:spPr>
          <a:xfrm>
            <a:off x="800100" y="5857875"/>
            <a:ext cx="10287000" cy="190500"/>
          </a:xfrm>
          <a:prstGeom prst="rect">
            <a:avLst/>
          </a:prstGeom>
          <a:noFill/>
          <a:ln w="0">
            <a:noFill/>
            <a:prstDash val="solid"/>
          </a:ln>
        </p:spPr>
        <p:txBody>
          <a:bodyPr lIns="0" tIns="0" rIns="0" bIns="0" anchor="t">
            <a:noAutofit/>
          </a:bodyPr>
          <a:lstStyle/>
          <a:p>
            <a:pPr algn="ctr">
              <a:lnSpc>
                <a:spcPct val="100000"/>
              </a:lnSpc>
              <a:buNone/>
              <a:defRPr sz="1200" b="1">
                <a:solidFill>
                  <a:srgbClr val="20252B"/>
                </a:solidFill>
                <a:latin typeface="Aptos"/>
                <a:ea typeface="Aptos"/>
                <a:cs typeface="Aptos"/>
              </a:defRPr>
            </a:pPr>
            <a:r>
              <a:rPr sz="1200" b="1">
                <a:solidFill>
                  <a:srgbClr val="20252B"/>
                </a:solidFill>
                <a:latin typeface="Aptos"/>
                <a:ea typeface="Aptos"/>
                <a:cs typeface="Aptos"/>
              </a:rPr>
              <a:t>Join key = field used to connect datasets  •  Date-scoped view = queryable data limited to requested business dates</a:t>
            </a:r>
          </a:p>
        </p:txBody>
      </p:sp>
    </p:spTree>
    <p:extLst>
      <p:ext uri="{BB962C8B-B14F-4D97-AF65-F5344CB8AC3E}">
        <p14:creationId xmlns:p14="http://schemas.microsoft.com/office/powerpoint/2010/main" val="1826606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66D46BDA-0F78-4440-974D-16482C2A123A}"/>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1676254B-7824-486A-BEFD-7B5E84884CD7}"/>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CONTROLS</a:t>
            </a:r>
          </a:p>
        </p:txBody>
      </p:sp>
      <p:sp>
        <p:nvSpPr>
          <p:cNvPr id="3" name="Rectangle 2">
            <a:extLst>
              <a:ext uri="{FF2B5EF4-FFF2-40B4-BE49-F238E27FC236}">
                <a16:creationId xmlns:a16="http://schemas.microsoft.com/office/drawing/2014/main" id="{66E7A7A9-A789-48D3-8173-97B76E7FCD19}"/>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Governance is built into the query path</a:t>
            </a:r>
          </a:p>
        </p:txBody>
      </p:sp>
      <p:sp>
        <p:nvSpPr>
          <p:cNvPr id="4" name="Straight Connector 3">
            <a:extLst>
              <a:ext uri="{FF2B5EF4-FFF2-40B4-BE49-F238E27FC236}">
                <a16:creationId xmlns:a16="http://schemas.microsoft.com/office/drawing/2014/main" id="{41FE704D-F26E-4561-9BAD-02E4B5592FAB}"/>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EDB66C07-D287-45DE-92C9-B5A8035EFFE6}"/>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58530045-AE19-4BA5-BF4E-23B3969F3ABF}"/>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11</a:t>
            </a:r>
          </a:p>
        </p:txBody>
      </p:sp>
      <p:sp>
        <p:nvSpPr>
          <p:cNvPr id="7" name="Rectangle 6">
            <a:extLst>
              <a:ext uri="{FF2B5EF4-FFF2-40B4-BE49-F238E27FC236}">
                <a16:creationId xmlns:a16="http://schemas.microsoft.com/office/drawing/2014/main" id="{CB5B93A6-18F1-4F70-B9C5-856399F34236}"/>
              </a:ext>
            </a:extLst>
          </p:cNvPr>
          <p:cNvSpPr>
            <a:spLocks noGrp="1"/>
          </p:cNvSpPr>
          <p:nvPr/>
        </p:nvSpPr>
        <p:spPr>
          <a:xfrm>
            <a:off x="609600" y="1104900"/>
            <a:ext cx="93345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The solution is configured to keep queries read-only, bounded, and traceable.</a:t>
            </a:r>
          </a:p>
        </p:txBody>
      </p:sp>
      <p:sp>
        <p:nvSpPr>
          <p:cNvPr id="8" name="Rectangle: Rounded Corners 7">
            <a:extLst>
              <a:ext uri="{FF2B5EF4-FFF2-40B4-BE49-F238E27FC236}">
                <a16:creationId xmlns:a16="http://schemas.microsoft.com/office/drawing/2014/main" id="{76F9A944-E7E0-4F86-97D1-5B02AAD14ADB}"/>
              </a:ext>
            </a:extLst>
          </p:cNvPr>
          <p:cNvSpPr>
            <a:spLocks noGrp="1"/>
          </p:cNvSpPr>
          <p:nvPr/>
        </p:nvSpPr>
        <p:spPr>
          <a:xfrm>
            <a:off x="609600" y="1619250"/>
            <a:ext cx="3238500" cy="1676400"/>
          </a:xfrm>
          <a:prstGeom prst="roundRect">
            <a:avLst>
              <a:gd name="adj" fmla="val 7955"/>
            </a:avLst>
          </a:prstGeom>
          <a:solidFill>
            <a:srgbClr val="FFFFFF"/>
          </a:solidFill>
          <a:ln w="9525">
            <a:solidFill>
              <a:srgbClr val="D71E28"/>
            </a:solidFill>
            <a:prstDash val="solid"/>
          </a:ln>
        </p:spPr>
      </p:sp>
      <p:sp>
        <p:nvSpPr>
          <p:cNvPr id="9" name="Oval 8">
            <a:extLst>
              <a:ext uri="{FF2B5EF4-FFF2-40B4-BE49-F238E27FC236}">
                <a16:creationId xmlns:a16="http://schemas.microsoft.com/office/drawing/2014/main" id="{AE7FD3F3-8949-47BD-981D-0A666096D151}"/>
              </a:ext>
            </a:extLst>
          </p:cNvPr>
          <p:cNvSpPr>
            <a:spLocks noGrp="1"/>
          </p:cNvSpPr>
          <p:nvPr/>
        </p:nvSpPr>
        <p:spPr>
          <a:xfrm>
            <a:off x="819150" y="1828800"/>
            <a:ext cx="323850" cy="3238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0" name="Rectangle 9">
            <a:extLst>
              <a:ext uri="{FF2B5EF4-FFF2-40B4-BE49-F238E27FC236}">
                <a16:creationId xmlns:a16="http://schemas.microsoft.com/office/drawing/2014/main" id="{77A9F7C3-8701-4A72-AD0F-1C4B062D6362}"/>
              </a:ext>
            </a:extLst>
          </p:cNvPr>
          <p:cNvSpPr>
            <a:spLocks noGrp="1"/>
          </p:cNvSpPr>
          <p:nvPr/>
        </p:nvSpPr>
        <p:spPr>
          <a:xfrm>
            <a:off x="1295400" y="1876425"/>
            <a:ext cx="2305050" cy="209550"/>
          </a:xfrm>
          <a:prstGeom prst="rect">
            <a:avLst/>
          </a:prstGeom>
          <a:noFill/>
          <a:ln w="0">
            <a:noFill/>
            <a:prstDash val="solid"/>
          </a:ln>
        </p:spPr>
        <p:txBody>
          <a:bodyPr lIns="0" tIns="0" rIns="0" bIns="0" anchor="t">
            <a:noAutofit/>
          </a:bodyPr>
          <a:lstStyle/>
          <a:p>
            <a:pPr algn="l">
              <a:lnSpc>
                <a:spcPct val="100000"/>
              </a:lnSpc>
              <a:buNone/>
              <a:defRPr sz="1050" b="1">
                <a:solidFill>
                  <a:srgbClr val="971B2F"/>
                </a:solidFill>
                <a:latin typeface="Aptos"/>
                <a:ea typeface="Aptos"/>
                <a:cs typeface="Aptos"/>
              </a:defRPr>
            </a:pPr>
            <a:r>
              <a:rPr sz="1050" b="1">
                <a:solidFill>
                  <a:srgbClr val="971B2F"/>
                </a:solidFill>
                <a:latin typeface="Aptos"/>
                <a:ea typeface="Aptos"/>
                <a:cs typeface="Aptos"/>
              </a:rPr>
              <a:t>READ ONLY</a:t>
            </a:r>
          </a:p>
        </p:txBody>
      </p:sp>
      <p:sp>
        <p:nvSpPr>
          <p:cNvPr id="11" name="Rectangle 10">
            <a:extLst>
              <a:ext uri="{FF2B5EF4-FFF2-40B4-BE49-F238E27FC236}">
                <a16:creationId xmlns:a16="http://schemas.microsoft.com/office/drawing/2014/main" id="{C5B7777A-4487-4C31-B435-25A65442FF91}"/>
              </a:ext>
            </a:extLst>
          </p:cNvPr>
          <p:cNvSpPr>
            <a:spLocks noGrp="1"/>
          </p:cNvSpPr>
          <p:nvPr/>
        </p:nvSpPr>
        <p:spPr>
          <a:xfrm>
            <a:off x="838200" y="2343150"/>
            <a:ext cx="2781300" cy="419100"/>
          </a:xfrm>
          <a:prstGeom prst="rect">
            <a:avLst/>
          </a:prstGeom>
          <a:noFill/>
          <a:ln w="0">
            <a:noFill/>
            <a:prstDash val="solid"/>
          </a:ln>
        </p:spPr>
        <p:txBody>
          <a:bodyPr lIns="0" tIns="0" rIns="0" bIns="0" anchor="t">
            <a:noAutofit/>
          </a:bodyPr>
          <a:lstStyle/>
          <a:p>
            <a:pPr algn="l">
              <a:lnSpc>
                <a:spcPct val="104000"/>
              </a:lnSpc>
              <a:buNone/>
              <a:defRPr sz="1350" b="1">
                <a:solidFill>
                  <a:srgbClr val="20252B"/>
                </a:solidFill>
                <a:latin typeface="Aptos"/>
                <a:ea typeface="Aptos"/>
                <a:cs typeface="Aptos"/>
              </a:defRPr>
            </a:pPr>
            <a:r>
              <a:rPr sz="1350" b="1">
                <a:solidFill>
                  <a:srgbClr val="20252B"/>
                </a:solidFill>
                <a:latin typeface="Aptos"/>
                <a:ea typeface="Aptos"/>
                <a:cs typeface="Aptos"/>
              </a:rPr>
              <a:t>Writes disabled by default</a:t>
            </a:r>
          </a:p>
        </p:txBody>
      </p:sp>
      <p:sp>
        <p:nvSpPr>
          <p:cNvPr id="12" name="Rectangle 11">
            <a:extLst>
              <a:ext uri="{FF2B5EF4-FFF2-40B4-BE49-F238E27FC236}">
                <a16:creationId xmlns:a16="http://schemas.microsoft.com/office/drawing/2014/main" id="{872980AE-19CF-4F3B-908E-6E0276C07A4D}"/>
              </a:ext>
            </a:extLst>
          </p:cNvPr>
          <p:cNvSpPr>
            <a:spLocks noGrp="1"/>
          </p:cNvSpPr>
          <p:nvPr/>
        </p:nvSpPr>
        <p:spPr>
          <a:xfrm>
            <a:off x="838200" y="2876550"/>
            <a:ext cx="2781300" cy="342900"/>
          </a:xfrm>
          <a:prstGeom prst="rect">
            <a:avLst/>
          </a:prstGeom>
          <a:noFill/>
          <a:ln w="0">
            <a:noFill/>
            <a:prstDash val="solid"/>
          </a:ln>
        </p:spPr>
        <p:txBody>
          <a:bodyPr lIns="0" tIns="0" rIns="0" bIns="0" anchor="b">
            <a:noAutofit/>
          </a:bodyPr>
          <a:lstStyle/>
          <a:p>
            <a:pPr algn="l">
              <a:lnSpc>
                <a:spcPct val="100000"/>
              </a:lnSpc>
              <a:buNone/>
              <a:defRPr sz="1200" b="1">
                <a:solidFill>
                  <a:srgbClr val="5D6772"/>
                </a:solidFill>
                <a:latin typeface="Aptos Mono"/>
                <a:ea typeface="Aptos Mono"/>
                <a:cs typeface="Aptos Mono"/>
              </a:defRPr>
            </a:pPr>
            <a:r>
              <a:rPr sz="1200" b="1">
                <a:solidFill>
                  <a:srgbClr val="5D6772"/>
                </a:solidFill>
                <a:latin typeface="Aptos Mono"/>
                <a:ea typeface="Aptos Mono"/>
                <a:cs typeface="Aptos Mono"/>
              </a:rPr>
              <a:t>allow_writes: false</a:t>
            </a:r>
          </a:p>
        </p:txBody>
      </p:sp>
      <p:sp>
        <p:nvSpPr>
          <p:cNvPr id="13" name="Rectangle: Rounded Corners 12">
            <a:extLst>
              <a:ext uri="{FF2B5EF4-FFF2-40B4-BE49-F238E27FC236}">
                <a16:creationId xmlns:a16="http://schemas.microsoft.com/office/drawing/2014/main" id="{3906B8CC-2B88-49A1-A90A-A290C5D0A21E}"/>
              </a:ext>
            </a:extLst>
          </p:cNvPr>
          <p:cNvSpPr>
            <a:spLocks noGrp="1"/>
          </p:cNvSpPr>
          <p:nvPr/>
        </p:nvSpPr>
        <p:spPr>
          <a:xfrm>
            <a:off x="4171950" y="1619250"/>
            <a:ext cx="3238500" cy="1676400"/>
          </a:xfrm>
          <a:prstGeom prst="roundRect">
            <a:avLst>
              <a:gd name="adj" fmla="val 7955"/>
            </a:avLst>
          </a:prstGeom>
          <a:solidFill>
            <a:srgbClr val="FFFFFF"/>
          </a:solidFill>
          <a:ln w="9525">
            <a:solidFill>
              <a:srgbClr val="D7DCE2"/>
            </a:solidFill>
            <a:prstDash val="solid"/>
          </a:ln>
        </p:spPr>
      </p:sp>
      <p:sp>
        <p:nvSpPr>
          <p:cNvPr id="14" name="Oval 13">
            <a:extLst>
              <a:ext uri="{FF2B5EF4-FFF2-40B4-BE49-F238E27FC236}">
                <a16:creationId xmlns:a16="http://schemas.microsoft.com/office/drawing/2014/main" id="{3B4E7299-A32F-45C5-BBDC-3190BC71925F}"/>
              </a:ext>
            </a:extLst>
          </p:cNvPr>
          <p:cNvSpPr>
            <a:spLocks noGrp="1"/>
          </p:cNvSpPr>
          <p:nvPr/>
        </p:nvSpPr>
        <p:spPr>
          <a:xfrm>
            <a:off x="4381500" y="1828800"/>
            <a:ext cx="323850" cy="3238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5" name="Rectangle 14">
            <a:extLst>
              <a:ext uri="{FF2B5EF4-FFF2-40B4-BE49-F238E27FC236}">
                <a16:creationId xmlns:a16="http://schemas.microsoft.com/office/drawing/2014/main" id="{25F3465E-97E6-4DB0-A265-7984BE9C5D6F}"/>
              </a:ext>
            </a:extLst>
          </p:cNvPr>
          <p:cNvSpPr>
            <a:spLocks noGrp="1"/>
          </p:cNvSpPr>
          <p:nvPr/>
        </p:nvSpPr>
        <p:spPr>
          <a:xfrm>
            <a:off x="4857750" y="1876425"/>
            <a:ext cx="2305050" cy="209550"/>
          </a:xfrm>
          <a:prstGeom prst="rect">
            <a:avLst/>
          </a:prstGeom>
          <a:noFill/>
          <a:ln w="0">
            <a:noFill/>
            <a:prstDash val="solid"/>
          </a:ln>
        </p:spPr>
        <p:txBody>
          <a:bodyPr lIns="0" tIns="0" rIns="0" bIns="0" anchor="t">
            <a:noAutofit/>
          </a:bodyPr>
          <a:lstStyle/>
          <a:p>
            <a:pPr algn="l">
              <a:lnSpc>
                <a:spcPct val="100000"/>
              </a:lnSpc>
              <a:buNone/>
              <a:defRPr sz="1050" b="1">
                <a:solidFill>
                  <a:srgbClr val="971B2F"/>
                </a:solidFill>
                <a:latin typeface="Aptos"/>
                <a:ea typeface="Aptos"/>
                <a:cs typeface="Aptos"/>
              </a:defRPr>
            </a:pPr>
            <a:r>
              <a:rPr sz="1050" b="1">
                <a:solidFill>
                  <a:srgbClr val="971B2F"/>
                </a:solidFill>
                <a:latin typeface="Aptos"/>
                <a:ea typeface="Aptos"/>
                <a:cs typeface="Aptos"/>
              </a:rPr>
              <a:t>BLOCKED OPERATIONS</a:t>
            </a:r>
          </a:p>
        </p:txBody>
      </p:sp>
      <p:sp>
        <p:nvSpPr>
          <p:cNvPr id="16" name="Rectangle 15">
            <a:extLst>
              <a:ext uri="{FF2B5EF4-FFF2-40B4-BE49-F238E27FC236}">
                <a16:creationId xmlns:a16="http://schemas.microsoft.com/office/drawing/2014/main" id="{B061760C-04F6-400D-BC16-6481C4FB42DF}"/>
              </a:ext>
            </a:extLst>
          </p:cNvPr>
          <p:cNvSpPr>
            <a:spLocks noGrp="1"/>
          </p:cNvSpPr>
          <p:nvPr/>
        </p:nvSpPr>
        <p:spPr>
          <a:xfrm>
            <a:off x="4400550" y="2343150"/>
            <a:ext cx="2781300" cy="419100"/>
          </a:xfrm>
          <a:prstGeom prst="rect">
            <a:avLst/>
          </a:prstGeom>
          <a:noFill/>
          <a:ln w="0">
            <a:noFill/>
            <a:prstDash val="solid"/>
          </a:ln>
        </p:spPr>
        <p:txBody>
          <a:bodyPr lIns="0" tIns="0" rIns="0" bIns="0" anchor="t">
            <a:noAutofit/>
          </a:bodyPr>
          <a:lstStyle/>
          <a:p>
            <a:pPr algn="l">
              <a:lnSpc>
                <a:spcPct val="104000"/>
              </a:lnSpc>
              <a:buNone/>
              <a:defRPr sz="1350" b="1">
                <a:solidFill>
                  <a:srgbClr val="20252B"/>
                </a:solidFill>
                <a:latin typeface="Aptos"/>
                <a:ea typeface="Aptos"/>
                <a:cs typeface="Aptos"/>
              </a:defRPr>
            </a:pPr>
            <a:r>
              <a:rPr sz="1350" b="1">
                <a:solidFill>
                  <a:srgbClr val="20252B"/>
                </a:solidFill>
                <a:latin typeface="Aptos"/>
                <a:ea typeface="Aptos"/>
                <a:cs typeface="Aptos"/>
              </a:rPr>
              <a:t>Write and DDL keywords rejected</a:t>
            </a:r>
          </a:p>
        </p:txBody>
      </p:sp>
      <p:sp>
        <p:nvSpPr>
          <p:cNvPr id="17" name="Rectangle 16">
            <a:extLst>
              <a:ext uri="{FF2B5EF4-FFF2-40B4-BE49-F238E27FC236}">
                <a16:creationId xmlns:a16="http://schemas.microsoft.com/office/drawing/2014/main" id="{94D575ED-6F53-48B2-A714-15A42427CCB1}"/>
              </a:ext>
            </a:extLst>
          </p:cNvPr>
          <p:cNvSpPr>
            <a:spLocks noGrp="1"/>
          </p:cNvSpPr>
          <p:nvPr/>
        </p:nvSpPr>
        <p:spPr>
          <a:xfrm>
            <a:off x="4400550" y="2876550"/>
            <a:ext cx="2781300" cy="342900"/>
          </a:xfrm>
          <a:prstGeom prst="rect">
            <a:avLst/>
          </a:prstGeom>
          <a:noFill/>
          <a:ln w="0">
            <a:noFill/>
            <a:prstDash val="solid"/>
          </a:ln>
        </p:spPr>
        <p:txBody>
          <a:bodyPr lIns="0" tIns="0" rIns="0" bIns="0" anchor="b">
            <a:noAutofit/>
          </a:bodyPr>
          <a:lstStyle/>
          <a:p>
            <a:pPr algn="l">
              <a:lnSpc>
                <a:spcPct val="100000"/>
              </a:lnSpc>
              <a:buNone/>
              <a:defRPr sz="1200" b="1">
                <a:solidFill>
                  <a:srgbClr val="5D6772"/>
                </a:solidFill>
                <a:latin typeface="Aptos"/>
                <a:ea typeface="Aptos"/>
                <a:cs typeface="Aptos"/>
              </a:defRPr>
            </a:pPr>
            <a:r>
              <a:rPr sz="1200" b="1">
                <a:solidFill>
                  <a:srgbClr val="5D6772"/>
                </a:solidFill>
                <a:latin typeface="Aptos"/>
                <a:ea typeface="Aptos"/>
                <a:cs typeface="Aptos"/>
              </a:rPr>
              <a:t>DROP • ALTER • INSERT • UPDATE • DELETE</a:t>
            </a:r>
          </a:p>
        </p:txBody>
      </p:sp>
      <p:sp>
        <p:nvSpPr>
          <p:cNvPr id="18" name="Rectangle: Rounded Corners 17">
            <a:extLst>
              <a:ext uri="{FF2B5EF4-FFF2-40B4-BE49-F238E27FC236}">
                <a16:creationId xmlns:a16="http://schemas.microsoft.com/office/drawing/2014/main" id="{ADAF40A5-6A8C-4FB4-8D8B-5F34DBF44A2F}"/>
              </a:ext>
            </a:extLst>
          </p:cNvPr>
          <p:cNvSpPr>
            <a:spLocks noGrp="1"/>
          </p:cNvSpPr>
          <p:nvPr/>
        </p:nvSpPr>
        <p:spPr>
          <a:xfrm>
            <a:off x="7734300" y="1619250"/>
            <a:ext cx="3238500" cy="1676400"/>
          </a:xfrm>
          <a:prstGeom prst="roundRect">
            <a:avLst>
              <a:gd name="adj" fmla="val 7955"/>
            </a:avLst>
          </a:prstGeom>
          <a:solidFill>
            <a:srgbClr val="FFFFFF"/>
          </a:solidFill>
          <a:ln w="9525">
            <a:solidFill>
              <a:srgbClr val="D7DCE2"/>
            </a:solidFill>
            <a:prstDash val="solid"/>
          </a:ln>
        </p:spPr>
      </p:sp>
      <p:sp>
        <p:nvSpPr>
          <p:cNvPr id="19" name="Oval 18">
            <a:extLst>
              <a:ext uri="{FF2B5EF4-FFF2-40B4-BE49-F238E27FC236}">
                <a16:creationId xmlns:a16="http://schemas.microsoft.com/office/drawing/2014/main" id="{AE72FAEC-9B3F-4B64-A109-B3DD434FE556}"/>
              </a:ext>
            </a:extLst>
          </p:cNvPr>
          <p:cNvSpPr>
            <a:spLocks noGrp="1"/>
          </p:cNvSpPr>
          <p:nvPr/>
        </p:nvSpPr>
        <p:spPr>
          <a:xfrm>
            <a:off x="7943850" y="1828800"/>
            <a:ext cx="323850" cy="3238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0" name="Rectangle 19">
            <a:extLst>
              <a:ext uri="{FF2B5EF4-FFF2-40B4-BE49-F238E27FC236}">
                <a16:creationId xmlns:a16="http://schemas.microsoft.com/office/drawing/2014/main" id="{D3FE3081-3305-46D0-B8A5-7AAE51C9E2A7}"/>
              </a:ext>
            </a:extLst>
          </p:cNvPr>
          <p:cNvSpPr>
            <a:spLocks noGrp="1"/>
          </p:cNvSpPr>
          <p:nvPr/>
        </p:nvSpPr>
        <p:spPr>
          <a:xfrm>
            <a:off x="8420100" y="1876425"/>
            <a:ext cx="2305050" cy="209550"/>
          </a:xfrm>
          <a:prstGeom prst="rect">
            <a:avLst/>
          </a:prstGeom>
          <a:noFill/>
          <a:ln w="0">
            <a:noFill/>
            <a:prstDash val="solid"/>
          </a:ln>
        </p:spPr>
        <p:txBody>
          <a:bodyPr lIns="0" tIns="0" rIns="0" bIns="0" anchor="t">
            <a:noAutofit/>
          </a:bodyPr>
          <a:lstStyle/>
          <a:p>
            <a:pPr algn="l">
              <a:lnSpc>
                <a:spcPct val="100000"/>
              </a:lnSpc>
              <a:buNone/>
              <a:defRPr sz="1050" b="1">
                <a:solidFill>
                  <a:srgbClr val="971B2F"/>
                </a:solidFill>
                <a:latin typeface="Aptos"/>
                <a:ea typeface="Aptos"/>
                <a:cs typeface="Aptos"/>
              </a:defRPr>
            </a:pPr>
            <a:r>
              <a:rPr sz="1050" b="1">
                <a:solidFill>
                  <a:srgbClr val="971B2F"/>
                </a:solidFill>
                <a:latin typeface="Aptos"/>
                <a:ea typeface="Aptos"/>
                <a:cs typeface="Aptos"/>
              </a:rPr>
              <a:t>OPTIONAL DENIED OBJECTS</a:t>
            </a:r>
          </a:p>
        </p:txBody>
      </p:sp>
      <p:sp>
        <p:nvSpPr>
          <p:cNvPr id="21" name="Rectangle 20">
            <a:extLst>
              <a:ext uri="{FF2B5EF4-FFF2-40B4-BE49-F238E27FC236}">
                <a16:creationId xmlns:a16="http://schemas.microsoft.com/office/drawing/2014/main" id="{16648125-1ACB-4EB7-B237-80749CFA117C}"/>
              </a:ext>
            </a:extLst>
          </p:cNvPr>
          <p:cNvSpPr>
            <a:spLocks noGrp="1"/>
          </p:cNvSpPr>
          <p:nvPr/>
        </p:nvSpPr>
        <p:spPr>
          <a:xfrm>
            <a:off x="7962900" y="2343150"/>
            <a:ext cx="2781300" cy="419100"/>
          </a:xfrm>
          <a:prstGeom prst="rect">
            <a:avLst/>
          </a:prstGeom>
          <a:noFill/>
          <a:ln w="0">
            <a:noFill/>
            <a:prstDash val="solid"/>
          </a:ln>
        </p:spPr>
        <p:txBody>
          <a:bodyPr lIns="0" tIns="0" rIns="0" bIns="0" anchor="t">
            <a:noAutofit/>
          </a:bodyPr>
          <a:lstStyle/>
          <a:p>
            <a:pPr algn="l">
              <a:lnSpc>
                <a:spcPct val="104000"/>
              </a:lnSpc>
              <a:buNone/>
              <a:defRPr sz="1350" b="1">
                <a:solidFill>
                  <a:srgbClr val="20252B"/>
                </a:solidFill>
                <a:latin typeface="Aptos"/>
                <a:ea typeface="Aptos"/>
                <a:cs typeface="Aptos"/>
              </a:defRPr>
            </a:pPr>
            <a:r>
              <a:rPr sz="1350" b="1">
                <a:solidFill>
                  <a:srgbClr val="20252B"/>
                </a:solidFill>
                <a:latin typeface="Aptos"/>
                <a:ea typeface="Aptos"/>
                <a:cs typeface="Aptos"/>
              </a:rPr>
              <a:t>Tables and columns can be excluded</a:t>
            </a:r>
          </a:p>
        </p:txBody>
      </p:sp>
      <p:sp>
        <p:nvSpPr>
          <p:cNvPr id="22" name="Rectangle 21">
            <a:extLst>
              <a:ext uri="{FF2B5EF4-FFF2-40B4-BE49-F238E27FC236}">
                <a16:creationId xmlns:a16="http://schemas.microsoft.com/office/drawing/2014/main" id="{1F5F722E-24B2-4B9B-A9BE-F7DCF24F21E6}"/>
              </a:ext>
            </a:extLst>
          </p:cNvPr>
          <p:cNvSpPr>
            <a:spLocks noGrp="1"/>
          </p:cNvSpPr>
          <p:nvPr/>
        </p:nvSpPr>
        <p:spPr>
          <a:xfrm>
            <a:off x="7962900" y="2876550"/>
            <a:ext cx="2781300" cy="342900"/>
          </a:xfrm>
          <a:prstGeom prst="rect">
            <a:avLst/>
          </a:prstGeom>
          <a:noFill/>
          <a:ln w="0">
            <a:noFill/>
            <a:prstDash val="solid"/>
          </a:ln>
        </p:spPr>
        <p:txBody>
          <a:bodyPr lIns="0" tIns="0" rIns="0" bIns="0" anchor="b">
            <a:noAutofit/>
          </a:bodyPr>
          <a:lstStyle/>
          <a:p>
            <a:pPr algn="l">
              <a:lnSpc>
                <a:spcPct val="100000"/>
              </a:lnSpc>
              <a:buNone/>
              <a:defRPr sz="1200" b="1">
                <a:solidFill>
                  <a:srgbClr val="5D6772"/>
                </a:solidFill>
                <a:latin typeface="Aptos"/>
                <a:ea typeface="Aptos"/>
                <a:cs typeface="Aptos"/>
              </a:defRPr>
            </a:pPr>
            <a:r>
              <a:rPr sz="1200" b="1">
                <a:solidFill>
                  <a:srgbClr val="5D6772"/>
                </a:solidFill>
                <a:latin typeface="Aptos"/>
                <a:ea typeface="Aptos"/>
                <a:cs typeface="Aptos"/>
              </a:rPr>
              <a:t>configuration driven</a:t>
            </a:r>
          </a:p>
        </p:txBody>
      </p:sp>
      <p:sp>
        <p:nvSpPr>
          <p:cNvPr id="23" name="Rectangle: Rounded Corners 22">
            <a:extLst>
              <a:ext uri="{FF2B5EF4-FFF2-40B4-BE49-F238E27FC236}">
                <a16:creationId xmlns:a16="http://schemas.microsoft.com/office/drawing/2014/main" id="{07F6978B-D278-4E18-8CA9-38FC69B55588}"/>
              </a:ext>
            </a:extLst>
          </p:cNvPr>
          <p:cNvSpPr>
            <a:spLocks noGrp="1"/>
          </p:cNvSpPr>
          <p:nvPr/>
        </p:nvSpPr>
        <p:spPr>
          <a:xfrm>
            <a:off x="609600" y="3609975"/>
            <a:ext cx="3238500" cy="1676400"/>
          </a:xfrm>
          <a:prstGeom prst="roundRect">
            <a:avLst>
              <a:gd name="adj" fmla="val 7955"/>
            </a:avLst>
          </a:prstGeom>
          <a:solidFill>
            <a:srgbClr val="EEF1F4"/>
          </a:solidFill>
          <a:ln w="9525">
            <a:solidFill>
              <a:srgbClr val="D7DCE2"/>
            </a:solidFill>
            <a:prstDash val="solid"/>
          </a:ln>
        </p:spPr>
      </p:sp>
      <p:sp>
        <p:nvSpPr>
          <p:cNvPr id="24" name="Oval 23">
            <a:extLst>
              <a:ext uri="{FF2B5EF4-FFF2-40B4-BE49-F238E27FC236}">
                <a16:creationId xmlns:a16="http://schemas.microsoft.com/office/drawing/2014/main" id="{F4F7DCC6-ED73-469B-B88A-0BF068572D61}"/>
              </a:ext>
            </a:extLst>
          </p:cNvPr>
          <p:cNvSpPr>
            <a:spLocks noGrp="1"/>
          </p:cNvSpPr>
          <p:nvPr/>
        </p:nvSpPr>
        <p:spPr>
          <a:xfrm>
            <a:off x="819150" y="3819525"/>
            <a:ext cx="323850" cy="323850"/>
          </a:xfrm>
          <a:prstGeom prst="ellipse">
            <a:avLst/>
          </a:prstGeom>
          <a:solidFill>
            <a:schemeClr val="accent6">
              <a:lumMod val="75000"/>
            </a:schemeClr>
          </a:solidFill>
          <a:ln w="9525">
            <a:solidFill>
              <a:srgbClr val="20252B"/>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25" name="Rectangle 24">
            <a:extLst>
              <a:ext uri="{FF2B5EF4-FFF2-40B4-BE49-F238E27FC236}">
                <a16:creationId xmlns:a16="http://schemas.microsoft.com/office/drawing/2014/main" id="{D1290759-30D5-4164-9971-FD35136C499B}"/>
              </a:ext>
            </a:extLst>
          </p:cNvPr>
          <p:cNvSpPr>
            <a:spLocks noGrp="1"/>
          </p:cNvSpPr>
          <p:nvPr/>
        </p:nvSpPr>
        <p:spPr>
          <a:xfrm>
            <a:off x="1295400" y="3867150"/>
            <a:ext cx="2305050" cy="209550"/>
          </a:xfrm>
          <a:prstGeom prst="rect">
            <a:avLst/>
          </a:prstGeom>
          <a:noFill/>
          <a:ln w="0">
            <a:noFill/>
            <a:prstDash val="solid"/>
          </a:ln>
        </p:spPr>
        <p:txBody>
          <a:bodyPr lIns="0" tIns="0" rIns="0" bIns="0" anchor="t">
            <a:noAutofit/>
          </a:bodyPr>
          <a:lstStyle/>
          <a:p>
            <a:pPr algn="l">
              <a:lnSpc>
                <a:spcPct val="100000"/>
              </a:lnSpc>
              <a:buNone/>
              <a:defRPr sz="1050" b="1">
                <a:solidFill>
                  <a:srgbClr val="971B2F"/>
                </a:solidFill>
                <a:latin typeface="Aptos"/>
                <a:ea typeface="Aptos"/>
                <a:cs typeface="Aptos"/>
              </a:defRPr>
            </a:pPr>
            <a:r>
              <a:rPr sz="1050" b="1">
                <a:solidFill>
                  <a:srgbClr val="971B2F"/>
                </a:solidFill>
                <a:latin typeface="Aptos"/>
                <a:ea typeface="Aptos"/>
                <a:cs typeface="Aptos"/>
              </a:rPr>
              <a:t>ROW LIMITS</a:t>
            </a:r>
          </a:p>
        </p:txBody>
      </p:sp>
      <p:sp>
        <p:nvSpPr>
          <p:cNvPr id="26" name="Rectangle 25">
            <a:extLst>
              <a:ext uri="{FF2B5EF4-FFF2-40B4-BE49-F238E27FC236}">
                <a16:creationId xmlns:a16="http://schemas.microsoft.com/office/drawing/2014/main" id="{D76A7B76-861B-4858-BB5F-04A2FA657A5C}"/>
              </a:ext>
            </a:extLst>
          </p:cNvPr>
          <p:cNvSpPr>
            <a:spLocks noGrp="1"/>
          </p:cNvSpPr>
          <p:nvPr/>
        </p:nvSpPr>
        <p:spPr>
          <a:xfrm>
            <a:off x="838200" y="4333875"/>
            <a:ext cx="2781300" cy="419100"/>
          </a:xfrm>
          <a:prstGeom prst="rect">
            <a:avLst/>
          </a:prstGeom>
          <a:noFill/>
          <a:ln w="0">
            <a:noFill/>
            <a:prstDash val="solid"/>
          </a:ln>
        </p:spPr>
        <p:txBody>
          <a:bodyPr lIns="0" tIns="0" rIns="0" bIns="0" anchor="t">
            <a:noAutofit/>
          </a:bodyPr>
          <a:lstStyle/>
          <a:p>
            <a:pPr algn="l">
              <a:lnSpc>
                <a:spcPct val="104000"/>
              </a:lnSpc>
              <a:buNone/>
              <a:defRPr sz="1350" b="1">
                <a:solidFill>
                  <a:srgbClr val="20252B"/>
                </a:solidFill>
                <a:latin typeface="Aptos"/>
                <a:ea typeface="Aptos"/>
                <a:cs typeface="Aptos"/>
              </a:defRPr>
            </a:pPr>
            <a:r>
              <a:rPr sz="1350" b="1">
                <a:solidFill>
                  <a:srgbClr val="20252B"/>
                </a:solidFill>
                <a:latin typeface="Aptos"/>
                <a:ea typeface="Aptos"/>
                <a:cs typeface="Aptos"/>
              </a:rPr>
              <a:t>Cap result size and memory use</a:t>
            </a:r>
          </a:p>
        </p:txBody>
      </p:sp>
      <p:sp>
        <p:nvSpPr>
          <p:cNvPr id="27" name="Rectangle 26">
            <a:extLst>
              <a:ext uri="{FF2B5EF4-FFF2-40B4-BE49-F238E27FC236}">
                <a16:creationId xmlns:a16="http://schemas.microsoft.com/office/drawing/2014/main" id="{F82B1361-B5A6-4EDC-9806-4872EF9D4BAD}"/>
              </a:ext>
            </a:extLst>
          </p:cNvPr>
          <p:cNvSpPr>
            <a:spLocks noGrp="1"/>
          </p:cNvSpPr>
          <p:nvPr/>
        </p:nvSpPr>
        <p:spPr>
          <a:xfrm>
            <a:off x="838200" y="4867275"/>
            <a:ext cx="2781300" cy="342900"/>
          </a:xfrm>
          <a:prstGeom prst="rect">
            <a:avLst/>
          </a:prstGeom>
          <a:noFill/>
          <a:ln w="0">
            <a:noFill/>
            <a:prstDash val="solid"/>
          </a:ln>
        </p:spPr>
        <p:txBody>
          <a:bodyPr lIns="0" tIns="0" rIns="0" bIns="0" anchor="b">
            <a:noAutofit/>
          </a:bodyPr>
          <a:lstStyle/>
          <a:p>
            <a:pPr algn="l">
              <a:lnSpc>
                <a:spcPct val="100000"/>
              </a:lnSpc>
              <a:buNone/>
              <a:defRPr sz="1200" b="1">
                <a:solidFill>
                  <a:srgbClr val="5D6772"/>
                </a:solidFill>
                <a:latin typeface="Aptos Mono"/>
                <a:ea typeface="Aptos Mono"/>
                <a:cs typeface="Aptos Mono"/>
              </a:defRPr>
            </a:pPr>
            <a:r>
              <a:rPr sz="1200" b="1">
                <a:solidFill>
                  <a:srgbClr val="5D6772"/>
                </a:solidFill>
                <a:latin typeface="Aptos Mono"/>
                <a:ea typeface="Aptos Mono"/>
                <a:cs typeface="Aptos Mono"/>
              </a:rPr>
              <a:t>1,000 default • 50,000 hard maximum</a:t>
            </a:r>
          </a:p>
        </p:txBody>
      </p:sp>
      <p:sp>
        <p:nvSpPr>
          <p:cNvPr id="28" name="Rectangle: Rounded Corners 27">
            <a:extLst>
              <a:ext uri="{FF2B5EF4-FFF2-40B4-BE49-F238E27FC236}">
                <a16:creationId xmlns:a16="http://schemas.microsoft.com/office/drawing/2014/main" id="{DEE07894-CD11-401F-B156-7A80D18B34C7}"/>
              </a:ext>
            </a:extLst>
          </p:cNvPr>
          <p:cNvSpPr>
            <a:spLocks noGrp="1"/>
          </p:cNvSpPr>
          <p:nvPr/>
        </p:nvSpPr>
        <p:spPr>
          <a:xfrm>
            <a:off x="4171950" y="3609975"/>
            <a:ext cx="3238500" cy="1676400"/>
          </a:xfrm>
          <a:prstGeom prst="roundRect">
            <a:avLst>
              <a:gd name="adj" fmla="val 7955"/>
            </a:avLst>
          </a:prstGeom>
          <a:solidFill>
            <a:srgbClr val="EEF1F4"/>
          </a:solidFill>
          <a:ln w="9525">
            <a:solidFill>
              <a:srgbClr val="D7DCE2"/>
            </a:solidFill>
            <a:prstDash val="solid"/>
          </a:ln>
        </p:spPr>
      </p:sp>
      <p:sp>
        <p:nvSpPr>
          <p:cNvPr id="29" name="Oval 28">
            <a:extLst>
              <a:ext uri="{FF2B5EF4-FFF2-40B4-BE49-F238E27FC236}">
                <a16:creationId xmlns:a16="http://schemas.microsoft.com/office/drawing/2014/main" id="{9AAE8B66-4752-42AC-9959-2CBE0594010F}"/>
              </a:ext>
            </a:extLst>
          </p:cNvPr>
          <p:cNvSpPr>
            <a:spLocks noGrp="1"/>
          </p:cNvSpPr>
          <p:nvPr/>
        </p:nvSpPr>
        <p:spPr>
          <a:xfrm>
            <a:off x="4381500" y="3819525"/>
            <a:ext cx="323850" cy="323850"/>
          </a:xfrm>
          <a:prstGeom prst="ellipse">
            <a:avLst/>
          </a:prstGeom>
          <a:solidFill>
            <a:schemeClr val="accent6">
              <a:lumMod val="75000"/>
            </a:schemeClr>
          </a:solidFill>
          <a:ln w="9525">
            <a:solidFill>
              <a:srgbClr val="20252B"/>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30" name="Rectangle 29">
            <a:extLst>
              <a:ext uri="{FF2B5EF4-FFF2-40B4-BE49-F238E27FC236}">
                <a16:creationId xmlns:a16="http://schemas.microsoft.com/office/drawing/2014/main" id="{220DEA4E-3AC1-4A98-A749-E385A0992319}"/>
              </a:ext>
            </a:extLst>
          </p:cNvPr>
          <p:cNvSpPr>
            <a:spLocks noGrp="1"/>
          </p:cNvSpPr>
          <p:nvPr/>
        </p:nvSpPr>
        <p:spPr>
          <a:xfrm>
            <a:off x="4857750" y="3867150"/>
            <a:ext cx="2305050" cy="209550"/>
          </a:xfrm>
          <a:prstGeom prst="rect">
            <a:avLst/>
          </a:prstGeom>
          <a:noFill/>
          <a:ln w="0">
            <a:noFill/>
            <a:prstDash val="solid"/>
          </a:ln>
        </p:spPr>
        <p:txBody>
          <a:bodyPr lIns="0" tIns="0" rIns="0" bIns="0" anchor="t">
            <a:noAutofit/>
          </a:bodyPr>
          <a:lstStyle/>
          <a:p>
            <a:pPr algn="l">
              <a:lnSpc>
                <a:spcPct val="100000"/>
              </a:lnSpc>
              <a:buNone/>
              <a:defRPr sz="1050" b="1">
                <a:solidFill>
                  <a:srgbClr val="971B2F"/>
                </a:solidFill>
                <a:latin typeface="Aptos"/>
                <a:ea typeface="Aptos"/>
                <a:cs typeface="Aptos"/>
              </a:defRPr>
            </a:pPr>
            <a:r>
              <a:rPr sz="1050" b="1">
                <a:solidFill>
                  <a:srgbClr val="971B2F"/>
                </a:solidFill>
                <a:latin typeface="Aptos"/>
                <a:ea typeface="Aptos"/>
                <a:cs typeface="Aptos"/>
              </a:rPr>
              <a:t>TIMEOUT</a:t>
            </a:r>
          </a:p>
        </p:txBody>
      </p:sp>
      <p:sp>
        <p:nvSpPr>
          <p:cNvPr id="31" name="Rectangle 30">
            <a:extLst>
              <a:ext uri="{FF2B5EF4-FFF2-40B4-BE49-F238E27FC236}">
                <a16:creationId xmlns:a16="http://schemas.microsoft.com/office/drawing/2014/main" id="{A03F096D-4D78-412C-B8A3-E518AD40EEC2}"/>
              </a:ext>
            </a:extLst>
          </p:cNvPr>
          <p:cNvSpPr>
            <a:spLocks noGrp="1"/>
          </p:cNvSpPr>
          <p:nvPr/>
        </p:nvSpPr>
        <p:spPr>
          <a:xfrm>
            <a:off x="4400550" y="4333875"/>
            <a:ext cx="2781300" cy="419100"/>
          </a:xfrm>
          <a:prstGeom prst="rect">
            <a:avLst/>
          </a:prstGeom>
          <a:noFill/>
          <a:ln w="0">
            <a:noFill/>
            <a:prstDash val="solid"/>
          </a:ln>
        </p:spPr>
        <p:txBody>
          <a:bodyPr lIns="0" tIns="0" rIns="0" bIns="0" anchor="t">
            <a:noAutofit/>
          </a:bodyPr>
          <a:lstStyle/>
          <a:p>
            <a:pPr algn="l">
              <a:lnSpc>
                <a:spcPct val="104000"/>
              </a:lnSpc>
              <a:buNone/>
              <a:defRPr sz="1350" b="1">
                <a:solidFill>
                  <a:srgbClr val="20252B"/>
                </a:solidFill>
                <a:latin typeface="Aptos"/>
                <a:ea typeface="Aptos"/>
                <a:cs typeface="Aptos"/>
              </a:defRPr>
            </a:pPr>
            <a:r>
              <a:rPr sz="1350" b="1">
                <a:solidFill>
                  <a:srgbClr val="20252B"/>
                </a:solidFill>
                <a:latin typeface="Aptos"/>
                <a:ea typeface="Aptos"/>
                <a:cs typeface="Aptos"/>
              </a:rPr>
              <a:t>Bound long-running queries</a:t>
            </a:r>
          </a:p>
        </p:txBody>
      </p:sp>
      <p:sp>
        <p:nvSpPr>
          <p:cNvPr id="32" name="Rectangle 31">
            <a:extLst>
              <a:ext uri="{FF2B5EF4-FFF2-40B4-BE49-F238E27FC236}">
                <a16:creationId xmlns:a16="http://schemas.microsoft.com/office/drawing/2014/main" id="{506CBDFE-4E7E-433F-BCEC-EC7622F90770}"/>
              </a:ext>
            </a:extLst>
          </p:cNvPr>
          <p:cNvSpPr>
            <a:spLocks noGrp="1"/>
          </p:cNvSpPr>
          <p:nvPr/>
        </p:nvSpPr>
        <p:spPr>
          <a:xfrm>
            <a:off x="4400550" y="4867275"/>
            <a:ext cx="2781300" cy="342900"/>
          </a:xfrm>
          <a:prstGeom prst="rect">
            <a:avLst/>
          </a:prstGeom>
          <a:noFill/>
          <a:ln w="0">
            <a:noFill/>
            <a:prstDash val="solid"/>
          </a:ln>
        </p:spPr>
        <p:txBody>
          <a:bodyPr lIns="0" tIns="0" rIns="0" bIns="0" anchor="b">
            <a:noAutofit/>
          </a:bodyPr>
          <a:lstStyle/>
          <a:p>
            <a:pPr algn="l">
              <a:lnSpc>
                <a:spcPct val="100000"/>
              </a:lnSpc>
              <a:buNone/>
              <a:defRPr sz="1200" b="1">
                <a:solidFill>
                  <a:srgbClr val="5D6772"/>
                </a:solidFill>
                <a:latin typeface="Aptos Mono"/>
                <a:ea typeface="Aptos Mono"/>
                <a:cs typeface="Aptos Mono"/>
              </a:defRPr>
            </a:pPr>
            <a:r>
              <a:rPr sz="1200" b="1">
                <a:solidFill>
                  <a:srgbClr val="5D6772"/>
                </a:solidFill>
                <a:latin typeface="Aptos Mono"/>
                <a:ea typeface="Aptos Mono"/>
                <a:cs typeface="Aptos Mono"/>
              </a:rPr>
              <a:t>30 seconds</a:t>
            </a:r>
          </a:p>
        </p:txBody>
      </p:sp>
      <p:sp>
        <p:nvSpPr>
          <p:cNvPr id="33" name="Rectangle: Rounded Corners 32">
            <a:extLst>
              <a:ext uri="{FF2B5EF4-FFF2-40B4-BE49-F238E27FC236}">
                <a16:creationId xmlns:a16="http://schemas.microsoft.com/office/drawing/2014/main" id="{4CCB3120-CEBF-4C87-A922-009B34939913}"/>
              </a:ext>
            </a:extLst>
          </p:cNvPr>
          <p:cNvSpPr>
            <a:spLocks noGrp="1"/>
          </p:cNvSpPr>
          <p:nvPr/>
        </p:nvSpPr>
        <p:spPr>
          <a:xfrm>
            <a:off x="7734300" y="3609975"/>
            <a:ext cx="3238500" cy="1676400"/>
          </a:xfrm>
          <a:prstGeom prst="roundRect">
            <a:avLst>
              <a:gd name="adj" fmla="val 7955"/>
            </a:avLst>
          </a:prstGeom>
          <a:solidFill>
            <a:srgbClr val="EEF1F4"/>
          </a:solidFill>
          <a:ln w="9525">
            <a:solidFill>
              <a:srgbClr val="D7DCE2"/>
            </a:solidFill>
            <a:prstDash val="solid"/>
          </a:ln>
        </p:spPr>
      </p:sp>
      <p:sp>
        <p:nvSpPr>
          <p:cNvPr id="34" name="Oval 33">
            <a:extLst>
              <a:ext uri="{FF2B5EF4-FFF2-40B4-BE49-F238E27FC236}">
                <a16:creationId xmlns:a16="http://schemas.microsoft.com/office/drawing/2014/main" id="{31E2995E-C353-4494-81DB-0EA7E949D2F6}"/>
              </a:ext>
            </a:extLst>
          </p:cNvPr>
          <p:cNvSpPr>
            <a:spLocks noGrp="1"/>
          </p:cNvSpPr>
          <p:nvPr/>
        </p:nvSpPr>
        <p:spPr>
          <a:xfrm>
            <a:off x="7943850" y="3819525"/>
            <a:ext cx="323850" cy="323850"/>
          </a:xfrm>
          <a:prstGeom prst="ellipse">
            <a:avLst/>
          </a:prstGeom>
          <a:solidFill>
            <a:schemeClr val="accent6">
              <a:lumMod val="75000"/>
            </a:schemeClr>
          </a:solidFill>
          <a:ln w="9525">
            <a:solidFill>
              <a:srgbClr val="20252B"/>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6</a:t>
            </a:r>
          </a:p>
        </p:txBody>
      </p:sp>
      <p:sp>
        <p:nvSpPr>
          <p:cNvPr id="35" name="Rectangle 34">
            <a:extLst>
              <a:ext uri="{FF2B5EF4-FFF2-40B4-BE49-F238E27FC236}">
                <a16:creationId xmlns:a16="http://schemas.microsoft.com/office/drawing/2014/main" id="{F553F240-2401-455B-8EFA-93E1B420C625}"/>
              </a:ext>
            </a:extLst>
          </p:cNvPr>
          <p:cNvSpPr>
            <a:spLocks noGrp="1"/>
          </p:cNvSpPr>
          <p:nvPr/>
        </p:nvSpPr>
        <p:spPr>
          <a:xfrm>
            <a:off x="8420100" y="3867150"/>
            <a:ext cx="2305050" cy="209550"/>
          </a:xfrm>
          <a:prstGeom prst="rect">
            <a:avLst/>
          </a:prstGeom>
          <a:noFill/>
          <a:ln w="0">
            <a:noFill/>
            <a:prstDash val="solid"/>
          </a:ln>
        </p:spPr>
        <p:txBody>
          <a:bodyPr lIns="0" tIns="0" rIns="0" bIns="0" anchor="t">
            <a:noAutofit/>
          </a:bodyPr>
          <a:lstStyle/>
          <a:p>
            <a:pPr algn="l">
              <a:lnSpc>
                <a:spcPct val="100000"/>
              </a:lnSpc>
              <a:buNone/>
              <a:defRPr sz="1050" b="1">
                <a:solidFill>
                  <a:srgbClr val="971B2F"/>
                </a:solidFill>
                <a:latin typeface="Aptos"/>
                <a:ea typeface="Aptos"/>
                <a:cs typeface="Aptos"/>
              </a:defRPr>
            </a:pPr>
            <a:r>
              <a:rPr sz="1050" b="1">
                <a:solidFill>
                  <a:srgbClr val="971B2F"/>
                </a:solidFill>
                <a:latin typeface="Aptos"/>
                <a:ea typeface="Aptos"/>
                <a:cs typeface="Aptos"/>
              </a:rPr>
              <a:t>AUDIT</a:t>
            </a:r>
          </a:p>
        </p:txBody>
      </p:sp>
      <p:sp>
        <p:nvSpPr>
          <p:cNvPr id="36" name="Rectangle 35">
            <a:extLst>
              <a:ext uri="{FF2B5EF4-FFF2-40B4-BE49-F238E27FC236}">
                <a16:creationId xmlns:a16="http://schemas.microsoft.com/office/drawing/2014/main" id="{8D95489B-449E-465F-BA65-D10177B13B42}"/>
              </a:ext>
            </a:extLst>
          </p:cNvPr>
          <p:cNvSpPr>
            <a:spLocks noGrp="1"/>
          </p:cNvSpPr>
          <p:nvPr/>
        </p:nvSpPr>
        <p:spPr>
          <a:xfrm>
            <a:off x="7962900" y="4333875"/>
            <a:ext cx="2781300" cy="419100"/>
          </a:xfrm>
          <a:prstGeom prst="rect">
            <a:avLst/>
          </a:prstGeom>
          <a:noFill/>
          <a:ln w="0">
            <a:noFill/>
            <a:prstDash val="solid"/>
          </a:ln>
        </p:spPr>
        <p:txBody>
          <a:bodyPr lIns="0" tIns="0" rIns="0" bIns="0" anchor="t">
            <a:noAutofit/>
          </a:bodyPr>
          <a:lstStyle/>
          <a:p>
            <a:pPr algn="l">
              <a:lnSpc>
                <a:spcPct val="104000"/>
              </a:lnSpc>
              <a:buNone/>
              <a:defRPr sz="1350" b="1">
                <a:solidFill>
                  <a:srgbClr val="20252B"/>
                </a:solidFill>
                <a:latin typeface="Aptos"/>
                <a:ea typeface="Aptos"/>
                <a:cs typeface="Aptos"/>
              </a:defRPr>
            </a:pPr>
            <a:r>
              <a:rPr sz="1350" b="1">
                <a:solidFill>
                  <a:srgbClr val="20252B"/>
                </a:solidFill>
                <a:latin typeface="Aptos"/>
                <a:ea typeface="Aptos"/>
                <a:cs typeface="Aptos"/>
              </a:rPr>
              <a:t>Record request and execution details</a:t>
            </a:r>
          </a:p>
        </p:txBody>
      </p:sp>
      <p:sp>
        <p:nvSpPr>
          <p:cNvPr id="37" name="Rectangle 36">
            <a:extLst>
              <a:ext uri="{FF2B5EF4-FFF2-40B4-BE49-F238E27FC236}">
                <a16:creationId xmlns:a16="http://schemas.microsoft.com/office/drawing/2014/main" id="{46CF2462-82A2-4C3E-B751-4197F14153E5}"/>
              </a:ext>
            </a:extLst>
          </p:cNvPr>
          <p:cNvSpPr>
            <a:spLocks noGrp="1"/>
          </p:cNvSpPr>
          <p:nvPr/>
        </p:nvSpPr>
        <p:spPr>
          <a:xfrm>
            <a:off x="7962900" y="4867275"/>
            <a:ext cx="2781300" cy="342900"/>
          </a:xfrm>
          <a:prstGeom prst="rect">
            <a:avLst/>
          </a:prstGeom>
          <a:noFill/>
          <a:ln w="0">
            <a:noFill/>
            <a:prstDash val="solid"/>
          </a:ln>
        </p:spPr>
        <p:txBody>
          <a:bodyPr lIns="0" tIns="0" rIns="0" bIns="0" anchor="b">
            <a:noAutofit/>
          </a:bodyPr>
          <a:lstStyle/>
          <a:p>
            <a:pPr algn="l">
              <a:lnSpc>
                <a:spcPct val="100000"/>
              </a:lnSpc>
              <a:buNone/>
              <a:defRPr sz="1200" b="1">
                <a:solidFill>
                  <a:srgbClr val="5D6772"/>
                </a:solidFill>
                <a:latin typeface="Aptos"/>
                <a:ea typeface="Aptos"/>
                <a:cs typeface="Aptos"/>
              </a:defRPr>
            </a:pPr>
            <a:r>
              <a:rPr sz="1200" b="1">
                <a:solidFill>
                  <a:srgbClr val="5D6772"/>
                </a:solidFill>
                <a:latin typeface="Aptos"/>
                <a:ea typeface="Aptos"/>
                <a:cs typeface="Aptos"/>
              </a:rPr>
              <a:t>parameters • status • rows • timing</a:t>
            </a:r>
          </a:p>
        </p:txBody>
      </p:sp>
      <p:sp>
        <p:nvSpPr>
          <p:cNvPr id="38" name="Rectangle: Rounded Corners 37">
            <a:extLst>
              <a:ext uri="{FF2B5EF4-FFF2-40B4-BE49-F238E27FC236}">
                <a16:creationId xmlns:a16="http://schemas.microsoft.com/office/drawing/2014/main" id="{63B96720-2022-4970-9B10-31A216CFC873}"/>
              </a:ext>
            </a:extLst>
          </p:cNvPr>
          <p:cNvSpPr>
            <a:spLocks noGrp="1"/>
          </p:cNvSpPr>
          <p:nvPr/>
        </p:nvSpPr>
        <p:spPr>
          <a:xfrm>
            <a:off x="609600" y="5619750"/>
            <a:ext cx="10668000" cy="533400"/>
          </a:xfrm>
          <a:prstGeom prst="roundRect">
            <a:avLst>
              <a:gd name="adj" fmla="val 17857"/>
            </a:avLst>
          </a:prstGeom>
          <a:solidFill>
            <a:srgbClr val="FFFFFF"/>
          </a:solidFill>
          <a:ln w="9525">
            <a:solidFill>
              <a:srgbClr val="D7DCE2"/>
            </a:solidFill>
            <a:prstDash val="solid"/>
          </a:ln>
        </p:spPr>
      </p:sp>
      <p:sp>
        <p:nvSpPr>
          <p:cNvPr id="39" name="Rectangle 38">
            <a:extLst>
              <a:ext uri="{FF2B5EF4-FFF2-40B4-BE49-F238E27FC236}">
                <a16:creationId xmlns:a16="http://schemas.microsoft.com/office/drawing/2014/main" id="{9BEDB770-1551-4AFD-A4C2-D899B599895D}"/>
              </a:ext>
            </a:extLst>
          </p:cNvPr>
          <p:cNvSpPr>
            <a:spLocks noGrp="1"/>
          </p:cNvSpPr>
          <p:nvPr/>
        </p:nvSpPr>
        <p:spPr>
          <a:xfrm>
            <a:off x="609600" y="5619750"/>
            <a:ext cx="10668000" cy="38100"/>
          </a:xfrm>
          <a:prstGeom prst="rect">
            <a:avLst/>
          </a:prstGeom>
          <a:solidFill>
            <a:srgbClr val="D71E28"/>
          </a:solidFill>
          <a:ln w="9525">
            <a:solidFill>
              <a:srgbClr val="D71E28"/>
            </a:solidFill>
            <a:prstDash val="solid"/>
          </a:ln>
        </p:spPr>
      </p:sp>
      <p:sp>
        <p:nvSpPr>
          <p:cNvPr id="40" name="Rectangle 39">
            <a:extLst>
              <a:ext uri="{FF2B5EF4-FFF2-40B4-BE49-F238E27FC236}">
                <a16:creationId xmlns:a16="http://schemas.microsoft.com/office/drawing/2014/main" id="{8DA38FFA-0E8B-4653-AB48-D7E36E976DFD}"/>
              </a:ext>
            </a:extLst>
          </p:cNvPr>
          <p:cNvSpPr>
            <a:spLocks noGrp="1"/>
          </p:cNvSpPr>
          <p:nvPr/>
        </p:nvSpPr>
        <p:spPr>
          <a:xfrm>
            <a:off x="819150" y="5791200"/>
            <a:ext cx="10248900" cy="209550"/>
          </a:xfrm>
          <a:prstGeom prst="rect">
            <a:avLst/>
          </a:prstGeom>
          <a:noFill/>
          <a:ln w="0">
            <a:noFill/>
            <a:prstDash val="solid"/>
          </a:ln>
        </p:spPr>
        <p:txBody>
          <a:bodyPr lIns="0" tIns="0" rIns="0" bIns="0" anchor="t">
            <a:noAutofit/>
          </a:bodyPr>
          <a:lstStyle/>
          <a:p>
            <a:pPr algn="ctr">
              <a:lnSpc>
                <a:spcPct val="100000"/>
              </a:lnSpc>
              <a:buNone/>
              <a:defRPr sz="1350" b="1">
                <a:solidFill>
                  <a:srgbClr val="971B2F"/>
                </a:solidFill>
                <a:latin typeface="Aptos"/>
                <a:ea typeface="Aptos"/>
                <a:cs typeface="Aptos"/>
              </a:defRPr>
            </a:pPr>
            <a:r>
              <a:rPr sz="1350" b="1">
                <a:solidFill>
                  <a:srgbClr val="971B2F"/>
                </a:solidFill>
                <a:latin typeface="Aptos"/>
                <a:ea typeface="Aptos"/>
                <a:cs typeface="Aptos"/>
              </a:rPr>
              <a:t>Next improvement: add automated tests for SQL safety and tool responses.</a:t>
            </a:r>
          </a:p>
        </p:txBody>
      </p:sp>
    </p:spTree>
    <p:extLst>
      <p:ext uri="{BB962C8B-B14F-4D97-AF65-F5344CB8AC3E}">
        <p14:creationId xmlns:p14="http://schemas.microsoft.com/office/powerpoint/2010/main" val="1362435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BD58F4F-4E07-4D96-A66D-A2A639907C5F}"/>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96797BA7-C292-4C07-A81C-BFF5685A4AD8}"/>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EVOLUTION</a:t>
            </a:r>
          </a:p>
        </p:txBody>
      </p:sp>
      <p:sp>
        <p:nvSpPr>
          <p:cNvPr id="3" name="Rectangle 2">
            <a:extLst>
              <a:ext uri="{FF2B5EF4-FFF2-40B4-BE49-F238E27FC236}">
                <a16:creationId xmlns:a16="http://schemas.microsoft.com/office/drawing/2014/main" id="{7E89F6E8-DD29-4B25-AE13-E685D4981B25}"/>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Four improvements strengthen reliability and reuse</a:t>
            </a:r>
          </a:p>
        </p:txBody>
      </p:sp>
      <p:sp>
        <p:nvSpPr>
          <p:cNvPr id="4" name="Straight Connector 3">
            <a:extLst>
              <a:ext uri="{FF2B5EF4-FFF2-40B4-BE49-F238E27FC236}">
                <a16:creationId xmlns:a16="http://schemas.microsoft.com/office/drawing/2014/main" id="{C2A5CBB6-F95D-4149-9099-15B478C371F7}"/>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71D5D1C5-4C2C-49A4-9108-45D855B939A2}"/>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AI-Powered Trade P&amp;L Analysis Platform</a:t>
            </a:r>
          </a:p>
        </p:txBody>
      </p:sp>
      <p:sp>
        <p:nvSpPr>
          <p:cNvPr id="6" name="Rectangle 5">
            <a:extLst>
              <a:ext uri="{FF2B5EF4-FFF2-40B4-BE49-F238E27FC236}">
                <a16:creationId xmlns:a16="http://schemas.microsoft.com/office/drawing/2014/main" id="{FFBA2D81-251E-4394-8B98-10719796951E}"/>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971B2F"/>
                </a:solidFill>
                <a:latin typeface="Aptos"/>
                <a:ea typeface="Aptos"/>
                <a:cs typeface="Aptos"/>
              </a:defRPr>
            </a:pPr>
            <a:r>
              <a:rPr sz="825" b="1">
                <a:solidFill>
                  <a:srgbClr val="971B2F"/>
                </a:solidFill>
                <a:latin typeface="Aptos"/>
                <a:ea typeface="Aptos"/>
                <a:cs typeface="Aptos"/>
              </a:rPr>
              <a:t>12</a:t>
            </a:r>
          </a:p>
        </p:txBody>
      </p:sp>
      <p:sp>
        <p:nvSpPr>
          <p:cNvPr id="7" name="Rectangle 6">
            <a:extLst>
              <a:ext uri="{FF2B5EF4-FFF2-40B4-BE49-F238E27FC236}">
                <a16:creationId xmlns:a16="http://schemas.microsoft.com/office/drawing/2014/main" id="{0CD80195-9FF6-4CED-A144-B7770D0AE437}"/>
              </a:ext>
            </a:extLst>
          </p:cNvPr>
          <p:cNvSpPr>
            <a:spLocks noGrp="1"/>
          </p:cNvSpPr>
          <p:nvPr/>
        </p:nvSpPr>
        <p:spPr>
          <a:xfrm>
            <a:off x="609600" y="1104900"/>
            <a:ext cx="102870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The solution foundation is in place; these actions make behavior, setup, and usage more repeatable.</a:t>
            </a:r>
          </a:p>
        </p:txBody>
      </p:sp>
      <p:sp>
        <p:nvSpPr>
          <p:cNvPr id="8" name="Rectangle: Rounded Corners 7">
            <a:extLst>
              <a:ext uri="{FF2B5EF4-FFF2-40B4-BE49-F238E27FC236}">
                <a16:creationId xmlns:a16="http://schemas.microsoft.com/office/drawing/2014/main" id="{CA2712C3-F963-42AB-91C0-965B87CC789F}"/>
              </a:ext>
            </a:extLst>
          </p:cNvPr>
          <p:cNvSpPr>
            <a:spLocks noGrp="1"/>
          </p:cNvSpPr>
          <p:nvPr/>
        </p:nvSpPr>
        <p:spPr>
          <a:xfrm>
            <a:off x="609600" y="1524000"/>
            <a:ext cx="10668000" cy="552450"/>
          </a:xfrm>
          <a:prstGeom prst="roundRect">
            <a:avLst>
              <a:gd name="adj" fmla="val 17241"/>
            </a:avLst>
          </a:prstGeom>
          <a:solidFill>
            <a:schemeClr val="accent6">
              <a:lumMod val="75000"/>
            </a:schemeClr>
          </a:solidFill>
          <a:ln w="9525">
            <a:solidFill>
              <a:srgbClr val="20252B"/>
            </a:solidFill>
            <a:prstDash val="solid"/>
          </a:ln>
        </p:spPr>
      </p:sp>
      <p:sp>
        <p:nvSpPr>
          <p:cNvPr id="9" name="Rectangle 8">
            <a:extLst>
              <a:ext uri="{FF2B5EF4-FFF2-40B4-BE49-F238E27FC236}">
                <a16:creationId xmlns:a16="http://schemas.microsoft.com/office/drawing/2014/main" id="{01E1D253-9060-4311-A804-78C5D33C4083}"/>
              </a:ext>
            </a:extLst>
          </p:cNvPr>
          <p:cNvSpPr>
            <a:spLocks noGrp="1"/>
          </p:cNvSpPr>
          <p:nvPr/>
        </p:nvSpPr>
        <p:spPr>
          <a:xfrm>
            <a:off x="819150" y="1704975"/>
            <a:ext cx="2000250" cy="190500"/>
          </a:xfrm>
          <a:prstGeom prst="rect">
            <a:avLst/>
          </a:prstGeom>
          <a:noFill/>
          <a:ln w="0">
            <a:noFill/>
            <a:prstDash val="solid"/>
          </a:ln>
        </p:spPr>
        <p:txBody>
          <a:bodyPr lIns="0" tIns="0" rIns="0" bIns="0" anchor="t">
            <a:noAutofit/>
          </a:bodyPr>
          <a:lstStyle/>
          <a:p>
            <a:pPr algn="l">
              <a:lnSpc>
                <a:spcPct val="100000"/>
              </a:lnSpc>
              <a:buNone/>
              <a:defRPr sz="975" b="1">
                <a:solidFill>
                  <a:srgbClr val="FFCD41"/>
                </a:solidFill>
                <a:latin typeface="Aptos"/>
                <a:ea typeface="Aptos"/>
                <a:cs typeface="Aptos"/>
              </a:defRPr>
            </a:pPr>
            <a:r>
              <a:rPr sz="975" b="1">
                <a:solidFill>
                  <a:srgbClr val="FFCD41"/>
                </a:solidFill>
                <a:latin typeface="Aptos"/>
                <a:ea typeface="Aptos"/>
                <a:cs typeface="Aptos"/>
              </a:rPr>
              <a:t>CURRENT FOUNDATION</a:t>
            </a:r>
          </a:p>
        </p:txBody>
      </p:sp>
      <p:sp>
        <p:nvSpPr>
          <p:cNvPr id="10" name="Rectangle 9">
            <a:extLst>
              <a:ext uri="{FF2B5EF4-FFF2-40B4-BE49-F238E27FC236}">
                <a16:creationId xmlns:a16="http://schemas.microsoft.com/office/drawing/2014/main" id="{C5963F6B-796B-463B-8D0E-AD0D755E69B0}"/>
              </a:ext>
            </a:extLst>
          </p:cNvPr>
          <p:cNvSpPr>
            <a:spLocks noGrp="1"/>
          </p:cNvSpPr>
          <p:nvPr/>
        </p:nvSpPr>
        <p:spPr>
          <a:xfrm>
            <a:off x="2857500" y="1704975"/>
            <a:ext cx="8191500" cy="190500"/>
          </a:xfrm>
          <a:prstGeom prst="rect">
            <a:avLst/>
          </a:prstGeom>
          <a:noFill/>
          <a:ln w="0">
            <a:noFill/>
            <a:prstDash val="solid"/>
          </a:ln>
        </p:spPr>
        <p:txBody>
          <a:bodyPr lIns="0" tIns="0" rIns="0" bIns="0" anchor="t">
            <a:noAutofit/>
          </a:bodyPr>
          <a:lstStyle/>
          <a:p>
            <a:pPr algn="ctr">
              <a:lnSpc>
                <a:spcPct val="100000"/>
              </a:lnSpc>
              <a:buNone/>
              <a:defRPr sz="1200" b="1">
                <a:solidFill>
                  <a:srgbClr val="FFFFFF"/>
                </a:solidFill>
                <a:latin typeface="Aptos"/>
                <a:ea typeface="Aptos"/>
                <a:cs typeface="Aptos"/>
              </a:defRPr>
            </a:pPr>
            <a:r>
              <a:rPr sz="1200" b="1">
                <a:solidFill>
                  <a:srgbClr val="FFFFFF"/>
                </a:solidFill>
                <a:latin typeface="Aptos"/>
                <a:ea typeface="Aptos"/>
                <a:cs typeface="Aptos"/>
              </a:rPr>
              <a:t>FastMCP server and tools  •  DuckDB over dated Parquet  •  CSV/XLSX ingestion  •  configuration and README</a:t>
            </a:r>
          </a:p>
        </p:txBody>
      </p:sp>
      <p:sp>
        <p:nvSpPr>
          <p:cNvPr id="11" name="Straight Connector 10">
            <a:extLst>
              <a:ext uri="{FF2B5EF4-FFF2-40B4-BE49-F238E27FC236}">
                <a16:creationId xmlns:a16="http://schemas.microsoft.com/office/drawing/2014/main" id="{011D9BFE-F95D-4F1D-9F4E-9A62AFF57954}"/>
              </a:ext>
            </a:extLst>
          </p:cNvPr>
          <p:cNvSpPr>
            <a:spLocks noGrp="1"/>
          </p:cNvSpPr>
          <p:nvPr/>
        </p:nvSpPr>
        <p:spPr>
          <a:xfrm>
            <a:off x="2971800" y="3705225"/>
            <a:ext cx="304800" cy="0"/>
          </a:xfrm>
          <a:prstGeom prst="line">
            <a:avLst/>
          </a:prstGeom>
          <a:noFill/>
          <a:ln w="28575">
            <a:solidFill>
              <a:srgbClr val="D71E28"/>
            </a:solidFill>
            <a:prstDash val="solid"/>
          </a:ln>
        </p:spPr>
      </p:sp>
      <p:sp>
        <p:nvSpPr>
          <p:cNvPr id="12" name="Straight Connector 11">
            <a:extLst>
              <a:ext uri="{FF2B5EF4-FFF2-40B4-BE49-F238E27FC236}">
                <a16:creationId xmlns:a16="http://schemas.microsoft.com/office/drawing/2014/main" id="{D5F02FDD-BED8-421F-BF28-916897B0122C}"/>
              </a:ext>
            </a:extLst>
          </p:cNvPr>
          <p:cNvSpPr>
            <a:spLocks noGrp="1"/>
          </p:cNvSpPr>
          <p:nvPr/>
        </p:nvSpPr>
        <p:spPr>
          <a:xfrm>
            <a:off x="5715000" y="3705225"/>
            <a:ext cx="304800" cy="0"/>
          </a:xfrm>
          <a:prstGeom prst="line">
            <a:avLst/>
          </a:prstGeom>
          <a:noFill/>
          <a:ln w="28575">
            <a:solidFill>
              <a:srgbClr val="D71E28"/>
            </a:solidFill>
            <a:prstDash val="solid"/>
          </a:ln>
        </p:spPr>
      </p:sp>
      <p:sp>
        <p:nvSpPr>
          <p:cNvPr id="13" name="Straight Connector 12">
            <a:extLst>
              <a:ext uri="{FF2B5EF4-FFF2-40B4-BE49-F238E27FC236}">
                <a16:creationId xmlns:a16="http://schemas.microsoft.com/office/drawing/2014/main" id="{5DDDD1E5-710F-4E5F-A436-545570CBF7E4}"/>
              </a:ext>
            </a:extLst>
          </p:cNvPr>
          <p:cNvSpPr>
            <a:spLocks noGrp="1"/>
          </p:cNvSpPr>
          <p:nvPr/>
        </p:nvSpPr>
        <p:spPr>
          <a:xfrm>
            <a:off x="8458200" y="3705225"/>
            <a:ext cx="304800" cy="0"/>
          </a:xfrm>
          <a:prstGeom prst="line">
            <a:avLst/>
          </a:prstGeom>
          <a:noFill/>
          <a:ln w="28575">
            <a:solidFill>
              <a:srgbClr val="D71E28"/>
            </a:solidFill>
            <a:prstDash val="solid"/>
          </a:ln>
        </p:spPr>
      </p:sp>
      <p:sp>
        <p:nvSpPr>
          <p:cNvPr id="14" name="Rectangle: Rounded Corners 13">
            <a:extLst>
              <a:ext uri="{FF2B5EF4-FFF2-40B4-BE49-F238E27FC236}">
                <a16:creationId xmlns:a16="http://schemas.microsoft.com/office/drawing/2014/main" id="{31189BAB-EFB4-4CD0-BF9E-289BD217124F}"/>
              </a:ext>
            </a:extLst>
          </p:cNvPr>
          <p:cNvSpPr>
            <a:spLocks noGrp="1"/>
          </p:cNvSpPr>
          <p:nvPr/>
        </p:nvSpPr>
        <p:spPr>
          <a:xfrm>
            <a:off x="609600" y="2533650"/>
            <a:ext cx="2362200" cy="2343150"/>
          </a:xfrm>
          <a:prstGeom prst="roundRect">
            <a:avLst>
              <a:gd name="adj" fmla="val 6504"/>
            </a:avLst>
          </a:prstGeom>
          <a:solidFill>
            <a:srgbClr val="FCEEEF"/>
          </a:solidFill>
          <a:ln w="9525">
            <a:solidFill>
              <a:srgbClr val="D71E28"/>
            </a:solidFill>
            <a:prstDash val="solid"/>
          </a:ln>
        </p:spPr>
      </p:sp>
      <p:sp>
        <p:nvSpPr>
          <p:cNvPr id="15" name="Oval 14">
            <a:extLst>
              <a:ext uri="{FF2B5EF4-FFF2-40B4-BE49-F238E27FC236}">
                <a16:creationId xmlns:a16="http://schemas.microsoft.com/office/drawing/2014/main" id="{D55FD5BF-7630-4497-962E-F5E994216F31}"/>
              </a:ext>
            </a:extLst>
          </p:cNvPr>
          <p:cNvSpPr>
            <a:spLocks noGrp="1"/>
          </p:cNvSpPr>
          <p:nvPr/>
        </p:nvSpPr>
        <p:spPr>
          <a:xfrm>
            <a:off x="800100" y="2724150"/>
            <a:ext cx="381000" cy="38100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6" name="Rectangle 15">
            <a:extLst>
              <a:ext uri="{FF2B5EF4-FFF2-40B4-BE49-F238E27FC236}">
                <a16:creationId xmlns:a16="http://schemas.microsoft.com/office/drawing/2014/main" id="{50547E8F-DF6B-4F77-8251-5B502DA90912}"/>
              </a:ext>
            </a:extLst>
          </p:cNvPr>
          <p:cNvSpPr>
            <a:spLocks noGrp="1"/>
          </p:cNvSpPr>
          <p:nvPr/>
        </p:nvSpPr>
        <p:spPr>
          <a:xfrm>
            <a:off x="1333500" y="2828925"/>
            <a:ext cx="1390650" cy="190500"/>
          </a:xfrm>
          <a:prstGeom prst="rect">
            <a:avLst/>
          </a:prstGeom>
          <a:noFill/>
          <a:ln w="0">
            <a:noFill/>
            <a:prstDash val="solid"/>
          </a:ln>
        </p:spPr>
        <p:txBody>
          <a:bodyPr lIns="0" tIns="0" rIns="0" bIns="0" anchor="t">
            <a:noAutofit/>
          </a:bodyPr>
          <a:lstStyle/>
          <a:p>
            <a:pPr algn="l">
              <a:lnSpc>
                <a:spcPct val="100000"/>
              </a:lnSpc>
              <a:buNone/>
              <a:defRPr sz="975" b="1">
                <a:solidFill>
                  <a:srgbClr val="D71E28"/>
                </a:solidFill>
                <a:latin typeface="Aptos"/>
                <a:ea typeface="Aptos"/>
                <a:cs typeface="Aptos"/>
              </a:defRPr>
            </a:pPr>
            <a:r>
              <a:rPr sz="975" b="1">
                <a:solidFill>
                  <a:srgbClr val="D71E28"/>
                </a:solidFill>
                <a:latin typeface="Aptos"/>
                <a:ea typeface="Aptos"/>
                <a:cs typeface="Aptos"/>
              </a:rPr>
              <a:t>TEST</a:t>
            </a:r>
          </a:p>
        </p:txBody>
      </p:sp>
      <p:sp>
        <p:nvSpPr>
          <p:cNvPr id="17" name="Rectangle 16">
            <a:extLst>
              <a:ext uri="{FF2B5EF4-FFF2-40B4-BE49-F238E27FC236}">
                <a16:creationId xmlns:a16="http://schemas.microsoft.com/office/drawing/2014/main" id="{05FAAA23-A762-441B-8852-BFECA0AFDCE0}"/>
              </a:ext>
            </a:extLst>
          </p:cNvPr>
          <p:cNvSpPr>
            <a:spLocks noGrp="1"/>
          </p:cNvSpPr>
          <p:nvPr/>
        </p:nvSpPr>
        <p:spPr>
          <a:xfrm>
            <a:off x="819150" y="3390900"/>
            <a:ext cx="1943100" cy="723900"/>
          </a:xfrm>
          <a:prstGeom prst="rect">
            <a:avLst/>
          </a:prstGeom>
          <a:noFill/>
          <a:ln w="0">
            <a:noFill/>
            <a:prstDash val="solid"/>
          </a:ln>
        </p:spPr>
        <p:txBody>
          <a:bodyPr lIns="0" tIns="0" rIns="0" bIns="0" anchor="t">
            <a:noAutofit/>
          </a:bodyPr>
          <a:lstStyle/>
          <a:p>
            <a:pPr algn="ctr">
              <a:lnSpc>
                <a:spcPct val="100000"/>
              </a:lnSpc>
              <a:buNone/>
              <a:defRPr sz="1575" b="1">
                <a:solidFill>
                  <a:srgbClr val="20252B"/>
                </a:solidFill>
                <a:latin typeface="Aptos"/>
                <a:ea typeface="Aptos"/>
                <a:cs typeface="Aptos"/>
              </a:defRPr>
            </a:pPr>
            <a:r>
              <a:rPr sz="1575" b="1">
                <a:solidFill>
                  <a:srgbClr val="20252B"/>
                </a:solidFill>
                <a:latin typeface="Aptos"/>
                <a:ea typeface="Aptos"/>
                <a:cs typeface="Aptos"/>
              </a:rPr>
              <a:t>SQL safety and tool responses</a:t>
            </a:r>
          </a:p>
        </p:txBody>
      </p:sp>
      <p:sp>
        <p:nvSpPr>
          <p:cNvPr id="18" name="Straight Connector 17">
            <a:extLst>
              <a:ext uri="{FF2B5EF4-FFF2-40B4-BE49-F238E27FC236}">
                <a16:creationId xmlns:a16="http://schemas.microsoft.com/office/drawing/2014/main" id="{7826DEEE-7BAD-4726-A594-90BC18F1AF2B}"/>
              </a:ext>
            </a:extLst>
          </p:cNvPr>
          <p:cNvSpPr>
            <a:spLocks noGrp="1"/>
          </p:cNvSpPr>
          <p:nvPr/>
        </p:nvSpPr>
        <p:spPr>
          <a:xfrm>
            <a:off x="895350" y="4286250"/>
            <a:ext cx="1790700" cy="0"/>
          </a:xfrm>
          <a:prstGeom prst="line">
            <a:avLst/>
          </a:prstGeom>
          <a:noFill/>
          <a:ln w="19050">
            <a:solidFill>
              <a:srgbClr val="D71E28"/>
            </a:solidFill>
            <a:prstDash val="solid"/>
          </a:ln>
        </p:spPr>
      </p:sp>
      <p:sp>
        <p:nvSpPr>
          <p:cNvPr id="19" name="Rectangle 18">
            <a:extLst>
              <a:ext uri="{FF2B5EF4-FFF2-40B4-BE49-F238E27FC236}">
                <a16:creationId xmlns:a16="http://schemas.microsoft.com/office/drawing/2014/main" id="{E1343328-266F-4A58-9B6D-1152E8C755E9}"/>
              </a:ext>
            </a:extLst>
          </p:cNvPr>
          <p:cNvSpPr>
            <a:spLocks noGrp="1"/>
          </p:cNvSpPr>
          <p:nvPr/>
        </p:nvSpPr>
        <p:spPr>
          <a:xfrm>
            <a:off x="819150" y="4457700"/>
            <a:ext cx="1943100" cy="247650"/>
          </a:xfrm>
          <a:prstGeom prst="rect">
            <a:avLst/>
          </a:prstGeom>
          <a:noFill/>
          <a:ln w="0">
            <a:noFill/>
            <a:prstDash val="solid"/>
          </a:ln>
        </p:spPr>
        <p:txBody>
          <a:bodyPr lIns="0" tIns="0" rIns="0" bIns="0" anchor="t">
            <a:noAutofit/>
          </a:bodyPr>
          <a:lstStyle/>
          <a:p>
            <a:pPr algn="ctr">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More reliable behavior</a:t>
            </a:r>
          </a:p>
        </p:txBody>
      </p:sp>
      <p:sp>
        <p:nvSpPr>
          <p:cNvPr id="20" name="Rectangle: Rounded Corners 19">
            <a:extLst>
              <a:ext uri="{FF2B5EF4-FFF2-40B4-BE49-F238E27FC236}">
                <a16:creationId xmlns:a16="http://schemas.microsoft.com/office/drawing/2014/main" id="{E9E4C529-4169-4A34-AFE1-BC9C3C98BD9E}"/>
              </a:ext>
            </a:extLst>
          </p:cNvPr>
          <p:cNvSpPr>
            <a:spLocks noGrp="1"/>
          </p:cNvSpPr>
          <p:nvPr/>
        </p:nvSpPr>
        <p:spPr>
          <a:xfrm>
            <a:off x="3352800" y="2533650"/>
            <a:ext cx="2362200" cy="2343150"/>
          </a:xfrm>
          <a:prstGeom prst="roundRect">
            <a:avLst>
              <a:gd name="adj" fmla="val 6504"/>
            </a:avLst>
          </a:prstGeom>
          <a:solidFill>
            <a:srgbClr val="FFF8E0"/>
          </a:solidFill>
          <a:ln w="9525">
            <a:solidFill>
              <a:srgbClr val="8A5A00"/>
            </a:solidFill>
            <a:prstDash val="solid"/>
          </a:ln>
        </p:spPr>
      </p:sp>
      <p:sp>
        <p:nvSpPr>
          <p:cNvPr id="21" name="Oval 20">
            <a:extLst>
              <a:ext uri="{FF2B5EF4-FFF2-40B4-BE49-F238E27FC236}">
                <a16:creationId xmlns:a16="http://schemas.microsoft.com/office/drawing/2014/main" id="{7F713C64-D743-450B-950E-0B938D156388}"/>
              </a:ext>
            </a:extLst>
          </p:cNvPr>
          <p:cNvSpPr>
            <a:spLocks noGrp="1"/>
          </p:cNvSpPr>
          <p:nvPr/>
        </p:nvSpPr>
        <p:spPr>
          <a:xfrm>
            <a:off x="3543300" y="2724150"/>
            <a:ext cx="381000" cy="381000"/>
          </a:xfrm>
          <a:prstGeom prst="ellipse">
            <a:avLst/>
          </a:prstGeom>
          <a:solidFill>
            <a:srgbClr val="8A5A00"/>
          </a:solidFill>
          <a:ln w="9525">
            <a:solidFill>
              <a:srgbClr val="8A5A00"/>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22" name="Rectangle 21">
            <a:extLst>
              <a:ext uri="{FF2B5EF4-FFF2-40B4-BE49-F238E27FC236}">
                <a16:creationId xmlns:a16="http://schemas.microsoft.com/office/drawing/2014/main" id="{52FFCFB8-20E0-4D72-B7F7-121DCA8BA66E}"/>
              </a:ext>
            </a:extLst>
          </p:cNvPr>
          <p:cNvSpPr>
            <a:spLocks noGrp="1"/>
          </p:cNvSpPr>
          <p:nvPr/>
        </p:nvSpPr>
        <p:spPr>
          <a:xfrm>
            <a:off x="4076700" y="2828925"/>
            <a:ext cx="1390650" cy="190500"/>
          </a:xfrm>
          <a:prstGeom prst="rect">
            <a:avLst/>
          </a:prstGeom>
          <a:noFill/>
          <a:ln w="0">
            <a:noFill/>
            <a:prstDash val="solid"/>
          </a:ln>
        </p:spPr>
        <p:txBody>
          <a:bodyPr lIns="0" tIns="0" rIns="0" bIns="0" anchor="t">
            <a:noAutofit/>
          </a:bodyPr>
          <a:lstStyle/>
          <a:p>
            <a:pPr algn="l">
              <a:lnSpc>
                <a:spcPct val="100000"/>
              </a:lnSpc>
              <a:buNone/>
              <a:defRPr sz="975" b="1">
                <a:solidFill>
                  <a:srgbClr val="8A5A00"/>
                </a:solidFill>
                <a:latin typeface="Aptos"/>
                <a:ea typeface="Aptos"/>
                <a:cs typeface="Aptos"/>
              </a:defRPr>
            </a:pPr>
            <a:r>
              <a:rPr sz="975" b="1">
                <a:solidFill>
                  <a:srgbClr val="8A5A00"/>
                </a:solidFill>
                <a:latin typeface="Aptos"/>
                <a:ea typeface="Aptos"/>
                <a:cs typeface="Aptos"/>
              </a:rPr>
              <a:t>DEFINE</a:t>
            </a:r>
          </a:p>
        </p:txBody>
      </p:sp>
      <p:sp>
        <p:nvSpPr>
          <p:cNvPr id="23" name="Rectangle 22">
            <a:extLst>
              <a:ext uri="{FF2B5EF4-FFF2-40B4-BE49-F238E27FC236}">
                <a16:creationId xmlns:a16="http://schemas.microsoft.com/office/drawing/2014/main" id="{22190DBA-13C0-4070-9912-18ACD9B0C7BA}"/>
              </a:ext>
            </a:extLst>
          </p:cNvPr>
          <p:cNvSpPr>
            <a:spLocks noGrp="1"/>
          </p:cNvSpPr>
          <p:nvPr/>
        </p:nvSpPr>
        <p:spPr>
          <a:xfrm>
            <a:off x="3562350" y="3390900"/>
            <a:ext cx="1943100" cy="723900"/>
          </a:xfrm>
          <a:prstGeom prst="rect">
            <a:avLst/>
          </a:prstGeom>
          <a:noFill/>
          <a:ln w="0">
            <a:noFill/>
            <a:prstDash val="solid"/>
          </a:ln>
        </p:spPr>
        <p:txBody>
          <a:bodyPr lIns="0" tIns="0" rIns="0" bIns="0" anchor="t">
            <a:noAutofit/>
          </a:bodyPr>
          <a:lstStyle/>
          <a:p>
            <a:pPr algn="ctr">
              <a:lnSpc>
                <a:spcPct val="100000"/>
              </a:lnSpc>
              <a:buNone/>
              <a:defRPr sz="1575" b="1">
                <a:solidFill>
                  <a:srgbClr val="20252B"/>
                </a:solidFill>
                <a:latin typeface="Aptos"/>
                <a:ea typeface="Aptos"/>
                <a:cs typeface="Aptos"/>
              </a:defRPr>
            </a:pPr>
            <a:r>
              <a:rPr sz="1575" b="1">
                <a:solidFill>
                  <a:srgbClr val="20252B"/>
                </a:solidFill>
                <a:latin typeface="Aptos"/>
                <a:ea typeface="Aptos"/>
                <a:cs typeface="Aptos"/>
              </a:rPr>
              <a:t>Sample config and data contracts</a:t>
            </a:r>
          </a:p>
        </p:txBody>
      </p:sp>
      <p:sp>
        <p:nvSpPr>
          <p:cNvPr id="24" name="Straight Connector 23">
            <a:extLst>
              <a:ext uri="{FF2B5EF4-FFF2-40B4-BE49-F238E27FC236}">
                <a16:creationId xmlns:a16="http://schemas.microsoft.com/office/drawing/2014/main" id="{72D77466-C9B9-4A44-A592-CA247602EC3C}"/>
              </a:ext>
            </a:extLst>
          </p:cNvPr>
          <p:cNvSpPr>
            <a:spLocks noGrp="1"/>
          </p:cNvSpPr>
          <p:nvPr/>
        </p:nvSpPr>
        <p:spPr>
          <a:xfrm>
            <a:off x="3638550" y="4286250"/>
            <a:ext cx="1790700" cy="0"/>
          </a:xfrm>
          <a:prstGeom prst="line">
            <a:avLst/>
          </a:prstGeom>
          <a:noFill/>
          <a:ln w="19050">
            <a:solidFill>
              <a:srgbClr val="8A5A00"/>
            </a:solidFill>
            <a:prstDash val="solid"/>
          </a:ln>
        </p:spPr>
      </p:sp>
      <p:sp>
        <p:nvSpPr>
          <p:cNvPr id="25" name="Rectangle 24">
            <a:extLst>
              <a:ext uri="{FF2B5EF4-FFF2-40B4-BE49-F238E27FC236}">
                <a16:creationId xmlns:a16="http://schemas.microsoft.com/office/drawing/2014/main" id="{245C8E90-DB4F-4F61-A232-E8A0C6EC3597}"/>
              </a:ext>
            </a:extLst>
          </p:cNvPr>
          <p:cNvSpPr>
            <a:spLocks noGrp="1"/>
          </p:cNvSpPr>
          <p:nvPr/>
        </p:nvSpPr>
        <p:spPr>
          <a:xfrm>
            <a:off x="3562350" y="4457700"/>
            <a:ext cx="1943100" cy="247650"/>
          </a:xfrm>
          <a:prstGeom prst="rect">
            <a:avLst/>
          </a:prstGeom>
          <a:noFill/>
          <a:ln w="0">
            <a:noFill/>
            <a:prstDash val="solid"/>
          </a:ln>
        </p:spPr>
        <p:txBody>
          <a:bodyPr lIns="0" tIns="0" rIns="0" bIns="0" anchor="t">
            <a:noAutofit/>
          </a:bodyPr>
          <a:lstStyle/>
          <a:p>
            <a:pPr algn="ctr">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Clearer data expectations</a:t>
            </a:r>
          </a:p>
        </p:txBody>
      </p:sp>
      <p:sp>
        <p:nvSpPr>
          <p:cNvPr id="26" name="Rectangle: Rounded Corners 25">
            <a:extLst>
              <a:ext uri="{FF2B5EF4-FFF2-40B4-BE49-F238E27FC236}">
                <a16:creationId xmlns:a16="http://schemas.microsoft.com/office/drawing/2014/main" id="{AC0A81DA-D9A2-4DAC-ADE1-DFF94B31593D}"/>
              </a:ext>
            </a:extLst>
          </p:cNvPr>
          <p:cNvSpPr>
            <a:spLocks noGrp="1"/>
          </p:cNvSpPr>
          <p:nvPr/>
        </p:nvSpPr>
        <p:spPr>
          <a:xfrm>
            <a:off x="6096000" y="2533650"/>
            <a:ext cx="2362200" cy="2343150"/>
          </a:xfrm>
          <a:prstGeom prst="roundRect">
            <a:avLst>
              <a:gd name="adj" fmla="val 6504"/>
            </a:avLst>
          </a:prstGeom>
          <a:solidFill>
            <a:srgbClr val="EAF1F4"/>
          </a:solidFill>
          <a:ln w="9525">
            <a:solidFill>
              <a:srgbClr val="2F5D73"/>
            </a:solidFill>
            <a:prstDash val="solid"/>
          </a:ln>
        </p:spPr>
      </p:sp>
      <p:sp>
        <p:nvSpPr>
          <p:cNvPr id="27" name="Oval 26">
            <a:extLst>
              <a:ext uri="{FF2B5EF4-FFF2-40B4-BE49-F238E27FC236}">
                <a16:creationId xmlns:a16="http://schemas.microsoft.com/office/drawing/2014/main" id="{1E1C71A6-AEEB-4128-95C7-94C727E1BCA9}"/>
              </a:ext>
            </a:extLst>
          </p:cNvPr>
          <p:cNvSpPr>
            <a:spLocks noGrp="1"/>
          </p:cNvSpPr>
          <p:nvPr/>
        </p:nvSpPr>
        <p:spPr>
          <a:xfrm>
            <a:off x="6286500" y="2724150"/>
            <a:ext cx="381000" cy="381000"/>
          </a:xfrm>
          <a:prstGeom prst="ellipse">
            <a:avLst/>
          </a:prstGeom>
          <a:solidFill>
            <a:srgbClr val="2F5D73"/>
          </a:solidFill>
          <a:ln w="9525">
            <a:solidFill>
              <a:srgbClr val="2F5D73"/>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8" name="Rectangle 27">
            <a:extLst>
              <a:ext uri="{FF2B5EF4-FFF2-40B4-BE49-F238E27FC236}">
                <a16:creationId xmlns:a16="http://schemas.microsoft.com/office/drawing/2014/main" id="{951FB045-F710-44F5-8C33-155F4D37C724}"/>
              </a:ext>
            </a:extLst>
          </p:cNvPr>
          <p:cNvSpPr>
            <a:spLocks noGrp="1"/>
          </p:cNvSpPr>
          <p:nvPr/>
        </p:nvSpPr>
        <p:spPr>
          <a:xfrm>
            <a:off x="6819900" y="2828925"/>
            <a:ext cx="1390650" cy="190500"/>
          </a:xfrm>
          <a:prstGeom prst="rect">
            <a:avLst/>
          </a:prstGeom>
          <a:noFill/>
          <a:ln w="0">
            <a:noFill/>
            <a:prstDash val="solid"/>
          </a:ln>
        </p:spPr>
        <p:txBody>
          <a:bodyPr lIns="0" tIns="0" rIns="0" bIns="0" anchor="t">
            <a:noAutofit/>
          </a:bodyPr>
          <a:lstStyle/>
          <a:p>
            <a:pPr algn="l">
              <a:lnSpc>
                <a:spcPct val="100000"/>
              </a:lnSpc>
              <a:buNone/>
              <a:defRPr sz="975" b="1">
                <a:solidFill>
                  <a:srgbClr val="2F5D73"/>
                </a:solidFill>
                <a:latin typeface="Aptos"/>
                <a:ea typeface="Aptos"/>
                <a:cs typeface="Aptos"/>
              </a:defRPr>
            </a:pPr>
            <a:r>
              <a:rPr sz="975" b="1">
                <a:solidFill>
                  <a:srgbClr val="2F5D73"/>
                </a:solidFill>
                <a:latin typeface="Aptos"/>
                <a:ea typeface="Aptos"/>
                <a:cs typeface="Aptos"/>
              </a:rPr>
              <a:t>VALIDATE</a:t>
            </a:r>
          </a:p>
        </p:txBody>
      </p:sp>
      <p:sp>
        <p:nvSpPr>
          <p:cNvPr id="29" name="Rectangle 28">
            <a:extLst>
              <a:ext uri="{FF2B5EF4-FFF2-40B4-BE49-F238E27FC236}">
                <a16:creationId xmlns:a16="http://schemas.microsoft.com/office/drawing/2014/main" id="{894D3C65-DB8D-4626-B8DA-4EA6EC6A17A5}"/>
              </a:ext>
            </a:extLst>
          </p:cNvPr>
          <p:cNvSpPr>
            <a:spLocks noGrp="1"/>
          </p:cNvSpPr>
          <p:nvPr/>
        </p:nvSpPr>
        <p:spPr>
          <a:xfrm>
            <a:off x="6305550" y="3390900"/>
            <a:ext cx="1943100" cy="723900"/>
          </a:xfrm>
          <a:prstGeom prst="rect">
            <a:avLst/>
          </a:prstGeom>
          <a:noFill/>
          <a:ln w="0">
            <a:noFill/>
            <a:prstDash val="solid"/>
          </a:ln>
        </p:spPr>
        <p:txBody>
          <a:bodyPr lIns="0" tIns="0" rIns="0" bIns="0" anchor="t">
            <a:noAutofit/>
          </a:bodyPr>
          <a:lstStyle/>
          <a:p>
            <a:pPr algn="ctr">
              <a:lnSpc>
                <a:spcPct val="100000"/>
              </a:lnSpc>
              <a:buNone/>
              <a:defRPr sz="1575" b="1">
                <a:solidFill>
                  <a:srgbClr val="20252B"/>
                </a:solidFill>
                <a:latin typeface="Aptos"/>
                <a:ea typeface="Aptos"/>
                <a:cs typeface="Aptos"/>
              </a:defRPr>
            </a:pPr>
            <a:r>
              <a:rPr sz="1575" b="1">
                <a:solidFill>
                  <a:srgbClr val="20252B"/>
                </a:solidFill>
                <a:latin typeface="Aptos"/>
                <a:ea typeface="Aptos"/>
                <a:cs typeface="Aptos"/>
              </a:rPr>
              <a:t>Packaging and MCP client setup</a:t>
            </a:r>
          </a:p>
        </p:txBody>
      </p:sp>
      <p:sp>
        <p:nvSpPr>
          <p:cNvPr id="30" name="Straight Connector 29">
            <a:extLst>
              <a:ext uri="{FF2B5EF4-FFF2-40B4-BE49-F238E27FC236}">
                <a16:creationId xmlns:a16="http://schemas.microsoft.com/office/drawing/2014/main" id="{A7A0C4F6-6799-4EB4-8F81-0A5B7A02C7FB}"/>
              </a:ext>
            </a:extLst>
          </p:cNvPr>
          <p:cNvSpPr>
            <a:spLocks noGrp="1"/>
          </p:cNvSpPr>
          <p:nvPr/>
        </p:nvSpPr>
        <p:spPr>
          <a:xfrm>
            <a:off x="6381750" y="4286250"/>
            <a:ext cx="1790700" cy="0"/>
          </a:xfrm>
          <a:prstGeom prst="line">
            <a:avLst/>
          </a:prstGeom>
          <a:noFill/>
          <a:ln w="19050">
            <a:solidFill>
              <a:srgbClr val="2F5D73"/>
            </a:solidFill>
            <a:prstDash val="solid"/>
          </a:ln>
        </p:spPr>
      </p:sp>
      <p:sp>
        <p:nvSpPr>
          <p:cNvPr id="31" name="Rectangle 30">
            <a:extLst>
              <a:ext uri="{FF2B5EF4-FFF2-40B4-BE49-F238E27FC236}">
                <a16:creationId xmlns:a16="http://schemas.microsoft.com/office/drawing/2014/main" id="{3F5945AB-D141-44F8-983D-406C617660AF}"/>
              </a:ext>
            </a:extLst>
          </p:cNvPr>
          <p:cNvSpPr>
            <a:spLocks noGrp="1"/>
          </p:cNvSpPr>
          <p:nvPr/>
        </p:nvSpPr>
        <p:spPr>
          <a:xfrm>
            <a:off x="6305550" y="4457700"/>
            <a:ext cx="1943100" cy="247650"/>
          </a:xfrm>
          <a:prstGeom prst="rect">
            <a:avLst/>
          </a:prstGeom>
          <a:noFill/>
          <a:ln w="0">
            <a:noFill/>
            <a:prstDash val="solid"/>
          </a:ln>
        </p:spPr>
        <p:txBody>
          <a:bodyPr lIns="0" tIns="0" rIns="0" bIns="0" anchor="t">
            <a:noAutofit/>
          </a:bodyPr>
          <a:lstStyle/>
          <a:p>
            <a:pPr algn="ctr">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Repeatable installation</a:t>
            </a:r>
          </a:p>
        </p:txBody>
      </p:sp>
      <p:sp>
        <p:nvSpPr>
          <p:cNvPr id="32" name="Rectangle: Rounded Corners 31">
            <a:extLst>
              <a:ext uri="{FF2B5EF4-FFF2-40B4-BE49-F238E27FC236}">
                <a16:creationId xmlns:a16="http://schemas.microsoft.com/office/drawing/2014/main" id="{6EDD4B54-D90F-4B43-8985-BFE124403890}"/>
              </a:ext>
            </a:extLst>
          </p:cNvPr>
          <p:cNvSpPr>
            <a:spLocks noGrp="1"/>
          </p:cNvSpPr>
          <p:nvPr/>
        </p:nvSpPr>
        <p:spPr>
          <a:xfrm>
            <a:off x="8839200" y="2533650"/>
            <a:ext cx="2362200" cy="2343150"/>
          </a:xfrm>
          <a:prstGeom prst="roundRect">
            <a:avLst>
              <a:gd name="adj" fmla="val 6504"/>
            </a:avLst>
          </a:prstGeom>
          <a:solidFill>
            <a:srgbClr val="EEF1F4"/>
          </a:solidFill>
          <a:ln w="9525">
            <a:solidFill>
              <a:srgbClr val="20252B"/>
            </a:solidFill>
            <a:prstDash val="solid"/>
          </a:ln>
        </p:spPr>
      </p:sp>
      <p:sp>
        <p:nvSpPr>
          <p:cNvPr id="33" name="Oval 32">
            <a:extLst>
              <a:ext uri="{FF2B5EF4-FFF2-40B4-BE49-F238E27FC236}">
                <a16:creationId xmlns:a16="http://schemas.microsoft.com/office/drawing/2014/main" id="{EEA04368-AC10-46EB-998C-A88938234F3B}"/>
              </a:ext>
            </a:extLst>
          </p:cNvPr>
          <p:cNvSpPr>
            <a:spLocks noGrp="1"/>
          </p:cNvSpPr>
          <p:nvPr/>
        </p:nvSpPr>
        <p:spPr>
          <a:xfrm>
            <a:off x="9029700" y="2724150"/>
            <a:ext cx="381000" cy="381000"/>
          </a:xfrm>
          <a:prstGeom prst="ellipse">
            <a:avLst/>
          </a:prstGeom>
          <a:solidFill>
            <a:schemeClr val="accent6">
              <a:lumMod val="75000"/>
            </a:schemeClr>
          </a:solidFill>
          <a:ln w="9525">
            <a:solidFill>
              <a:srgbClr val="20252B"/>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34" name="Rectangle 33">
            <a:extLst>
              <a:ext uri="{FF2B5EF4-FFF2-40B4-BE49-F238E27FC236}">
                <a16:creationId xmlns:a16="http://schemas.microsoft.com/office/drawing/2014/main" id="{968BF7E9-A180-434E-A961-9D836288C339}"/>
              </a:ext>
            </a:extLst>
          </p:cNvPr>
          <p:cNvSpPr>
            <a:spLocks noGrp="1"/>
          </p:cNvSpPr>
          <p:nvPr/>
        </p:nvSpPr>
        <p:spPr>
          <a:xfrm>
            <a:off x="9563100" y="2828925"/>
            <a:ext cx="1390650" cy="190500"/>
          </a:xfrm>
          <a:prstGeom prst="rect">
            <a:avLst/>
          </a:prstGeom>
          <a:noFill/>
          <a:ln w="0">
            <a:noFill/>
            <a:prstDash val="solid"/>
          </a:ln>
        </p:spPr>
        <p:txBody>
          <a:bodyPr lIns="0" tIns="0" rIns="0" bIns="0" anchor="t">
            <a:noAutofit/>
          </a:bodyPr>
          <a:lstStyle/>
          <a:p>
            <a:pPr algn="l">
              <a:lnSpc>
                <a:spcPct val="100000"/>
              </a:lnSpc>
              <a:buNone/>
              <a:defRPr sz="975" b="1">
                <a:solidFill>
                  <a:srgbClr val="20252B"/>
                </a:solidFill>
                <a:latin typeface="Aptos"/>
                <a:ea typeface="Aptos"/>
                <a:cs typeface="Aptos"/>
              </a:defRPr>
            </a:pPr>
            <a:r>
              <a:rPr sz="975" b="1">
                <a:solidFill>
                  <a:srgbClr val="20252B"/>
                </a:solidFill>
                <a:latin typeface="Aptos"/>
                <a:ea typeface="Aptos"/>
                <a:cs typeface="Aptos"/>
              </a:rPr>
              <a:t>PUBLISH</a:t>
            </a:r>
          </a:p>
        </p:txBody>
      </p:sp>
      <p:sp>
        <p:nvSpPr>
          <p:cNvPr id="35" name="Rectangle 34">
            <a:extLst>
              <a:ext uri="{FF2B5EF4-FFF2-40B4-BE49-F238E27FC236}">
                <a16:creationId xmlns:a16="http://schemas.microsoft.com/office/drawing/2014/main" id="{0D107E28-7EFB-4CAD-B3DE-A4308213D383}"/>
              </a:ext>
            </a:extLst>
          </p:cNvPr>
          <p:cNvSpPr>
            <a:spLocks noGrp="1"/>
          </p:cNvSpPr>
          <p:nvPr/>
        </p:nvSpPr>
        <p:spPr>
          <a:xfrm>
            <a:off x="9048750" y="3390900"/>
            <a:ext cx="1943100" cy="723900"/>
          </a:xfrm>
          <a:prstGeom prst="rect">
            <a:avLst/>
          </a:prstGeom>
          <a:noFill/>
          <a:ln w="0">
            <a:noFill/>
            <a:prstDash val="solid"/>
          </a:ln>
        </p:spPr>
        <p:txBody>
          <a:bodyPr lIns="0" tIns="0" rIns="0" bIns="0" anchor="t">
            <a:noAutofit/>
          </a:bodyPr>
          <a:lstStyle/>
          <a:p>
            <a:pPr algn="ctr">
              <a:lnSpc>
                <a:spcPct val="100000"/>
              </a:lnSpc>
              <a:buNone/>
              <a:defRPr sz="1575" b="1">
                <a:solidFill>
                  <a:srgbClr val="20252B"/>
                </a:solidFill>
                <a:latin typeface="Aptos"/>
                <a:ea typeface="Aptos"/>
                <a:cs typeface="Aptos"/>
              </a:defRPr>
            </a:pPr>
            <a:r>
              <a:rPr sz="1575" b="1">
                <a:solidFill>
                  <a:srgbClr val="20252B"/>
                </a:solidFill>
                <a:latin typeface="Aptos"/>
                <a:ea typeface="Aptos"/>
                <a:cs typeface="Aptos"/>
              </a:rPr>
              <a:t>Common desk query examples</a:t>
            </a:r>
          </a:p>
        </p:txBody>
      </p:sp>
      <p:sp>
        <p:nvSpPr>
          <p:cNvPr id="36" name="Straight Connector 35">
            <a:extLst>
              <a:ext uri="{FF2B5EF4-FFF2-40B4-BE49-F238E27FC236}">
                <a16:creationId xmlns:a16="http://schemas.microsoft.com/office/drawing/2014/main" id="{5CA80E61-F54F-409F-9F63-2A98D3EB8E75}"/>
              </a:ext>
            </a:extLst>
          </p:cNvPr>
          <p:cNvSpPr>
            <a:spLocks noGrp="1"/>
          </p:cNvSpPr>
          <p:nvPr/>
        </p:nvSpPr>
        <p:spPr>
          <a:xfrm>
            <a:off x="9124950" y="4286250"/>
            <a:ext cx="1790700" cy="0"/>
          </a:xfrm>
          <a:prstGeom prst="line">
            <a:avLst/>
          </a:prstGeom>
          <a:noFill/>
          <a:ln w="19050">
            <a:solidFill>
              <a:srgbClr val="20252B"/>
            </a:solidFill>
            <a:prstDash val="solid"/>
          </a:ln>
        </p:spPr>
      </p:sp>
      <p:sp>
        <p:nvSpPr>
          <p:cNvPr id="37" name="Rectangle 36">
            <a:extLst>
              <a:ext uri="{FF2B5EF4-FFF2-40B4-BE49-F238E27FC236}">
                <a16:creationId xmlns:a16="http://schemas.microsoft.com/office/drawing/2014/main" id="{D5A8E5A4-5DAA-4935-AC6C-80EC55CD72AA}"/>
              </a:ext>
            </a:extLst>
          </p:cNvPr>
          <p:cNvSpPr>
            <a:spLocks noGrp="1"/>
          </p:cNvSpPr>
          <p:nvPr/>
        </p:nvSpPr>
        <p:spPr>
          <a:xfrm>
            <a:off x="9048750" y="4457700"/>
            <a:ext cx="1943100" cy="247650"/>
          </a:xfrm>
          <a:prstGeom prst="rect">
            <a:avLst/>
          </a:prstGeom>
          <a:noFill/>
          <a:ln w="0">
            <a:noFill/>
            <a:prstDash val="solid"/>
          </a:ln>
        </p:spPr>
        <p:txBody>
          <a:bodyPr lIns="0" tIns="0" rIns="0" bIns="0" anchor="t">
            <a:noAutofit/>
          </a:bodyPr>
          <a:lstStyle/>
          <a:p>
            <a:pPr algn="ctr">
              <a:lnSpc>
                <a:spcPct val="100000"/>
              </a:lnSpc>
              <a:buNone/>
              <a:defRPr sz="1200" b="1">
                <a:solidFill>
                  <a:srgbClr val="3F4953"/>
                </a:solidFill>
                <a:latin typeface="Aptos"/>
                <a:ea typeface="Aptos"/>
                <a:cs typeface="Aptos"/>
              </a:defRPr>
            </a:pPr>
            <a:r>
              <a:rPr sz="1200" b="1">
                <a:solidFill>
                  <a:srgbClr val="3F4953"/>
                </a:solidFill>
                <a:latin typeface="Aptos"/>
                <a:ea typeface="Aptos"/>
                <a:cs typeface="Aptos"/>
              </a:rPr>
              <a:t>Reusable workflows</a:t>
            </a:r>
          </a:p>
        </p:txBody>
      </p:sp>
      <p:sp>
        <p:nvSpPr>
          <p:cNvPr id="38" name="Rectangle: Rounded Corners 37">
            <a:extLst>
              <a:ext uri="{FF2B5EF4-FFF2-40B4-BE49-F238E27FC236}">
                <a16:creationId xmlns:a16="http://schemas.microsoft.com/office/drawing/2014/main" id="{4472ED15-ABC0-4A4D-9098-032E88401D6F}"/>
              </a:ext>
            </a:extLst>
          </p:cNvPr>
          <p:cNvSpPr>
            <a:spLocks noGrp="1"/>
          </p:cNvSpPr>
          <p:nvPr/>
        </p:nvSpPr>
        <p:spPr>
          <a:xfrm>
            <a:off x="609600" y="5238750"/>
            <a:ext cx="10668000" cy="914400"/>
          </a:xfrm>
          <a:prstGeom prst="roundRect">
            <a:avLst>
              <a:gd name="adj" fmla="val 12500"/>
            </a:avLst>
          </a:prstGeom>
          <a:solidFill>
            <a:schemeClr val="accent6">
              <a:lumMod val="75000"/>
            </a:schemeClr>
          </a:solidFill>
          <a:ln w="9525">
            <a:solidFill>
              <a:srgbClr val="20252B"/>
            </a:solidFill>
            <a:prstDash val="solid"/>
          </a:ln>
        </p:spPr>
      </p:sp>
      <p:sp>
        <p:nvSpPr>
          <p:cNvPr id="39" name="Rectangle 38">
            <a:extLst>
              <a:ext uri="{FF2B5EF4-FFF2-40B4-BE49-F238E27FC236}">
                <a16:creationId xmlns:a16="http://schemas.microsoft.com/office/drawing/2014/main" id="{9017F500-3E7D-415B-A458-7737BBA26573}"/>
              </a:ext>
            </a:extLst>
          </p:cNvPr>
          <p:cNvSpPr>
            <a:spLocks noGrp="1"/>
          </p:cNvSpPr>
          <p:nvPr/>
        </p:nvSpPr>
        <p:spPr>
          <a:xfrm>
            <a:off x="609600" y="5353050"/>
            <a:ext cx="76200" cy="685800"/>
          </a:xfrm>
          <a:prstGeom prst="rect">
            <a:avLst/>
          </a:prstGeom>
          <a:solidFill>
            <a:srgbClr val="D71E28"/>
          </a:solidFill>
          <a:ln w="9525">
            <a:solidFill>
              <a:srgbClr val="D71E28"/>
            </a:solidFill>
            <a:prstDash val="solid"/>
          </a:ln>
        </p:spPr>
      </p:sp>
      <p:sp>
        <p:nvSpPr>
          <p:cNvPr id="40" name="Rectangle 39">
            <a:extLst>
              <a:ext uri="{FF2B5EF4-FFF2-40B4-BE49-F238E27FC236}">
                <a16:creationId xmlns:a16="http://schemas.microsoft.com/office/drawing/2014/main" id="{F2E0D9C5-B872-4FC0-B0C2-8AC906F71C85}"/>
              </a:ext>
            </a:extLst>
          </p:cNvPr>
          <p:cNvSpPr>
            <a:spLocks noGrp="1"/>
          </p:cNvSpPr>
          <p:nvPr/>
        </p:nvSpPr>
        <p:spPr>
          <a:xfrm>
            <a:off x="838200" y="5429250"/>
            <a:ext cx="10210800" cy="285750"/>
          </a:xfrm>
          <a:prstGeom prst="rect">
            <a:avLst/>
          </a:prstGeom>
          <a:noFill/>
          <a:ln w="0">
            <a:noFill/>
            <a:prstDash val="solid"/>
          </a:ln>
        </p:spPr>
        <p:txBody>
          <a:bodyPr lIns="0" tIns="0" rIns="0" bIns="0" anchor="t">
            <a:noAutofit/>
          </a:bodyPr>
          <a:lstStyle/>
          <a:p>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A governed AI layer makes fragmented P&amp;L data easier to investigate.</a:t>
            </a:r>
          </a:p>
        </p:txBody>
      </p:sp>
      <p:sp>
        <p:nvSpPr>
          <p:cNvPr id="41" name="Rectangle 40">
            <a:extLst>
              <a:ext uri="{FF2B5EF4-FFF2-40B4-BE49-F238E27FC236}">
                <a16:creationId xmlns:a16="http://schemas.microsoft.com/office/drawing/2014/main" id="{89A13F23-00B7-482C-A583-9D5F5D124E43}"/>
              </a:ext>
            </a:extLst>
          </p:cNvPr>
          <p:cNvSpPr>
            <a:spLocks noGrp="1"/>
          </p:cNvSpPr>
          <p:nvPr/>
        </p:nvSpPr>
        <p:spPr>
          <a:xfrm>
            <a:off x="838200" y="5810250"/>
            <a:ext cx="10210800" cy="190500"/>
          </a:xfrm>
          <a:prstGeom prst="rect">
            <a:avLst/>
          </a:prstGeom>
          <a:noFill/>
          <a:ln w="0">
            <a:noFill/>
            <a:prstDash val="solid"/>
          </a:ln>
        </p:spPr>
        <p:txBody>
          <a:bodyPr lIns="0" tIns="0" rIns="0" bIns="0" anchor="t">
            <a:noAutofit/>
          </a:bodyPr>
          <a:lstStyle/>
          <a:p>
            <a:pPr algn="ctr">
              <a:lnSpc>
                <a:spcPct val="100000"/>
              </a:lnSpc>
              <a:buNone/>
              <a:defRPr sz="1200" b="1">
                <a:solidFill>
                  <a:srgbClr val="E2E6EA"/>
                </a:solidFill>
                <a:latin typeface="Aptos"/>
                <a:ea typeface="Aptos"/>
                <a:cs typeface="Aptos"/>
              </a:defRPr>
            </a:pPr>
            <a:r>
              <a:rPr sz="1200" b="1">
                <a:solidFill>
                  <a:srgbClr val="E2E6EA"/>
                </a:solidFill>
                <a:latin typeface="Aptos"/>
                <a:ea typeface="Aptos"/>
                <a:cs typeface="Aptos"/>
              </a:rPr>
              <a:t>Technical review focus: feasibility  •  scalability  •  controls  •  integration opportunities</a:t>
            </a:r>
          </a:p>
        </p:txBody>
      </p:sp>
    </p:spTree>
    <p:extLst>
      <p:ext uri="{BB962C8B-B14F-4D97-AF65-F5344CB8AC3E}">
        <p14:creationId xmlns:p14="http://schemas.microsoft.com/office/powerpoint/2010/main" val="1917531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AD538B8D-2289-4A7B-82A0-AFD3BD518A84}"/>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990B1CDC-0C4E-409E-A472-9B02CB24BB04}"/>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8A5A00"/>
                </a:solidFill>
                <a:latin typeface="Aptos"/>
                <a:ea typeface="Aptos"/>
                <a:cs typeface="Aptos"/>
              </a:defRPr>
            </a:pPr>
            <a:r>
              <a:rPr sz="900" b="1">
                <a:solidFill>
                  <a:srgbClr val="8A5A00"/>
                </a:solidFill>
                <a:latin typeface="Aptos"/>
                <a:ea typeface="Aptos"/>
                <a:cs typeface="Aptos"/>
              </a:rPr>
              <a:t>APPENDIX</a:t>
            </a:r>
          </a:p>
        </p:txBody>
      </p:sp>
      <p:sp>
        <p:nvSpPr>
          <p:cNvPr id="3" name="Rectangle 2">
            <a:extLst>
              <a:ext uri="{FF2B5EF4-FFF2-40B4-BE49-F238E27FC236}">
                <a16:creationId xmlns:a16="http://schemas.microsoft.com/office/drawing/2014/main" id="{D67A2645-AD2D-4A6C-A87F-9668E0CC1270}"/>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P&amp;L terminology and dataset guide</a:t>
            </a:r>
          </a:p>
        </p:txBody>
      </p:sp>
      <p:sp>
        <p:nvSpPr>
          <p:cNvPr id="4" name="Straight Connector 3">
            <a:extLst>
              <a:ext uri="{FF2B5EF4-FFF2-40B4-BE49-F238E27FC236}">
                <a16:creationId xmlns:a16="http://schemas.microsoft.com/office/drawing/2014/main" id="{9034EE7E-6ACD-48B8-BC3B-934502377072}"/>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DEAD2EEA-2756-4781-8224-30802728742D}"/>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Q&amp;A reference</a:t>
            </a:r>
          </a:p>
        </p:txBody>
      </p:sp>
      <p:sp>
        <p:nvSpPr>
          <p:cNvPr id="6" name="Rectangle 5">
            <a:extLst>
              <a:ext uri="{FF2B5EF4-FFF2-40B4-BE49-F238E27FC236}">
                <a16:creationId xmlns:a16="http://schemas.microsoft.com/office/drawing/2014/main" id="{5CD17080-A3F5-4079-821F-719AE4F65A57}"/>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8A5A00"/>
                </a:solidFill>
                <a:latin typeface="Aptos"/>
                <a:ea typeface="Aptos"/>
                <a:cs typeface="Aptos"/>
              </a:defRPr>
            </a:pPr>
            <a:r>
              <a:rPr sz="825" b="1">
                <a:solidFill>
                  <a:srgbClr val="8A5A00"/>
                </a:solidFill>
                <a:latin typeface="Aptos"/>
                <a:ea typeface="Aptos"/>
                <a:cs typeface="Aptos"/>
              </a:rPr>
              <a:t>13</a:t>
            </a:r>
          </a:p>
        </p:txBody>
      </p:sp>
      <p:sp>
        <p:nvSpPr>
          <p:cNvPr id="7" name="Rectangle 6">
            <a:extLst>
              <a:ext uri="{FF2B5EF4-FFF2-40B4-BE49-F238E27FC236}">
                <a16:creationId xmlns:a16="http://schemas.microsoft.com/office/drawing/2014/main" id="{D232232D-63D5-4D61-BBA8-1FB631AC4F07}"/>
              </a:ext>
            </a:extLst>
          </p:cNvPr>
          <p:cNvSpPr>
            <a:spLocks noGrp="1"/>
          </p:cNvSpPr>
          <p:nvPr/>
        </p:nvSpPr>
        <p:spPr>
          <a:xfrm>
            <a:off x="609600" y="1104900"/>
            <a:ext cx="1000125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Use this reference when a question depends on P&amp;L view, analytical method, or data grain.</a:t>
            </a:r>
          </a:p>
        </p:txBody>
      </p:sp>
      <p:sp>
        <p:nvSpPr>
          <p:cNvPr id="8" name="Rectangle 7">
            <a:extLst>
              <a:ext uri="{FF2B5EF4-FFF2-40B4-BE49-F238E27FC236}">
                <a16:creationId xmlns:a16="http://schemas.microsoft.com/office/drawing/2014/main" id="{B0682E42-FB87-4CAC-AF7B-3D1BAAE94F04}"/>
              </a:ext>
            </a:extLst>
          </p:cNvPr>
          <p:cNvSpPr>
            <a:spLocks noGrp="1"/>
          </p:cNvSpPr>
          <p:nvPr/>
        </p:nvSpPr>
        <p:spPr>
          <a:xfrm>
            <a:off x="609600" y="1524000"/>
            <a:ext cx="3048000" cy="190500"/>
          </a:xfrm>
          <a:prstGeom prst="rect">
            <a:avLst/>
          </a:prstGeom>
          <a:noFill/>
          <a:ln w="0">
            <a:noFill/>
            <a:prstDash val="solid"/>
          </a:ln>
        </p:spPr>
        <p:txBody>
          <a:bodyPr lIns="0" tIns="0" rIns="0" bIns="0" anchor="t">
            <a:noAutofit/>
          </a:bodyPr>
          <a:lstStyle/>
          <a:p>
            <a:pPr algn="l">
              <a:lnSpc>
                <a:spcPct val="100000"/>
              </a:lnSpc>
              <a:buNone/>
              <a:defRPr sz="975" b="1">
                <a:solidFill>
                  <a:srgbClr val="8A5A00"/>
                </a:solidFill>
                <a:latin typeface="Aptos"/>
                <a:ea typeface="Aptos"/>
                <a:cs typeface="Aptos"/>
              </a:defRPr>
            </a:pPr>
            <a:r>
              <a:rPr sz="975" b="1">
                <a:solidFill>
                  <a:srgbClr val="8A5A00"/>
                </a:solidFill>
                <a:latin typeface="Aptos"/>
                <a:ea typeface="Aptos"/>
                <a:cs typeface="Aptos"/>
              </a:rPr>
              <a:t>KEY TERMS</a:t>
            </a:r>
          </a:p>
        </p:txBody>
      </p:sp>
      <p:sp>
        <p:nvSpPr>
          <p:cNvPr id="9" name="Rectangle 8">
            <a:extLst>
              <a:ext uri="{FF2B5EF4-FFF2-40B4-BE49-F238E27FC236}">
                <a16:creationId xmlns:a16="http://schemas.microsoft.com/office/drawing/2014/main" id="{2CDDC38E-481F-40F6-A9CC-8360945435DA}"/>
              </a:ext>
            </a:extLst>
          </p:cNvPr>
          <p:cNvSpPr>
            <a:spLocks noGrp="1"/>
          </p:cNvSpPr>
          <p:nvPr/>
        </p:nvSpPr>
        <p:spPr>
          <a:xfrm>
            <a:off x="609600" y="1885950"/>
            <a:ext cx="1143000" cy="209550"/>
          </a:xfrm>
          <a:prstGeom prst="rect">
            <a:avLst/>
          </a:prstGeom>
          <a:noFill/>
          <a:ln w="0">
            <a:noFill/>
            <a:prstDash val="solid"/>
          </a:ln>
        </p:spPr>
        <p:txBody>
          <a:bodyPr lIns="0" tIns="0" rIns="0" bIns="0" anchor="t">
            <a:noAutofit/>
          </a:bodyPr>
          <a:lstStyle/>
          <a:p>
            <a:pPr algn="l">
              <a:lnSpc>
                <a:spcPct val="100000"/>
              </a:lnSpc>
              <a:buNone/>
              <a:defRPr sz="1275" b="1">
                <a:solidFill>
                  <a:srgbClr val="971B2F"/>
                </a:solidFill>
                <a:latin typeface="Aptos"/>
                <a:ea typeface="Aptos"/>
                <a:cs typeface="Aptos"/>
              </a:defRPr>
            </a:pPr>
            <a:r>
              <a:rPr sz="1275" b="1">
                <a:solidFill>
                  <a:srgbClr val="971B2F"/>
                </a:solidFill>
                <a:latin typeface="Aptos"/>
                <a:ea typeface="Aptos"/>
                <a:cs typeface="Aptos"/>
              </a:rPr>
              <a:t>P&amp;L</a:t>
            </a:r>
          </a:p>
        </p:txBody>
      </p:sp>
      <p:sp>
        <p:nvSpPr>
          <p:cNvPr id="10" name="Rectangle 9">
            <a:extLst>
              <a:ext uri="{FF2B5EF4-FFF2-40B4-BE49-F238E27FC236}">
                <a16:creationId xmlns:a16="http://schemas.microsoft.com/office/drawing/2014/main" id="{C03293BC-270F-4018-BC13-4608164BD0D7}"/>
              </a:ext>
            </a:extLst>
          </p:cNvPr>
          <p:cNvSpPr>
            <a:spLocks noGrp="1"/>
          </p:cNvSpPr>
          <p:nvPr/>
        </p:nvSpPr>
        <p:spPr>
          <a:xfrm>
            <a:off x="1752600" y="1885950"/>
            <a:ext cx="3105150" cy="4000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Profit or loss from trading positions</a:t>
            </a:r>
          </a:p>
        </p:txBody>
      </p:sp>
      <p:sp>
        <p:nvSpPr>
          <p:cNvPr id="11" name="Straight Connector 10">
            <a:extLst>
              <a:ext uri="{FF2B5EF4-FFF2-40B4-BE49-F238E27FC236}">
                <a16:creationId xmlns:a16="http://schemas.microsoft.com/office/drawing/2014/main" id="{F777AE9F-561E-4DC0-8D58-775C16107820}"/>
              </a:ext>
            </a:extLst>
          </p:cNvPr>
          <p:cNvSpPr>
            <a:spLocks noGrp="1"/>
          </p:cNvSpPr>
          <p:nvPr/>
        </p:nvSpPr>
        <p:spPr>
          <a:xfrm>
            <a:off x="609600" y="2352675"/>
            <a:ext cx="4248150" cy="0"/>
          </a:xfrm>
          <a:prstGeom prst="line">
            <a:avLst/>
          </a:prstGeom>
          <a:noFill/>
          <a:ln w="9525">
            <a:solidFill>
              <a:srgbClr val="D7DCE2"/>
            </a:solidFill>
            <a:prstDash val="solid"/>
          </a:ln>
        </p:spPr>
      </p:sp>
      <p:sp>
        <p:nvSpPr>
          <p:cNvPr id="12" name="Rectangle 11">
            <a:extLst>
              <a:ext uri="{FF2B5EF4-FFF2-40B4-BE49-F238E27FC236}">
                <a16:creationId xmlns:a16="http://schemas.microsoft.com/office/drawing/2014/main" id="{EA2421B5-47A6-4EAC-99A2-1DF25A0FC96B}"/>
              </a:ext>
            </a:extLst>
          </p:cNvPr>
          <p:cNvSpPr>
            <a:spLocks noGrp="1"/>
          </p:cNvSpPr>
          <p:nvPr/>
        </p:nvSpPr>
        <p:spPr>
          <a:xfrm>
            <a:off x="609600" y="2514600"/>
            <a:ext cx="1143000" cy="209550"/>
          </a:xfrm>
          <a:prstGeom prst="rect">
            <a:avLst/>
          </a:prstGeom>
          <a:noFill/>
          <a:ln w="0">
            <a:noFill/>
            <a:prstDash val="solid"/>
          </a:ln>
        </p:spPr>
        <p:txBody>
          <a:bodyPr lIns="0" tIns="0" rIns="0" bIns="0" anchor="t">
            <a:noAutofit/>
          </a:bodyPr>
          <a:lstStyle/>
          <a:p>
            <a:pPr algn="l">
              <a:lnSpc>
                <a:spcPct val="100000"/>
              </a:lnSpc>
              <a:buNone/>
              <a:defRPr sz="1275" b="1">
                <a:solidFill>
                  <a:srgbClr val="971B2F"/>
                </a:solidFill>
                <a:latin typeface="Aptos"/>
                <a:ea typeface="Aptos"/>
                <a:cs typeface="Aptos"/>
              </a:defRPr>
            </a:pPr>
            <a:r>
              <a:rPr sz="1275" b="1">
                <a:solidFill>
                  <a:srgbClr val="971B2F"/>
                </a:solidFill>
                <a:latin typeface="Aptos"/>
                <a:ea typeface="Aptos"/>
                <a:cs typeface="Aptos"/>
              </a:rPr>
              <a:t>Book</a:t>
            </a:r>
          </a:p>
        </p:txBody>
      </p:sp>
      <p:sp>
        <p:nvSpPr>
          <p:cNvPr id="13" name="Rectangle 12">
            <a:extLst>
              <a:ext uri="{FF2B5EF4-FFF2-40B4-BE49-F238E27FC236}">
                <a16:creationId xmlns:a16="http://schemas.microsoft.com/office/drawing/2014/main" id="{1A84FB57-BBB4-4B67-BCD3-1425252EF3E8}"/>
              </a:ext>
            </a:extLst>
          </p:cNvPr>
          <p:cNvSpPr>
            <a:spLocks noGrp="1"/>
          </p:cNvSpPr>
          <p:nvPr/>
        </p:nvSpPr>
        <p:spPr>
          <a:xfrm>
            <a:off x="1752600" y="2514600"/>
            <a:ext cx="3105150" cy="4000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A managed group of trades</a:t>
            </a:r>
          </a:p>
        </p:txBody>
      </p:sp>
      <p:sp>
        <p:nvSpPr>
          <p:cNvPr id="14" name="Straight Connector 13">
            <a:extLst>
              <a:ext uri="{FF2B5EF4-FFF2-40B4-BE49-F238E27FC236}">
                <a16:creationId xmlns:a16="http://schemas.microsoft.com/office/drawing/2014/main" id="{03C96F1B-B47F-485E-ADC0-0C9251998277}"/>
              </a:ext>
            </a:extLst>
          </p:cNvPr>
          <p:cNvSpPr>
            <a:spLocks noGrp="1"/>
          </p:cNvSpPr>
          <p:nvPr/>
        </p:nvSpPr>
        <p:spPr>
          <a:xfrm>
            <a:off x="609600" y="2981325"/>
            <a:ext cx="4248150" cy="0"/>
          </a:xfrm>
          <a:prstGeom prst="line">
            <a:avLst/>
          </a:prstGeom>
          <a:noFill/>
          <a:ln w="9525">
            <a:solidFill>
              <a:srgbClr val="D7DCE2"/>
            </a:solidFill>
            <a:prstDash val="solid"/>
          </a:ln>
        </p:spPr>
      </p:sp>
      <p:sp>
        <p:nvSpPr>
          <p:cNvPr id="15" name="Rectangle 14">
            <a:extLst>
              <a:ext uri="{FF2B5EF4-FFF2-40B4-BE49-F238E27FC236}">
                <a16:creationId xmlns:a16="http://schemas.microsoft.com/office/drawing/2014/main" id="{E05DE440-616C-4A9E-B208-2F3859D4CB35}"/>
              </a:ext>
            </a:extLst>
          </p:cNvPr>
          <p:cNvSpPr>
            <a:spLocks noGrp="1"/>
          </p:cNvSpPr>
          <p:nvPr/>
        </p:nvSpPr>
        <p:spPr>
          <a:xfrm>
            <a:off x="609600" y="3143250"/>
            <a:ext cx="1143000" cy="209550"/>
          </a:xfrm>
          <a:prstGeom prst="rect">
            <a:avLst/>
          </a:prstGeom>
          <a:noFill/>
          <a:ln w="0">
            <a:noFill/>
            <a:prstDash val="solid"/>
          </a:ln>
        </p:spPr>
        <p:txBody>
          <a:bodyPr lIns="0" tIns="0" rIns="0" bIns="0" anchor="t">
            <a:noAutofit/>
          </a:bodyPr>
          <a:lstStyle/>
          <a:p>
            <a:pPr algn="l">
              <a:lnSpc>
                <a:spcPct val="100000"/>
              </a:lnSpc>
              <a:buNone/>
              <a:defRPr sz="1275" b="1">
                <a:solidFill>
                  <a:srgbClr val="971B2F"/>
                </a:solidFill>
                <a:latin typeface="Aptos"/>
                <a:ea typeface="Aptos"/>
                <a:cs typeface="Aptos"/>
              </a:defRPr>
            </a:pPr>
            <a:r>
              <a:rPr sz="1275" b="1">
                <a:solidFill>
                  <a:srgbClr val="971B2F"/>
                </a:solidFill>
                <a:latin typeface="Aptos"/>
                <a:ea typeface="Aptos"/>
                <a:cs typeface="Aptos"/>
              </a:rPr>
              <a:t>Taxonomy</a:t>
            </a:r>
          </a:p>
        </p:txBody>
      </p:sp>
      <p:sp>
        <p:nvSpPr>
          <p:cNvPr id="16" name="Rectangle 15">
            <a:extLst>
              <a:ext uri="{FF2B5EF4-FFF2-40B4-BE49-F238E27FC236}">
                <a16:creationId xmlns:a16="http://schemas.microsoft.com/office/drawing/2014/main" id="{4F645672-F6BF-4DDA-AF58-94C05A4B02F6}"/>
              </a:ext>
            </a:extLst>
          </p:cNvPr>
          <p:cNvSpPr>
            <a:spLocks noGrp="1"/>
          </p:cNvSpPr>
          <p:nvPr/>
        </p:nvSpPr>
        <p:spPr>
          <a:xfrm>
            <a:off x="1752600" y="3143250"/>
            <a:ext cx="3105150" cy="4000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Hierarchy organizing books within desks and the business</a:t>
            </a:r>
          </a:p>
        </p:txBody>
      </p:sp>
      <p:sp>
        <p:nvSpPr>
          <p:cNvPr id="17" name="Straight Connector 16">
            <a:extLst>
              <a:ext uri="{FF2B5EF4-FFF2-40B4-BE49-F238E27FC236}">
                <a16:creationId xmlns:a16="http://schemas.microsoft.com/office/drawing/2014/main" id="{025A0BED-4058-482A-86BF-BF9A69D70E77}"/>
              </a:ext>
            </a:extLst>
          </p:cNvPr>
          <p:cNvSpPr>
            <a:spLocks noGrp="1"/>
          </p:cNvSpPr>
          <p:nvPr/>
        </p:nvSpPr>
        <p:spPr>
          <a:xfrm>
            <a:off x="609600" y="3609975"/>
            <a:ext cx="4248150" cy="0"/>
          </a:xfrm>
          <a:prstGeom prst="line">
            <a:avLst/>
          </a:prstGeom>
          <a:noFill/>
          <a:ln w="9525">
            <a:solidFill>
              <a:srgbClr val="D7DCE2"/>
            </a:solidFill>
            <a:prstDash val="solid"/>
          </a:ln>
        </p:spPr>
      </p:sp>
      <p:sp>
        <p:nvSpPr>
          <p:cNvPr id="18" name="Rectangle 17">
            <a:extLst>
              <a:ext uri="{FF2B5EF4-FFF2-40B4-BE49-F238E27FC236}">
                <a16:creationId xmlns:a16="http://schemas.microsoft.com/office/drawing/2014/main" id="{5807B83F-E48A-4514-9D20-228C90178EBD}"/>
              </a:ext>
            </a:extLst>
          </p:cNvPr>
          <p:cNvSpPr>
            <a:spLocks noGrp="1"/>
          </p:cNvSpPr>
          <p:nvPr/>
        </p:nvSpPr>
        <p:spPr>
          <a:xfrm>
            <a:off x="609600" y="3771900"/>
            <a:ext cx="1143000" cy="209550"/>
          </a:xfrm>
          <a:prstGeom prst="rect">
            <a:avLst/>
          </a:prstGeom>
          <a:noFill/>
          <a:ln w="0">
            <a:noFill/>
            <a:prstDash val="solid"/>
          </a:ln>
        </p:spPr>
        <p:txBody>
          <a:bodyPr lIns="0" tIns="0" rIns="0" bIns="0" anchor="t">
            <a:noAutofit/>
          </a:bodyPr>
          <a:lstStyle/>
          <a:p>
            <a:pPr algn="l">
              <a:lnSpc>
                <a:spcPct val="100000"/>
              </a:lnSpc>
              <a:buNone/>
              <a:defRPr sz="1275" b="1">
                <a:solidFill>
                  <a:srgbClr val="971B2F"/>
                </a:solidFill>
                <a:latin typeface="Aptos"/>
                <a:ea typeface="Aptos"/>
                <a:cs typeface="Aptos"/>
              </a:defRPr>
            </a:pPr>
            <a:r>
              <a:rPr sz="1275" b="1">
                <a:solidFill>
                  <a:srgbClr val="971B2F"/>
                </a:solidFill>
                <a:latin typeface="Aptos"/>
                <a:ea typeface="Aptos"/>
                <a:cs typeface="Aptos"/>
              </a:rPr>
              <a:t>Attribution</a:t>
            </a:r>
          </a:p>
        </p:txBody>
      </p:sp>
      <p:sp>
        <p:nvSpPr>
          <p:cNvPr id="19" name="Rectangle 18">
            <a:extLst>
              <a:ext uri="{FF2B5EF4-FFF2-40B4-BE49-F238E27FC236}">
                <a16:creationId xmlns:a16="http://schemas.microsoft.com/office/drawing/2014/main" id="{1394C517-7482-4666-BFEB-FEC4777FE6DC}"/>
              </a:ext>
            </a:extLst>
          </p:cNvPr>
          <p:cNvSpPr>
            <a:spLocks noGrp="1"/>
          </p:cNvSpPr>
          <p:nvPr/>
        </p:nvSpPr>
        <p:spPr>
          <a:xfrm>
            <a:off x="1752600" y="3771900"/>
            <a:ext cx="3105150" cy="4000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Breakdown of contributing drivers</a:t>
            </a:r>
          </a:p>
        </p:txBody>
      </p:sp>
      <p:sp>
        <p:nvSpPr>
          <p:cNvPr id="20" name="Straight Connector 19">
            <a:extLst>
              <a:ext uri="{FF2B5EF4-FFF2-40B4-BE49-F238E27FC236}">
                <a16:creationId xmlns:a16="http://schemas.microsoft.com/office/drawing/2014/main" id="{60E14705-6DDD-4CD8-AEE3-60A8A47ABDFE}"/>
              </a:ext>
            </a:extLst>
          </p:cNvPr>
          <p:cNvSpPr>
            <a:spLocks noGrp="1"/>
          </p:cNvSpPr>
          <p:nvPr/>
        </p:nvSpPr>
        <p:spPr>
          <a:xfrm>
            <a:off x="609600" y="4238625"/>
            <a:ext cx="4248150" cy="0"/>
          </a:xfrm>
          <a:prstGeom prst="line">
            <a:avLst/>
          </a:prstGeom>
          <a:noFill/>
          <a:ln w="9525">
            <a:solidFill>
              <a:srgbClr val="D7DCE2"/>
            </a:solidFill>
            <a:prstDash val="solid"/>
          </a:ln>
        </p:spPr>
      </p:sp>
      <p:sp>
        <p:nvSpPr>
          <p:cNvPr id="21" name="Rectangle 20">
            <a:extLst>
              <a:ext uri="{FF2B5EF4-FFF2-40B4-BE49-F238E27FC236}">
                <a16:creationId xmlns:a16="http://schemas.microsoft.com/office/drawing/2014/main" id="{10ADF477-20B3-4E75-B76F-90FB367936FB}"/>
              </a:ext>
            </a:extLst>
          </p:cNvPr>
          <p:cNvSpPr>
            <a:spLocks noGrp="1"/>
          </p:cNvSpPr>
          <p:nvPr/>
        </p:nvSpPr>
        <p:spPr>
          <a:xfrm>
            <a:off x="609600" y="4400550"/>
            <a:ext cx="1143000" cy="209550"/>
          </a:xfrm>
          <a:prstGeom prst="rect">
            <a:avLst/>
          </a:prstGeom>
          <a:noFill/>
          <a:ln w="0">
            <a:noFill/>
            <a:prstDash val="solid"/>
          </a:ln>
        </p:spPr>
        <p:txBody>
          <a:bodyPr lIns="0" tIns="0" rIns="0" bIns="0" anchor="t">
            <a:noAutofit/>
          </a:bodyPr>
          <a:lstStyle/>
          <a:p>
            <a:pPr algn="l">
              <a:lnSpc>
                <a:spcPct val="100000"/>
              </a:lnSpc>
              <a:buNone/>
              <a:defRPr sz="1275" b="1">
                <a:solidFill>
                  <a:srgbClr val="971B2F"/>
                </a:solidFill>
                <a:latin typeface="Aptos"/>
                <a:ea typeface="Aptos"/>
                <a:cs typeface="Aptos"/>
              </a:defRPr>
            </a:pPr>
            <a:r>
              <a:rPr sz="1275" b="1">
                <a:solidFill>
                  <a:srgbClr val="971B2F"/>
                </a:solidFill>
                <a:latin typeface="Aptos"/>
                <a:ea typeface="Aptos"/>
                <a:cs typeface="Aptos"/>
              </a:rPr>
              <a:t>Delta</a:t>
            </a:r>
          </a:p>
        </p:txBody>
      </p:sp>
      <p:sp>
        <p:nvSpPr>
          <p:cNvPr id="22" name="Rectangle 21">
            <a:extLst>
              <a:ext uri="{FF2B5EF4-FFF2-40B4-BE49-F238E27FC236}">
                <a16:creationId xmlns:a16="http://schemas.microsoft.com/office/drawing/2014/main" id="{FB5AF6D4-5B75-46DB-8361-A81B3737D802}"/>
              </a:ext>
            </a:extLst>
          </p:cNvPr>
          <p:cNvSpPr>
            <a:spLocks noGrp="1"/>
          </p:cNvSpPr>
          <p:nvPr/>
        </p:nvSpPr>
        <p:spPr>
          <a:xfrm>
            <a:off x="1752600" y="4400550"/>
            <a:ext cx="3105150" cy="4000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Commodity-price sensitivity</a:t>
            </a:r>
          </a:p>
        </p:txBody>
      </p:sp>
      <p:sp>
        <p:nvSpPr>
          <p:cNvPr id="23" name="Straight Connector 22">
            <a:extLst>
              <a:ext uri="{FF2B5EF4-FFF2-40B4-BE49-F238E27FC236}">
                <a16:creationId xmlns:a16="http://schemas.microsoft.com/office/drawing/2014/main" id="{D97112D1-28B0-463B-8DAE-1FE85A9C1555}"/>
              </a:ext>
            </a:extLst>
          </p:cNvPr>
          <p:cNvSpPr>
            <a:spLocks noGrp="1"/>
          </p:cNvSpPr>
          <p:nvPr/>
        </p:nvSpPr>
        <p:spPr>
          <a:xfrm>
            <a:off x="609600" y="4867275"/>
            <a:ext cx="4248150" cy="0"/>
          </a:xfrm>
          <a:prstGeom prst="line">
            <a:avLst/>
          </a:prstGeom>
          <a:noFill/>
          <a:ln w="9525">
            <a:solidFill>
              <a:srgbClr val="D7DCE2"/>
            </a:solidFill>
            <a:prstDash val="solid"/>
          </a:ln>
        </p:spPr>
      </p:sp>
      <p:sp>
        <p:nvSpPr>
          <p:cNvPr id="24" name="Rectangle 23">
            <a:extLst>
              <a:ext uri="{FF2B5EF4-FFF2-40B4-BE49-F238E27FC236}">
                <a16:creationId xmlns:a16="http://schemas.microsoft.com/office/drawing/2014/main" id="{78122CC7-195E-4071-949E-2E86E4381948}"/>
              </a:ext>
            </a:extLst>
          </p:cNvPr>
          <p:cNvSpPr>
            <a:spLocks noGrp="1"/>
          </p:cNvSpPr>
          <p:nvPr/>
        </p:nvSpPr>
        <p:spPr>
          <a:xfrm>
            <a:off x="609600" y="5029200"/>
            <a:ext cx="1143000" cy="209550"/>
          </a:xfrm>
          <a:prstGeom prst="rect">
            <a:avLst/>
          </a:prstGeom>
          <a:noFill/>
          <a:ln w="0">
            <a:noFill/>
            <a:prstDash val="solid"/>
          </a:ln>
        </p:spPr>
        <p:txBody>
          <a:bodyPr lIns="0" tIns="0" rIns="0" bIns="0" anchor="t">
            <a:noAutofit/>
          </a:bodyPr>
          <a:lstStyle/>
          <a:p>
            <a:pPr algn="l">
              <a:lnSpc>
                <a:spcPct val="100000"/>
              </a:lnSpc>
              <a:buNone/>
              <a:defRPr sz="1275" b="1">
                <a:solidFill>
                  <a:srgbClr val="971B2F"/>
                </a:solidFill>
                <a:latin typeface="Aptos"/>
                <a:ea typeface="Aptos"/>
                <a:cs typeface="Aptos"/>
              </a:defRPr>
            </a:pPr>
            <a:r>
              <a:rPr sz="1275" b="1">
                <a:solidFill>
                  <a:srgbClr val="971B2F"/>
                </a:solidFill>
                <a:latin typeface="Aptos"/>
                <a:ea typeface="Aptos"/>
                <a:cs typeface="Aptos"/>
              </a:rPr>
              <a:t>Rho</a:t>
            </a:r>
          </a:p>
        </p:txBody>
      </p:sp>
      <p:sp>
        <p:nvSpPr>
          <p:cNvPr id="25" name="Rectangle 24">
            <a:extLst>
              <a:ext uri="{FF2B5EF4-FFF2-40B4-BE49-F238E27FC236}">
                <a16:creationId xmlns:a16="http://schemas.microsoft.com/office/drawing/2014/main" id="{9943C67F-B80D-441D-82BF-BD2DBE48DDF8}"/>
              </a:ext>
            </a:extLst>
          </p:cNvPr>
          <p:cNvSpPr>
            <a:spLocks noGrp="1"/>
          </p:cNvSpPr>
          <p:nvPr/>
        </p:nvSpPr>
        <p:spPr>
          <a:xfrm>
            <a:off x="1752600" y="5029200"/>
            <a:ext cx="3105150" cy="4000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Interest-rate sensitivity</a:t>
            </a:r>
          </a:p>
        </p:txBody>
      </p:sp>
      <p:sp>
        <p:nvSpPr>
          <p:cNvPr id="26" name="Straight Connector 25">
            <a:extLst>
              <a:ext uri="{FF2B5EF4-FFF2-40B4-BE49-F238E27FC236}">
                <a16:creationId xmlns:a16="http://schemas.microsoft.com/office/drawing/2014/main" id="{98C9DCF6-3456-4696-98AF-F22652980B04}"/>
              </a:ext>
            </a:extLst>
          </p:cNvPr>
          <p:cNvSpPr>
            <a:spLocks noGrp="1"/>
          </p:cNvSpPr>
          <p:nvPr/>
        </p:nvSpPr>
        <p:spPr>
          <a:xfrm>
            <a:off x="609600" y="5495925"/>
            <a:ext cx="4248150" cy="0"/>
          </a:xfrm>
          <a:prstGeom prst="line">
            <a:avLst/>
          </a:prstGeom>
          <a:noFill/>
          <a:ln w="9525">
            <a:solidFill>
              <a:srgbClr val="D7DCE2"/>
            </a:solidFill>
            <a:prstDash val="solid"/>
          </a:ln>
        </p:spPr>
      </p:sp>
      <p:sp>
        <p:nvSpPr>
          <p:cNvPr id="27" name="Rectangle 26">
            <a:extLst>
              <a:ext uri="{FF2B5EF4-FFF2-40B4-BE49-F238E27FC236}">
                <a16:creationId xmlns:a16="http://schemas.microsoft.com/office/drawing/2014/main" id="{A53DF5CF-0363-4833-9D67-BF334E377BEE}"/>
              </a:ext>
            </a:extLst>
          </p:cNvPr>
          <p:cNvSpPr>
            <a:spLocks noGrp="1"/>
          </p:cNvSpPr>
          <p:nvPr/>
        </p:nvSpPr>
        <p:spPr>
          <a:xfrm>
            <a:off x="5162550" y="1524000"/>
            <a:ext cx="1809750" cy="400050"/>
          </a:xfrm>
          <a:prstGeom prst="rect">
            <a:avLst/>
          </a:prstGeom>
          <a:solidFill>
            <a:schemeClr val="accent6">
              <a:lumMod val="75000"/>
            </a:schemeClr>
          </a:solidFill>
          <a:ln w="9525">
            <a:solidFill>
              <a:srgbClr val="20252B"/>
            </a:solidFill>
            <a:prstDash val="solid"/>
          </a:ln>
        </p:spPr>
      </p:sp>
      <p:sp>
        <p:nvSpPr>
          <p:cNvPr id="28" name="Rectangle 27">
            <a:extLst>
              <a:ext uri="{FF2B5EF4-FFF2-40B4-BE49-F238E27FC236}">
                <a16:creationId xmlns:a16="http://schemas.microsoft.com/office/drawing/2014/main" id="{9E7BE0E5-E0BC-4081-8984-584F4D5A805A}"/>
              </a:ext>
            </a:extLst>
          </p:cNvPr>
          <p:cNvSpPr>
            <a:spLocks noGrp="1"/>
          </p:cNvSpPr>
          <p:nvPr/>
        </p:nvSpPr>
        <p:spPr>
          <a:xfrm>
            <a:off x="5276850" y="1647825"/>
            <a:ext cx="1581150" cy="171450"/>
          </a:xfrm>
          <a:prstGeom prst="rect">
            <a:avLst/>
          </a:prstGeom>
          <a:noFill/>
          <a:ln w="0">
            <a:noFill/>
            <a:prstDash val="solid"/>
          </a:ln>
        </p:spPr>
        <p:txBody>
          <a:bodyPr lIns="0" tIns="0" rIns="0" bIns="0" anchor="t">
            <a:noAutofit/>
          </a:bodyPr>
          <a:lstStyle/>
          <a:p>
            <a:pPr algn="l">
              <a:lnSpc>
                <a:spcPct val="100000"/>
              </a:lnSpc>
              <a:buNone/>
              <a:defRPr sz="900" b="1">
                <a:solidFill>
                  <a:srgbClr val="FFFFFF"/>
                </a:solidFill>
                <a:latin typeface="Aptos"/>
                <a:ea typeface="Aptos"/>
                <a:cs typeface="Aptos"/>
              </a:defRPr>
            </a:pPr>
            <a:r>
              <a:rPr sz="900" b="1">
                <a:solidFill>
                  <a:srgbClr val="FFFFFF"/>
                </a:solidFill>
                <a:latin typeface="Aptos"/>
                <a:ea typeface="Aptos"/>
                <a:cs typeface="Aptos"/>
              </a:rPr>
              <a:t>DATASET</a:t>
            </a:r>
          </a:p>
        </p:txBody>
      </p:sp>
      <p:sp>
        <p:nvSpPr>
          <p:cNvPr id="29" name="Rectangle 28">
            <a:extLst>
              <a:ext uri="{FF2B5EF4-FFF2-40B4-BE49-F238E27FC236}">
                <a16:creationId xmlns:a16="http://schemas.microsoft.com/office/drawing/2014/main" id="{A8744C7A-C796-4C2E-A177-E1D5FCB5F035}"/>
              </a:ext>
            </a:extLst>
          </p:cNvPr>
          <p:cNvSpPr>
            <a:spLocks noGrp="1"/>
          </p:cNvSpPr>
          <p:nvPr/>
        </p:nvSpPr>
        <p:spPr>
          <a:xfrm>
            <a:off x="6972300" y="1524000"/>
            <a:ext cx="1885950" cy="400050"/>
          </a:xfrm>
          <a:prstGeom prst="rect">
            <a:avLst/>
          </a:prstGeom>
          <a:solidFill>
            <a:schemeClr val="accent6">
              <a:lumMod val="75000"/>
            </a:schemeClr>
          </a:solidFill>
          <a:ln w="9525">
            <a:solidFill>
              <a:srgbClr val="20252B"/>
            </a:solidFill>
            <a:prstDash val="solid"/>
          </a:ln>
        </p:spPr>
      </p:sp>
      <p:sp>
        <p:nvSpPr>
          <p:cNvPr id="30" name="Rectangle 29">
            <a:extLst>
              <a:ext uri="{FF2B5EF4-FFF2-40B4-BE49-F238E27FC236}">
                <a16:creationId xmlns:a16="http://schemas.microsoft.com/office/drawing/2014/main" id="{EDF9337B-F3F2-465E-9D64-BA6EF0280E4B}"/>
              </a:ext>
            </a:extLst>
          </p:cNvPr>
          <p:cNvSpPr>
            <a:spLocks noGrp="1"/>
          </p:cNvSpPr>
          <p:nvPr/>
        </p:nvSpPr>
        <p:spPr>
          <a:xfrm>
            <a:off x="7086600" y="1647825"/>
            <a:ext cx="1657350" cy="171450"/>
          </a:xfrm>
          <a:prstGeom prst="rect">
            <a:avLst/>
          </a:prstGeom>
          <a:noFill/>
          <a:ln w="0">
            <a:noFill/>
            <a:prstDash val="solid"/>
          </a:ln>
        </p:spPr>
        <p:txBody>
          <a:bodyPr lIns="0" tIns="0" rIns="0" bIns="0" anchor="t">
            <a:noAutofit/>
          </a:bodyPr>
          <a:lstStyle/>
          <a:p>
            <a:pPr algn="l">
              <a:lnSpc>
                <a:spcPct val="100000"/>
              </a:lnSpc>
              <a:buNone/>
              <a:defRPr sz="900" b="1">
                <a:solidFill>
                  <a:srgbClr val="FFFFFF"/>
                </a:solidFill>
                <a:latin typeface="Aptos"/>
                <a:ea typeface="Aptos"/>
                <a:cs typeface="Aptos"/>
              </a:defRPr>
            </a:pPr>
            <a:r>
              <a:rPr sz="900" b="1">
                <a:solidFill>
                  <a:srgbClr val="FFFFFF"/>
                </a:solidFill>
                <a:latin typeface="Aptos"/>
                <a:ea typeface="Aptos"/>
                <a:cs typeface="Aptos"/>
              </a:rPr>
              <a:t>VIEW / GRAIN</a:t>
            </a:r>
          </a:p>
        </p:txBody>
      </p:sp>
      <p:sp>
        <p:nvSpPr>
          <p:cNvPr id="31" name="Rectangle 30">
            <a:extLst>
              <a:ext uri="{FF2B5EF4-FFF2-40B4-BE49-F238E27FC236}">
                <a16:creationId xmlns:a16="http://schemas.microsoft.com/office/drawing/2014/main" id="{D28BBFBE-F437-41FA-A977-D3513F8ED31D}"/>
              </a:ext>
            </a:extLst>
          </p:cNvPr>
          <p:cNvSpPr>
            <a:spLocks noGrp="1"/>
          </p:cNvSpPr>
          <p:nvPr/>
        </p:nvSpPr>
        <p:spPr>
          <a:xfrm>
            <a:off x="8858250" y="1524000"/>
            <a:ext cx="2419350" cy="400050"/>
          </a:xfrm>
          <a:prstGeom prst="rect">
            <a:avLst/>
          </a:prstGeom>
          <a:solidFill>
            <a:schemeClr val="accent6">
              <a:lumMod val="75000"/>
            </a:schemeClr>
          </a:solidFill>
          <a:ln w="9525">
            <a:solidFill>
              <a:srgbClr val="20252B"/>
            </a:solidFill>
            <a:prstDash val="solid"/>
          </a:ln>
        </p:spPr>
      </p:sp>
      <p:sp>
        <p:nvSpPr>
          <p:cNvPr id="32" name="Rectangle 31">
            <a:extLst>
              <a:ext uri="{FF2B5EF4-FFF2-40B4-BE49-F238E27FC236}">
                <a16:creationId xmlns:a16="http://schemas.microsoft.com/office/drawing/2014/main" id="{C6EF6106-0D26-47BD-8F86-9077D697059F}"/>
              </a:ext>
            </a:extLst>
          </p:cNvPr>
          <p:cNvSpPr>
            <a:spLocks noGrp="1"/>
          </p:cNvSpPr>
          <p:nvPr/>
        </p:nvSpPr>
        <p:spPr>
          <a:xfrm>
            <a:off x="8972550" y="1647825"/>
            <a:ext cx="2190750" cy="171450"/>
          </a:xfrm>
          <a:prstGeom prst="rect">
            <a:avLst/>
          </a:prstGeom>
          <a:noFill/>
          <a:ln w="0">
            <a:noFill/>
            <a:prstDash val="solid"/>
          </a:ln>
        </p:spPr>
        <p:txBody>
          <a:bodyPr lIns="0" tIns="0" rIns="0" bIns="0" anchor="t">
            <a:noAutofit/>
          </a:bodyPr>
          <a:lstStyle/>
          <a:p>
            <a:pPr algn="l">
              <a:lnSpc>
                <a:spcPct val="100000"/>
              </a:lnSpc>
              <a:buNone/>
              <a:defRPr sz="900" b="1">
                <a:solidFill>
                  <a:srgbClr val="FFCD41"/>
                </a:solidFill>
                <a:latin typeface="Aptos"/>
                <a:ea typeface="Aptos"/>
                <a:cs typeface="Aptos"/>
              </a:defRPr>
            </a:pPr>
            <a:r>
              <a:rPr sz="900" b="1">
                <a:solidFill>
                  <a:srgbClr val="FFCD41"/>
                </a:solidFill>
                <a:latin typeface="Aptos"/>
                <a:ea typeface="Aptos"/>
                <a:cs typeface="Aptos"/>
              </a:rPr>
              <a:t>ROLE</a:t>
            </a:r>
          </a:p>
        </p:txBody>
      </p:sp>
      <p:sp>
        <p:nvSpPr>
          <p:cNvPr id="33" name="Rectangle 32">
            <a:extLst>
              <a:ext uri="{FF2B5EF4-FFF2-40B4-BE49-F238E27FC236}">
                <a16:creationId xmlns:a16="http://schemas.microsoft.com/office/drawing/2014/main" id="{E323F14A-F414-4456-8B30-8CE1EF599A42}"/>
              </a:ext>
            </a:extLst>
          </p:cNvPr>
          <p:cNvSpPr>
            <a:spLocks noGrp="1"/>
          </p:cNvSpPr>
          <p:nvPr/>
        </p:nvSpPr>
        <p:spPr>
          <a:xfrm>
            <a:off x="5162550" y="1924050"/>
            <a:ext cx="1809750" cy="514350"/>
          </a:xfrm>
          <a:prstGeom prst="rect">
            <a:avLst/>
          </a:prstGeom>
          <a:solidFill>
            <a:srgbClr val="FFFFFF"/>
          </a:solidFill>
          <a:ln w="9525">
            <a:solidFill>
              <a:srgbClr val="D7DCE2"/>
            </a:solidFill>
            <a:prstDash val="solid"/>
          </a:ln>
        </p:spPr>
      </p:sp>
      <p:sp>
        <p:nvSpPr>
          <p:cNvPr id="34" name="Rectangle 33">
            <a:extLst>
              <a:ext uri="{FF2B5EF4-FFF2-40B4-BE49-F238E27FC236}">
                <a16:creationId xmlns:a16="http://schemas.microsoft.com/office/drawing/2014/main" id="{846597DF-B1F5-46BD-8F81-DC823EEC2759}"/>
              </a:ext>
            </a:extLst>
          </p:cNvPr>
          <p:cNvSpPr>
            <a:spLocks noGrp="1"/>
          </p:cNvSpPr>
          <p:nvPr/>
        </p:nvSpPr>
        <p:spPr>
          <a:xfrm>
            <a:off x="6972300" y="1924050"/>
            <a:ext cx="1885950" cy="514350"/>
          </a:xfrm>
          <a:prstGeom prst="rect">
            <a:avLst/>
          </a:prstGeom>
          <a:solidFill>
            <a:srgbClr val="FFFFFF"/>
          </a:solidFill>
          <a:ln w="9525">
            <a:solidFill>
              <a:srgbClr val="D7DCE2"/>
            </a:solidFill>
            <a:prstDash val="solid"/>
          </a:ln>
        </p:spPr>
      </p:sp>
      <p:sp>
        <p:nvSpPr>
          <p:cNvPr id="35" name="Rectangle 34">
            <a:extLst>
              <a:ext uri="{FF2B5EF4-FFF2-40B4-BE49-F238E27FC236}">
                <a16:creationId xmlns:a16="http://schemas.microsoft.com/office/drawing/2014/main" id="{22F10A74-9064-4B11-B1E8-6DDA05D7746B}"/>
              </a:ext>
            </a:extLst>
          </p:cNvPr>
          <p:cNvSpPr>
            <a:spLocks noGrp="1"/>
          </p:cNvSpPr>
          <p:nvPr/>
        </p:nvSpPr>
        <p:spPr>
          <a:xfrm>
            <a:off x="8858250" y="1924050"/>
            <a:ext cx="2419350" cy="514350"/>
          </a:xfrm>
          <a:prstGeom prst="rect">
            <a:avLst/>
          </a:prstGeom>
          <a:solidFill>
            <a:srgbClr val="FFFFFF"/>
          </a:solidFill>
          <a:ln w="9525">
            <a:solidFill>
              <a:srgbClr val="D7DCE2"/>
            </a:solidFill>
            <a:prstDash val="solid"/>
          </a:ln>
        </p:spPr>
      </p:sp>
      <p:sp>
        <p:nvSpPr>
          <p:cNvPr id="36" name="Rectangle 35">
            <a:extLst>
              <a:ext uri="{FF2B5EF4-FFF2-40B4-BE49-F238E27FC236}">
                <a16:creationId xmlns:a16="http://schemas.microsoft.com/office/drawing/2014/main" id="{95403A63-EB2A-4347-BE37-5386FA03C6E8}"/>
              </a:ext>
            </a:extLst>
          </p:cNvPr>
          <p:cNvSpPr>
            <a:spLocks noGrp="1"/>
          </p:cNvSpPr>
          <p:nvPr/>
        </p:nvSpPr>
        <p:spPr>
          <a:xfrm>
            <a:off x="5238750" y="2066925"/>
            <a:ext cx="165735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portfolio_taxonomy</a:t>
            </a:r>
          </a:p>
        </p:txBody>
      </p:sp>
      <p:sp>
        <p:nvSpPr>
          <p:cNvPr id="37" name="Rectangle 36">
            <a:extLst>
              <a:ext uri="{FF2B5EF4-FFF2-40B4-BE49-F238E27FC236}">
                <a16:creationId xmlns:a16="http://schemas.microsoft.com/office/drawing/2014/main" id="{06371318-6E81-4FCD-8C70-F26AE60B2A17}"/>
              </a:ext>
            </a:extLst>
          </p:cNvPr>
          <p:cNvSpPr>
            <a:spLocks noGrp="1"/>
          </p:cNvSpPr>
          <p:nvPr/>
        </p:nvSpPr>
        <p:spPr>
          <a:xfrm>
            <a:off x="7067550" y="2066925"/>
            <a:ext cx="1695450" cy="2286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Book metadata</a:t>
            </a:r>
          </a:p>
        </p:txBody>
      </p:sp>
      <p:sp>
        <p:nvSpPr>
          <p:cNvPr id="38" name="Rectangle 37">
            <a:extLst>
              <a:ext uri="{FF2B5EF4-FFF2-40B4-BE49-F238E27FC236}">
                <a16:creationId xmlns:a16="http://schemas.microsoft.com/office/drawing/2014/main" id="{4A46A5D5-D65E-4F16-9A6B-446FE534751A}"/>
              </a:ext>
            </a:extLst>
          </p:cNvPr>
          <p:cNvSpPr>
            <a:spLocks noGrp="1"/>
          </p:cNvSpPr>
          <p:nvPr/>
        </p:nvSpPr>
        <p:spPr>
          <a:xfrm>
            <a:off x="8953500" y="1990725"/>
            <a:ext cx="2228850" cy="3810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Desk pod, MR group, desk name</a:t>
            </a:r>
          </a:p>
        </p:txBody>
      </p:sp>
      <p:sp>
        <p:nvSpPr>
          <p:cNvPr id="39" name="Rectangle 38">
            <a:extLst>
              <a:ext uri="{FF2B5EF4-FFF2-40B4-BE49-F238E27FC236}">
                <a16:creationId xmlns:a16="http://schemas.microsoft.com/office/drawing/2014/main" id="{DC5903D7-111F-4916-9E3E-0059C7B8F6A3}"/>
              </a:ext>
            </a:extLst>
          </p:cNvPr>
          <p:cNvSpPr>
            <a:spLocks noGrp="1"/>
          </p:cNvSpPr>
          <p:nvPr/>
        </p:nvSpPr>
        <p:spPr>
          <a:xfrm>
            <a:off x="5162550" y="2438400"/>
            <a:ext cx="1809750" cy="514350"/>
          </a:xfrm>
          <a:prstGeom prst="rect">
            <a:avLst/>
          </a:prstGeom>
          <a:solidFill>
            <a:srgbClr val="EEF1F4"/>
          </a:solidFill>
          <a:ln w="9525">
            <a:solidFill>
              <a:srgbClr val="D7DCE2"/>
            </a:solidFill>
            <a:prstDash val="solid"/>
          </a:ln>
        </p:spPr>
      </p:sp>
      <p:sp>
        <p:nvSpPr>
          <p:cNvPr id="40" name="Rectangle 39">
            <a:extLst>
              <a:ext uri="{FF2B5EF4-FFF2-40B4-BE49-F238E27FC236}">
                <a16:creationId xmlns:a16="http://schemas.microsoft.com/office/drawing/2014/main" id="{FB7876EC-B6B3-43CF-A483-8D7C82C26FDE}"/>
              </a:ext>
            </a:extLst>
          </p:cNvPr>
          <p:cNvSpPr>
            <a:spLocks noGrp="1"/>
          </p:cNvSpPr>
          <p:nvPr/>
        </p:nvSpPr>
        <p:spPr>
          <a:xfrm>
            <a:off x="6972300" y="2438400"/>
            <a:ext cx="1885950" cy="514350"/>
          </a:xfrm>
          <a:prstGeom prst="rect">
            <a:avLst/>
          </a:prstGeom>
          <a:solidFill>
            <a:srgbClr val="EEF1F4"/>
          </a:solidFill>
          <a:ln w="9525">
            <a:solidFill>
              <a:srgbClr val="D7DCE2"/>
            </a:solidFill>
            <a:prstDash val="solid"/>
          </a:ln>
        </p:spPr>
      </p:sp>
      <p:sp>
        <p:nvSpPr>
          <p:cNvPr id="41" name="Rectangle 40">
            <a:extLst>
              <a:ext uri="{FF2B5EF4-FFF2-40B4-BE49-F238E27FC236}">
                <a16:creationId xmlns:a16="http://schemas.microsoft.com/office/drawing/2014/main" id="{45DB56F7-704C-405D-9D42-1CB840A6F623}"/>
              </a:ext>
            </a:extLst>
          </p:cNvPr>
          <p:cNvSpPr>
            <a:spLocks noGrp="1"/>
          </p:cNvSpPr>
          <p:nvPr/>
        </p:nvSpPr>
        <p:spPr>
          <a:xfrm>
            <a:off x="8858250" y="2438400"/>
            <a:ext cx="2419350" cy="514350"/>
          </a:xfrm>
          <a:prstGeom prst="rect">
            <a:avLst/>
          </a:prstGeom>
          <a:solidFill>
            <a:srgbClr val="EEF1F4"/>
          </a:solidFill>
          <a:ln w="9525">
            <a:solidFill>
              <a:srgbClr val="D7DCE2"/>
            </a:solidFill>
            <a:prstDash val="solid"/>
          </a:ln>
        </p:spPr>
      </p:sp>
      <p:sp>
        <p:nvSpPr>
          <p:cNvPr id="42" name="Rectangle 41">
            <a:extLst>
              <a:ext uri="{FF2B5EF4-FFF2-40B4-BE49-F238E27FC236}">
                <a16:creationId xmlns:a16="http://schemas.microsoft.com/office/drawing/2014/main" id="{51C40FB9-1E1F-4BF0-B63A-85EADBA28C9E}"/>
              </a:ext>
            </a:extLst>
          </p:cNvPr>
          <p:cNvSpPr>
            <a:spLocks noGrp="1"/>
          </p:cNvSpPr>
          <p:nvPr/>
        </p:nvSpPr>
        <p:spPr>
          <a:xfrm>
            <a:off x="5238750" y="2581275"/>
            <a:ext cx="165735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fopla</a:t>
            </a:r>
          </a:p>
        </p:txBody>
      </p:sp>
      <p:sp>
        <p:nvSpPr>
          <p:cNvPr id="43" name="Rectangle 42">
            <a:extLst>
              <a:ext uri="{FF2B5EF4-FFF2-40B4-BE49-F238E27FC236}">
                <a16:creationId xmlns:a16="http://schemas.microsoft.com/office/drawing/2014/main" id="{FD74A422-708F-4B1A-AEA7-DCC5D0801F2A}"/>
              </a:ext>
            </a:extLst>
          </p:cNvPr>
          <p:cNvSpPr>
            <a:spLocks noGrp="1"/>
          </p:cNvSpPr>
          <p:nvPr/>
        </p:nvSpPr>
        <p:spPr>
          <a:xfrm>
            <a:off x="7067550" y="2581275"/>
            <a:ext cx="1695450" cy="2286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Flash • book</a:t>
            </a:r>
          </a:p>
        </p:txBody>
      </p:sp>
      <p:sp>
        <p:nvSpPr>
          <p:cNvPr id="44" name="Rectangle 43">
            <a:extLst>
              <a:ext uri="{FF2B5EF4-FFF2-40B4-BE49-F238E27FC236}">
                <a16:creationId xmlns:a16="http://schemas.microsoft.com/office/drawing/2014/main" id="{AAA9BC0B-F093-4598-86CE-2325FDD17A76}"/>
              </a:ext>
            </a:extLst>
          </p:cNvPr>
          <p:cNvSpPr>
            <a:spLocks noGrp="1"/>
          </p:cNvSpPr>
          <p:nvPr/>
        </p:nvSpPr>
        <p:spPr>
          <a:xfrm>
            <a:off x="8953500" y="2505075"/>
            <a:ext cx="2228850" cy="3810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Preliminary book-level explanation</a:t>
            </a:r>
          </a:p>
        </p:txBody>
      </p:sp>
      <p:sp>
        <p:nvSpPr>
          <p:cNvPr id="45" name="Rectangle 44">
            <a:extLst>
              <a:ext uri="{FF2B5EF4-FFF2-40B4-BE49-F238E27FC236}">
                <a16:creationId xmlns:a16="http://schemas.microsoft.com/office/drawing/2014/main" id="{E7D038A8-7E33-46F7-9300-F36CF36566F9}"/>
              </a:ext>
            </a:extLst>
          </p:cNvPr>
          <p:cNvSpPr>
            <a:spLocks noGrp="1"/>
          </p:cNvSpPr>
          <p:nvPr/>
        </p:nvSpPr>
        <p:spPr>
          <a:xfrm>
            <a:off x="5162550" y="2952750"/>
            <a:ext cx="1809750" cy="514350"/>
          </a:xfrm>
          <a:prstGeom prst="rect">
            <a:avLst/>
          </a:prstGeom>
          <a:solidFill>
            <a:srgbClr val="FFFFFF"/>
          </a:solidFill>
          <a:ln w="9525">
            <a:solidFill>
              <a:srgbClr val="D7DCE2"/>
            </a:solidFill>
            <a:prstDash val="solid"/>
          </a:ln>
        </p:spPr>
      </p:sp>
      <p:sp>
        <p:nvSpPr>
          <p:cNvPr id="46" name="Rectangle 45">
            <a:extLst>
              <a:ext uri="{FF2B5EF4-FFF2-40B4-BE49-F238E27FC236}">
                <a16:creationId xmlns:a16="http://schemas.microsoft.com/office/drawing/2014/main" id="{82E41BF5-1370-490D-8EC6-18C2AD22302D}"/>
              </a:ext>
            </a:extLst>
          </p:cNvPr>
          <p:cNvSpPr>
            <a:spLocks noGrp="1"/>
          </p:cNvSpPr>
          <p:nvPr/>
        </p:nvSpPr>
        <p:spPr>
          <a:xfrm>
            <a:off x="6972300" y="2952750"/>
            <a:ext cx="1885950" cy="514350"/>
          </a:xfrm>
          <a:prstGeom prst="rect">
            <a:avLst/>
          </a:prstGeom>
          <a:solidFill>
            <a:srgbClr val="FFFFFF"/>
          </a:solidFill>
          <a:ln w="9525">
            <a:solidFill>
              <a:srgbClr val="D7DCE2"/>
            </a:solidFill>
            <a:prstDash val="solid"/>
          </a:ln>
        </p:spPr>
      </p:sp>
      <p:sp>
        <p:nvSpPr>
          <p:cNvPr id="47" name="Rectangle 46">
            <a:extLst>
              <a:ext uri="{FF2B5EF4-FFF2-40B4-BE49-F238E27FC236}">
                <a16:creationId xmlns:a16="http://schemas.microsoft.com/office/drawing/2014/main" id="{6B69EF2B-0FC3-4171-90B7-2FEA529425C2}"/>
              </a:ext>
            </a:extLst>
          </p:cNvPr>
          <p:cNvSpPr>
            <a:spLocks noGrp="1"/>
          </p:cNvSpPr>
          <p:nvPr/>
        </p:nvSpPr>
        <p:spPr>
          <a:xfrm>
            <a:off x="8858250" y="2952750"/>
            <a:ext cx="2419350" cy="514350"/>
          </a:xfrm>
          <a:prstGeom prst="rect">
            <a:avLst/>
          </a:prstGeom>
          <a:solidFill>
            <a:srgbClr val="FFFFFF"/>
          </a:solidFill>
          <a:ln w="9525">
            <a:solidFill>
              <a:srgbClr val="D7DCE2"/>
            </a:solidFill>
            <a:prstDash val="solid"/>
          </a:ln>
        </p:spPr>
      </p:sp>
      <p:sp>
        <p:nvSpPr>
          <p:cNvPr id="48" name="Rectangle 47">
            <a:extLst>
              <a:ext uri="{FF2B5EF4-FFF2-40B4-BE49-F238E27FC236}">
                <a16:creationId xmlns:a16="http://schemas.microsoft.com/office/drawing/2014/main" id="{6E1297ED-FA1D-4AE2-A42F-CC1DD78C2FFC}"/>
              </a:ext>
            </a:extLst>
          </p:cNvPr>
          <p:cNvSpPr>
            <a:spLocks noGrp="1"/>
          </p:cNvSpPr>
          <p:nvPr/>
        </p:nvSpPr>
        <p:spPr>
          <a:xfrm>
            <a:off x="5238750" y="3095625"/>
            <a:ext cx="165735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trade_explain</a:t>
            </a:r>
          </a:p>
        </p:txBody>
      </p:sp>
      <p:sp>
        <p:nvSpPr>
          <p:cNvPr id="49" name="Rectangle 48">
            <a:extLst>
              <a:ext uri="{FF2B5EF4-FFF2-40B4-BE49-F238E27FC236}">
                <a16:creationId xmlns:a16="http://schemas.microsoft.com/office/drawing/2014/main" id="{CC77930C-2EF7-4A62-9750-C1E4319684B1}"/>
              </a:ext>
            </a:extLst>
          </p:cNvPr>
          <p:cNvSpPr>
            <a:spLocks noGrp="1"/>
          </p:cNvSpPr>
          <p:nvPr/>
        </p:nvSpPr>
        <p:spPr>
          <a:xfrm>
            <a:off x="7067550" y="3095625"/>
            <a:ext cx="1695450" cy="2286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Flash • trade</a:t>
            </a:r>
          </a:p>
        </p:txBody>
      </p:sp>
      <p:sp>
        <p:nvSpPr>
          <p:cNvPr id="50" name="Rectangle 49">
            <a:extLst>
              <a:ext uri="{FF2B5EF4-FFF2-40B4-BE49-F238E27FC236}">
                <a16:creationId xmlns:a16="http://schemas.microsoft.com/office/drawing/2014/main" id="{C26CD189-6B48-49E6-9B07-12B6EDCC3315}"/>
              </a:ext>
            </a:extLst>
          </p:cNvPr>
          <p:cNvSpPr>
            <a:spLocks noGrp="1"/>
          </p:cNvSpPr>
          <p:nvPr/>
        </p:nvSpPr>
        <p:spPr>
          <a:xfrm>
            <a:off x="8953500" y="3019425"/>
            <a:ext cx="2228850" cy="3810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Preliminary trade-level explanation</a:t>
            </a:r>
          </a:p>
        </p:txBody>
      </p:sp>
      <p:sp>
        <p:nvSpPr>
          <p:cNvPr id="51" name="Rectangle 50">
            <a:extLst>
              <a:ext uri="{FF2B5EF4-FFF2-40B4-BE49-F238E27FC236}">
                <a16:creationId xmlns:a16="http://schemas.microsoft.com/office/drawing/2014/main" id="{8917A1F2-5C5A-4C4B-9981-0404A50B0059}"/>
              </a:ext>
            </a:extLst>
          </p:cNvPr>
          <p:cNvSpPr>
            <a:spLocks noGrp="1"/>
          </p:cNvSpPr>
          <p:nvPr/>
        </p:nvSpPr>
        <p:spPr>
          <a:xfrm>
            <a:off x="5162550" y="3467100"/>
            <a:ext cx="1809750" cy="514350"/>
          </a:xfrm>
          <a:prstGeom prst="rect">
            <a:avLst/>
          </a:prstGeom>
          <a:solidFill>
            <a:srgbClr val="EEF1F4"/>
          </a:solidFill>
          <a:ln w="9525">
            <a:solidFill>
              <a:srgbClr val="D7DCE2"/>
            </a:solidFill>
            <a:prstDash val="solid"/>
          </a:ln>
        </p:spPr>
      </p:sp>
      <p:sp>
        <p:nvSpPr>
          <p:cNvPr id="52" name="Rectangle 51">
            <a:extLst>
              <a:ext uri="{FF2B5EF4-FFF2-40B4-BE49-F238E27FC236}">
                <a16:creationId xmlns:a16="http://schemas.microsoft.com/office/drawing/2014/main" id="{D53D7BB2-D8EF-412D-9BDB-0A36BF83923B}"/>
              </a:ext>
            </a:extLst>
          </p:cNvPr>
          <p:cNvSpPr>
            <a:spLocks noGrp="1"/>
          </p:cNvSpPr>
          <p:nvPr/>
        </p:nvSpPr>
        <p:spPr>
          <a:xfrm>
            <a:off x="6972300" y="3467100"/>
            <a:ext cx="1885950" cy="514350"/>
          </a:xfrm>
          <a:prstGeom prst="rect">
            <a:avLst/>
          </a:prstGeom>
          <a:solidFill>
            <a:srgbClr val="EEF1F4"/>
          </a:solidFill>
          <a:ln w="9525">
            <a:solidFill>
              <a:srgbClr val="D7DCE2"/>
            </a:solidFill>
            <a:prstDash val="solid"/>
          </a:ln>
        </p:spPr>
      </p:sp>
      <p:sp>
        <p:nvSpPr>
          <p:cNvPr id="53" name="Rectangle 52">
            <a:extLst>
              <a:ext uri="{FF2B5EF4-FFF2-40B4-BE49-F238E27FC236}">
                <a16:creationId xmlns:a16="http://schemas.microsoft.com/office/drawing/2014/main" id="{82F9B750-7081-4ABA-98E8-64DAF39B3E8C}"/>
              </a:ext>
            </a:extLst>
          </p:cNvPr>
          <p:cNvSpPr>
            <a:spLocks noGrp="1"/>
          </p:cNvSpPr>
          <p:nvPr/>
        </p:nvSpPr>
        <p:spPr>
          <a:xfrm>
            <a:off x="8858250" y="3467100"/>
            <a:ext cx="2419350" cy="514350"/>
          </a:xfrm>
          <a:prstGeom prst="rect">
            <a:avLst/>
          </a:prstGeom>
          <a:solidFill>
            <a:srgbClr val="EEF1F4"/>
          </a:solidFill>
          <a:ln w="9525">
            <a:solidFill>
              <a:srgbClr val="D7DCE2"/>
            </a:solidFill>
            <a:prstDash val="solid"/>
          </a:ln>
        </p:spPr>
      </p:sp>
      <p:sp>
        <p:nvSpPr>
          <p:cNvPr id="54" name="Rectangle 53">
            <a:extLst>
              <a:ext uri="{FF2B5EF4-FFF2-40B4-BE49-F238E27FC236}">
                <a16:creationId xmlns:a16="http://schemas.microsoft.com/office/drawing/2014/main" id="{DEB21BEE-09CB-4C50-8D2E-4DF5DF4BE627}"/>
              </a:ext>
            </a:extLst>
          </p:cNvPr>
          <p:cNvSpPr>
            <a:spLocks noGrp="1"/>
          </p:cNvSpPr>
          <p:nvPr/>
        </p:nvSpPr>
        <p:spPr>
          <a:xfrm>
            <a:off x="5238750" y="3609975"/>
            <a:ext cx="165735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kessel</a:t>
            </a:r>
          </a:p>
        </p:txBody>
      </p:sp>
      <p:sp>
        <p:nvSpPr>
          <p:cNvPr id="55" name="Rectangle 54">
            <a:extLst>
              <a:ext uri="{FF2B5EF4-FFF2-40B4-BE49-F238E27FC236}">
                <a16:creationId xmlns:a16="http://schemas.microsoft.com/office/drawing/2014/main" id="{5A58FE2A-1C2E-47DC-8140-09670E5AB7D4}"/>
              </a:ext>
            </a:extLst>
          </p:cNvPr>
          <p:cNvSpPr>
            <a:spLocks noGrp="1"/>
          </p:cNvSpPr>
          <p:nvPr/>
        </p:nvSpPr>
        <p:spPr>
          <a:xfrm>
            <a:off x="7067550" y="3609975"/>
            <a:ext cx="1695450" cy="2286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EOD • trade</a:t>
            </a:r>
          </a:p>
        </p:txBody>
      </p:sp>
      <p:sp>
        <p:nvSpPr>
          <p:cNvPr id="56" name="Rectangle 55">
            <a:extLst>
              <a:ext uri="{FF2B5EF4-FFF2-40B4-BE49-F238E27FC236}">
                <a16:creationId xmlns:a16="http://schemas.microsoft.com/office/drawing/2014/main" id="{A43B9164-565D-47AD-ACB8-DCFF892BB6E4}"/>
              </a:ext>
            </a:extLst>
          </p:cNvPr>
          <p:cNvSpPr>
            <a:spLocks noGrp="1"/>
          </p:cNvSpPr>
          <p:nvPr/>
        </p:nvSpPr>
        <p:spPr>
          <a:xfrm>
            <a:off x="8953500" y="3533775"/>
            <a:ext cx="2228850" cy="3810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Bump-and-reset attribution</a:t>
            </a:r>
          </a:p>
        </p:txBody>
      </p:sp>
      <p:sp>
        <p:nvSpPr>
          <p:cNvPr id="57" name="Rectangle 56">
            <a:extLst>
              <a:ext uri="{FF2B5EF4-FFF2-40B4-BE49-F238E27FC236}">
                <a16:creationId xmlns:a16="http://schemas.microsoft.com/office/drawing/2014/main" id="{2BF924E9-C67C-4C3B-8DCF-C727644B3779}"/>
              </a:ext>
            </a:extLst>
          </p:cNvPr>
          <p:cNvSpPr>
            <a:spLocks noGrp="1"/>
          </p:cNvSpPr>
          <p:nvPr/>
        </p:nvSpPr>
        <p:spPr>
          <a:xfrm>
            <a:off x="5162550" y="3981450"/>
            <a:ext cx="1809750" cy="514350"/>
          </a:xfrm>
          <a:prstGeom prst="rect">
            <a:avLst/>
          </a:prstGeom>
          <a:solidFill>
            <a:srgbClr val="FFFFFF"/>
          </a:solidFill>
          <a:ln w="9525">
            <a:solidFill>
              <a:srgbClr val="D7DCE2"/>
            </a:solidFill>
            <a:prstDash val="solid"/>
          </a:ln>
        </p:spPr>
      </p:sp>
      <p:sp>
        <p:nvSpPr>
          <p:cNvPr id="58" name="Rectangle 57">
            <a:extLst>
              <a:ext uri="{FF2B5EF4-FFF2-40B4-BE49-F238E27FC236}">
                <a16:creationId xmlns:a16="http://schemas.microsoft.com/office/drawing/2014/main" id="{C35F453F-4B10-4982-8639-8008640C008C}"/>
              </a:ext>
            </a:extLst>
          </p:cNvPr>
          <p:cNvSpPr>
            <a:spLocks noGrp="1"/>
          </p:cNvSpPr>
          <p:nvPr/>
        </p:nvSpPr>
        <p:spPr>
          <a:xfrm>
            <a:off x="6972300" y="3981450"/>
            <a:ext cx="1885950" cy="514350"/>
          </a:xfrm>
          <a:prstGeom prst="rect">
            <a:avLst/>
          </a:prstGeom>
          <a:solidFill>
            <a:srgbClr val="FFFFFF"/>
          </a:solidFill>
          <a:ln w="9525">
            <a:solidFill>
              <a:srgbClr val="D7DCE2"/>
            </a:solidFill>
            <a:prstDash val="solid"/>
          </a:ln>
        </p:spPr>
      </p:sp>
      <p:sp>
        <p:nvSpPr>
          <p:cNvPr id="59" name="Rectangle 58">
            <a:extLst>
              <a:ext uri="{FF2B5EF4-FFF2-40B4-BE49-F238E27FC236}">
                <a16:creationId xmlns:a16="http://schemas.microsoft.com/office/drawing/2014/main" id="{EFC28FAE-61F2-4A08-9C4A-1351A0432ABD}"/>
              </a:ext>
            </a:extLst>
          </p:cNvPr>
          <p:cNvSpPr>
            <a:spLocks noGrp="1"/>
          </p:cNvSpPr>
          <p:nvPr/>
        </p:nvSpPr>
        <p:spPr>
          <a:xfrm>
            <a:off x="8858250" y="3981450"/>
            <a:ext cx="2419350" cy="514350"/>
          </a:xfrm>
          <a:prstGeom prst="rect">
            <a:avLst/>
          </a:prstGeom>
          <a:solidFill>
            <a:srgbClr val="FFFFFF"/>
          </a:solidFill>
          <a:ln w="9525">
            <a:solidFill>
              <a:srgbClr val="D7DCE2"/>
            </a:solidFill>
            <a:prstDash val="solid"/>
          </a:ln>
        </p:spPr>
      </p:sp>
      <p:sp>
        <p:nvSpPr>
          <p:cNvPr id="60" name="Rectangle 59">
            <a:extLst>
              <a:ext uri="{FF2B5EF4-FFF2-40B4-BE49-F238E27FC236}">
                <a16:creationId xmlns:a16="http://schemas.microsoft.com/office/drawing/2014/main" id="{061F88AB-B0C3-4EB1-9903-B7E4FE3240EA}"/>
              </a:ext>
            </a:extLst>
          </p:cNvPr>
          <p:cNvSpPr>
            <a:spLocks noGrp="1"/>
          </p:cNvSpPr>
          <p:nvPr/>
        </p:nvSpPr>
        <p:spPr>
          <a:xfrm>
            <a:off x="5238750" y="4124325"/>
            <a:ext cx="165735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pnl_explained</a:t>
            </a:r>
          </a:p>
        </p:txBody>
      </p:sp>
      <p:sp>
        <p:nvSpPr>
          <p:cNvPr id="61" name="Rectangle 60">
            <a:extLst>
              <a:ext uri="{FF2B5EF4-FFF2-40B4-BE49-F238E27FC236}">
                <a16:creationId xmlns:a16="http://schemas.microsoft.com/office/drawing/2014/main" id="{435893B1-59BB-4970-9CFC-C4DAB3B67981}"/>
              </a:ext>
            </a:extLst>
          </p:cNvPr>
          <p:cNvSpPr>
            <a:spLocks noGrp="1"/>
          </p:cNvSpPr>
          <p:nvPr/>
        </p:nvSpPr>
        <p:spPr>
          <a:xfrm>
            <a:off x="7067550" y="4124325"/>
            <a:ext cx="1695450" cy="2286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EOD • trade</a:t>
            </a:r>
          </a:p>
        </p:txBody>
      </p:sp>
      <p:sp>
        <p:nvSpPr>
          <p:cNvPr id="62" name="Rectangle 61">
            <a:extLst>
              <a:ext uri="{FF2B5EF4-FFF2-40B4-BE49-F238E27FC236}">
                <a16:creationId xmlns:a16="http://schemas.microsoft.com/office/drawing/2014/main" id="{7B02C149-B75A-4A06-9D5F-064EDDD1FB20}"/>
              </a:ext>
            </a:extLst>
          </p:cNvPr>
          <p:cNvSpPr>
            <a:spLocks noGrp="1"/>
          </p:cNvSpPr>
          <p:nvPr/>
        </p:nvSpPr>
        <p:spPr>
          <a:xfrm>
            <a:off x="8953500" y="4048125"/>
            <a:ext cx="2228850" cy="3810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Greek-based attribution</a:t>
            </a:r>
          </a:p>
        </p:txBody>
      </p:sp>
      <p:sp>
        <p:nvSpPr>
          <p:cNvPr id="63" name="Rectangle 62">
            <a:extLst>
              <a:ext uri="{FF2B5EF4-FFF2-40B4-BE49-F238E27FC236}">
                <a16:creationId xmlns:a16="http://schemas.microsoft.com/office/drawing/2014/main" id="{BC362594-F2A6-477A-B5C9-D7429DB18690}"/>
              </a:ext>
            </a:extLst>
          </p:cNvPr>
          <p:cNvSpPr>
            <a:spLocks noGrp="1"/>
          </p:cNvSpPr>
          <p:nvPr/>
        </p:nvSpPr>
        <p:spPr>
          <a:xfrm>
            <a:off x="5162550" y="4495800"/>
            <a:ext cx="1809750" cy="514350"/>
          </a:xfrm>
          <a:prstGeom prst="rect">
            <a:avLst/>
          </a:prstGeom>
          <a:solidFill>
            <a:srgbClr val="EEF1F4"/>
          </a:solidFill>
          <a:ln w="9525">
            <a:solidFill>
              <a:srgbClr val="D7DCE2"/>
            </a:solidFill>
            <a:prstDash val="solid"/>
          </a:ln>
        </p:spPr>
      </p:sp>
      <p:sp>
        <p:nvSpPr>
          <p:cNvPr id="64" name="Rectangle 63">
            <a:extLst>
              <a:ext uri="{FF2B5EF4-FFF2-40B4-BE49-F238E27FC236}">
                <a16:creationId xmlns:a16="http://schemas.microsoft.com/office/drawing/2014/main" id="{5CDD15C8-0CDB-4E71-A602-6A89A814B0DF}"/>
              </a:ext>
            </a:extLst>
          </p:cNvPr>
          <p:cNvSpPr>
            <a:spLocks noGrp="1"/>
          </p:cNvSpPr>
          <p:nvPr/>
        </p:nvSpPr>
        <p:spPr>
          <a:xfrm>
            <a:off x="6972300" y="4495800"/>
            <a:ext cx="1885950" cy="514350"/>
          </a:xfrm>
          <a:prstGeom prst="rect">
            <a:avLst/>
          </a:prstGeom>
          <a:solidFill>
            <a:srgbClr val="EEF1F4"/>
          </a:solidFill>
          <a:ln w="9525">
            <a:solidFill>
              <a:srgbClr val="D7DCE2"/>
            </a:solidFill>
            <a:prstDash val="solid"/>
          </a:ln>
        </p:spPr>
      </p:sp>
      <p:sp>
        <p:nvSpPr>
          <p:cNvPr id="65" name="Rectangle 64">
            <a:extLst>
              <a:ext uri="{FF2B5EF4-FFF2-40B4-BE49-F238E27FC236}">
                <a16:creationId xmlns:a16="http://schemas.microsoft.com/office/drawing/2014/main" id="{6948CA66-CA4C-4E4F-AB0D-D0C082CFA3EE}"/>
              </a:ext>
            </a:extLst>
          </p:cNvPr>
          <p:cNvSpPr>
            <a:spLocks noGrp="1"/>
          </p:cNvSpPr>
          <p:nvPr/>
        </p:nvSpPr>
        <p:spPr>
          <a:xfrm>
            <a:off x="8858250" y="4495800"/>
            <a:ext cx="2419350" cy="514350"/>
          </a:xfrm>
          <a:prstGeom prst="rect">
            <a:avLst/>
          </a:prstGeom>
          <a:solidFill>
            <a:srgbClr val="EEF1F4"/>
          </a:solidFill>
          <a:ln w="9525">
            <a:solidFill>
              <a:srgbClr val="D7DCE2"/>
            </a:solidFill>
            <a:prstDash val="solid"/>
          </a:ln>
        </p:spPr>
      </p:sp>
      <p:sp>
        <p:nvSpPr>
          <p:cNvPr id="66" name="Rectangle 65">
            <a:extLst>
              <a:ext uri="{FF2B5EF4-FFF2-40B4-BE49-F238E27FC236}">
                <a16:creationId xmlns:a16="http://schemas.microsoft.com/office/drawing/2014/main" id="{F27F8EC0-274D-403A-861D-ED5DA2C297E5}"/>
              </a:ext>
            </a:extLst>
          </p:cNvPr>
          <p:cNvSpPr>
            <a:spLocks noGrp="1"/>
          </p:cNvSpPr>
          <p:nvPr/>
        </p:nvSpPr>
        <p:spPr>
          <a:xfrm>
            <a:off x="5238750" y="4638675"/>
            <a:ext cx="165735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flash_pnl</a:t>
            </a:r>
          </a:p>
        </p:txBody>
      </p:sp>
      <p:sp>
        <p:nvSpPr>
          <p:cNvPr id="67" name="Rectangle 66">
            <a:extLst>
              <a:ext uri="{FF2B5EF4-FFF2-40B4-BE49-F238E27FC236}">
                <a16:creationId xmlns:a16="http://schemas.microsoft.com/office/drawing/2014/main" id="{F311DD92-9C7C-4B1E-9918-C88930A9430D}"/>
              </a:ext>
            </a:extLst>
          </p:cNvPr>
          <p:cNvSpPr>
            <a:spLocks noGrp="1"/>
          </p:cNvSpPr>
          <p:nvPr/>
        </p:nvSpPr>
        <p:spPr>
          <a:xfrm>
            <a:off x="7067550" y="4638675"/>
            <a:ext cx="1695450" cy="2286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Flash • trade</a:t>
            </a:r>
          </a:p>
        </p:txBody>
      </p:sp>
      <p:sp>
        <p:nvSpPr>
          <p:cNvPr id="68" name="Rectangle 67">
            <a:extLst>
              <a:ext uri="{FF2B5EF4-FFF2-40B4-BE49-F238E27FC236}">
                <a16:creationId xmlns:a16="http://schemas.microsoft.com/office/drawing/2014/main" id="{2B466BB1-F039-42B5-8038-EB6F53618DD5}"/>
              </a:ext>
            </a:extLst>
          </p:cNvPr>
          <p:cNvSpPr>
            <a:spLocks noGrp="1"/>
          </p:cNvSpPr>
          <p:nvPr/>
        </p:nvSpPr>
        <p:spPr>
          <a:xfrm>
            <a:off x="8953500" y="4562475"/>
            <a:ext cx="2228850" cy="3810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Flash P&amp;L at trade level</a:t>
            </a:r>
          </a:p>
        </p:txBody>
      </p:sp>
      <p:sp>
        <p:nvSpPr>
          <p:cNvPr id="69" name="Rectangle 68">
            <a:extLst>
              <a:ext uri="{FF2B5EF4-FFF2-40B4-BE49-F238E27FC236}">
                <a16:creationId xmlns:a16="http://schemas.microsoft.com/office/drawing/2014/main" id="{6E39D488-EA4C-4622-BEEC-BC93221E44D2}"/>
              </a:ext>
            </a:extLst>
          </p:cNvPr>
          <p:cNvSpPr>
            <a:spLocks noGrp="1"/>
          </p:cNvSpPr>
          <p:nvPr/>
        </p:nvSpPr>
        <p:spPr>
          <a:xfrm>
            <a:off x="5162550" y="5010150"/>
            <a:ext cx="1809750" cy="514350"/>
          </a:xfrm>
          <a:prstGeom prst="rect">
            <a:avLst/>
          </a:prstGeom>
          <a:solidFill>
            <a:srgbClr val="FFFFFF"/>
          </a:solidFill>
          <a:ln w="9525">
            <a:solidFill>
              <a:srgbClr val="D7DCE2"/>
            </a:solidFill>
            <a:prstDash val="solid"/>
          </a:ln>
        </p:spPr>
      </p:sp>
      <p:sp>
        <p:nvSpPr>
          <p:cNvPr id="70" name="Rectangle 69">
            <a:extLst>
              <a:ext uri="{FF2B5EF4-FFF2-40B4-BE49-F238E27FC236}">
                <a16:creationId xmlns:a16="http://schemas.microsoft.com/office/drawing/2014/main" id="{833E742A-AF77-43BC-8449-8C489CCBE824}"/>
              </a:ext>
            </a:extLst>
          </p:cNvPr>
          <p:cNvSpPr>
            <a:spLocks noGrp="1"/>
          </p:cNvSpPr>
          <p:nvPr/>
        </p:nvSpPr>
        <p:spPr>
          <a:xfrm>
            <a:off x="6972300" y="5010150"/>
            <a:ext cx="1885950" cy="514350"/>
          </a:xfrm>
          <a:prstGeom prst="rect">
            <a:avLst/>
          </a:prstGeom>
          <a:solidFill>
            <a:srgbClr val="FFFFFF"/>
          </a:solidFill>
          <a:ln w="9525">
            <a:solidFill>
              <a:srgbClr val="D7DCE2"/>
            </a:solidFill>
            <a:prstDash val="solid"/>
          </a:ln>
        </p:spPr>
      </p:sp>
      <p:sp>
        <p:nvSpPr>
          <p:cNvPr id="71" name="Rectangle 70">
            <a:extLst>
              <a:ext uri="{FF2B5EF4-FFF2-40B4-BE49-F238E27FC236}">
                <a16:creationId xmlns:a16="http://schemas.microsoft.com/office/drawing/2014/main" id="{94540CDA-971C-4BCE-B514-312C5F71E865}"/>
              </a:ext>
            </a:extLst>
          </p:cNvPr>
          <p:cNvSpPr>
            <a:spLocks noGrp="1"/>
          </p:cNvSpPr>
          <p:nvPr/>
        </p:nvSpPr>
        <p:spPr>
          <a:xfrm>
            <a:off x="8858250" y="5010150"/>
            <a:ext cx="2419350" cy="514350"/>
          </a:xfrm>
          <a:prstGeom prst="rect">
            <a:avLst/>
          </a:prstGeom>
          <a:solidFill>
            <a:srgbClr val="FFFFFF"/>
          </a:solidFill>
          <a:ln w="9525">
            <a:solidFill>
              <a:srgbClr val="D7DCE2"/>
            </a:solidFill>
            <a:prstDash val="solid"/>
          </a:ln>
        </p:spPr>
      </p:sp>
      <p:sp>
        <p:nvSpPr>
          <p:cNvPr id="72" name="Rectangle 71">
            <a:extLst>
              <a:ext uri="{FF2B5EF4-FFF2-40B4-BE49-F238E27FC236}">
                <a16:creationId xmlns:a16="http://schemas.microsoft.com/office/drawing/2014/main" id="{F4751A38-9F1F-4154-9DE1-5233C3589A91}"/>
              </a:ext>
            </a:extLst>
          </p:cNvPr>
          <p:cNvSpPr>
            <a:spLocks noGrp="1"/>
          </p:cNvSpPr>
          <p:nvPr/>
        </p:nvSpPr>
        <p:spPr>
          <a:xfrm>
            <a:off x="5238750" y="5153025"/>
            <a:ext cx="165735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pnl_daily_report</a:t>
            </a:r>
          </a:p>
        </p:txBody>
      </p:sp>
      <p:sp>
        <p:nvSpPr>
          <p:cNvPr id="73" name="Rectangle 72">
            <a:extLst>
              <a:ext uri="{FF2B5EF4-FFF2-40B4-BE49-F238E27FC236}">
                <a16:creationId xmlns:a16="http://schemas.microsoft.com/office/drawing/2014/main" id="{57E297B3-6230-4356-B45A-30C825BEEED8}"/>
              </a:ext>
            </a:extLst>
          </p:cNvPr>
          <p:cNvSpPr>
            <a:spLocks noGrp="1"/>
          </p:cNvSpPr>
          <p:nvPr/>
        </p:nvSpPr>
        <p:spPr>
          <a:xfrm>
            <a:off x="7067550" y="5153025"/>
            <a:ext cx="1695450" cy="2286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Daily report</a:t>
            </a:r>
          </a:p>
        </p:txBody>
      </p:sp>
      <p:sp>
        <p:nvSpPr>
          <p:cNvPr id="74" name="Rectangle 73">
            <a:extLst>
              <a:ext uri="{FF2B5EF4-FFF2-40B4-BE49-F238E27FC236}">
                <a16:creationId xmlns:a16="http://schemas.microsoft.com/office/drawing/2014/main" id="{3CE57296-1575-4AA9-8E98-CB7D1A1C95D4}"/>
              </a:ext>
            </a:extLst>
          </p:cNvPr>
          <p:cNvSpPr>
            <a:spLocks noGrp="1"/>
          </p:cNvSpPr>
          <p:nvPr/>
        </p:nvSpPr>
        <p:spPr>
          <a:xfrm>
            <a:off x="8953500" y="5076825"/>
            <a:ext cx="2228850" cy="3810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Daily P&amp;L report</a:t>
            </a:r>
          </a:p>
        </p:txBody>
      </p:sp>
      <p:sp>
        <p:nvSpPr>
          <p:cNvPr id="75" name="Rectangle 74">
            <a:extLst>
              <a:ext uri="{FF2B5EF4-FFF2-40B4-BE49-F238E27FC236}">
                <a16:creationId xmlns:a16="http://schemas.microsoft.com/office/drawing/2014/main" id="{23972BC3-35D9-49CF-8D19-1A5144C0DCFE}"/>
              </a:ext>
            </a:extLst>
          </p:cNvPr>
          <p:cNvSpPr>
            <a:spLocks noGrp="1"/>
          </p:cNvSpPr>
          <p:nvPr/>
        </p:nvSpPr>
        <p:spPr>
          <a:xfrm>
            <a:off x="5162550" y="5524500"/>
            <a:ext cx="1809750" cy="514350"/>
          </a:xfrm>
          <a:prstGeom prst="rect">
            <a:avLst/>
          </a:prstGeom>
          <a:solidFill>
            <a:srgbClr val="EEF1F4"/>
          </a:solidFill>
          <a:ln w="9525">
            <a:solidFill>
              <a:srgbClr val="D7DCE2"/>
            </a:solidFill>
            <a:prstDash val="solid"/>
          </a:ln>
        </p:spPr>
      </p:sp>
      <p:sp>
        <p:nvSpPr>
          <p:cNvPr id="76" name="Rectangle 75">
            <a:extLst>
              <a:ext uri="{FF2B5EF4-FFF2-40B4-BE49-F238E27FC236}">
                <a16:creationId xmlns:a16="http://schemas.microsoft.com/office/drawing/2014/main" id="{2AA54451-B2D5-45FF-8090-216313CDFE42}"/>
              </a:ext>
            </a:extLst>
          </p:cNvPr>
          <p:cNvSpPr>
            <a:spLocks noGrp="1"/>
          </p:cNvSpPr>
          <p:nvPr/>
        </p:nvSpPr>
        <p:spPr>
          <a:xfrm>
            <a:off x="6972300" y="5524500"/>
            <a:ext cx="1885950" cy="514350"/>
          </a:xfrm>
          <a:prstGeom prst="rect">
            <a:avLst/>
          </a:prstGeom>
          <a:solidFill>
            <a:srgbClr val="EEF1F4"/>
          </a:solidFill>
          <a:ln w="9525">
            <a:solidFill>
              <a:srgbClr val="D7DCE2"/>
            </a:solidFill>
            <a:prstDash val="solid"/>
          </a:ln>
        </p:spPr>
      </p:sp>
      <p:sp>
        <p:nvSpPr>
          <p:cNvPr id="77" name="Rectangle 76">
            <a:extLst>
              <a:ext uri="{FF2B5EF4-FFF2-40B4-BE49-F238E27FC236}">
                <a16:creationId xmlns:a16="http://schemas.microsoft.com/office/drawing/2014/main" id="{9954E6D2-8244-477E-BF91-FAA0271435FD}"/>
              </a:ext>
            </a:extLst>
          </p:cNvPr>
          <p:cNvSpPr>
            <a:spLocks noGrp="1"/>
          </p:cNvSpPr>
          <p:nvPr/>
        </p:nvSpPr>
        <p:spPr>
          <a:xfrm>
            <a:off x="8858250" y="5524500"/>
            <a:ext cx="2419350" cy="514350"/>
          </a:xfrm>
          <a:prstGeom prst="rect">
            <a:avLst/>
          </a:prstGeom>
          <a:solidFill>
            <a:srgbClr val="EEF1F4"/>
          </a:solidFill>
          <a:ln w="9525">
            <a:solidFill>
              <a:srgbClr val="D7DCE2"/>
            </a:solidFill>
            <a:prstDash val="solid"/>
          </a:ln>
        </p:spPr>
      </p:sp>
      <p:sp>
        <p:nvSpPr>
          <p:cNvPr id="78" name="Rectangle 77">
            <a:extLst>
              <a:ext uri="{FF2B5EF4-FFF2-40B4-BE49-F238E27FC236}">
                <a16:creationId xmlns:a16="http://schemas.microsoft.com/office/drawing/2014/main" id="{E2472483-059A-45DC-AFB2-632F0E42952A}"/>
              </a:ext>
            </a:extLst>
          </p:cNvPr>
          <p:cNvSpPr>
            <a:spLocks noGrp="1"/>
          </p:cNvSpPr>
          <p:nvPr/>
        </p:nvSpPr>
        <p:spPr>
          <a:xfrm>
            <a:off x="5238750" y="5667375"/>
            <a:ext cx="165735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risk_report</a:t>
            </a:r>
          </a:p>
        </p:txBody>
      </p:sp>
      <p:sp>
        <p:nvSpPr>
          <p:cNvPr id="79" name="Rectangle 78">
            <a:extLst>
              <a:ext uri="{FF2B5EF4-FFF2-40B4-BE49-F238E27FC236}">
                <a16:creationId xmlns:a16="http://schemas.microsoft.com/office/drawing/2014/main" id="{18F318DC-0B81-439E-99BE-25B99518724B}"/>
              </a:ext>
            </a:extLst>
          </p:cNvPr>
          <p:cNvSpPr>
            <a:spLocks noGrp="1"/>
          </p:cNvSpPr>
          <p:nvPr/>
        </p:nvSpPr>
        <p:spPr>
          <a:xfrm>
            <a:off x="7067550" y="5667375"/>
            <a:ext cx="1695450" cy="2286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Risk</a:t>
            </a:r>
          </a:p>
        </p:txBody>
      </p:sp>
      <p:sp>
        <p:nvSpPr>
          <p:cNvPr id="80" name="Rectangle 79">
            <a:extLst>
              <a:ext uri="{FF2B5EF4-FFF2-40B4-BE49-F238E27FC236}">
                <a16:creationId xmlns:a16="http://schemas.microsoft.com/office/drawing/2014/main" id="{750A5D35-EB3F-4E2E-873B-BD66C66EB6BF}"/>
              </a:ext>
            </a:extLst>
          </p:cNvPr>
          <p:cNvSpPr>
            <a:spLocks noGrp="1"/>
          </p:cNvSpPr>
          <p:nvPr/>
        </p:nvSpPr>
        <p:spPr>
          <a:xfrm>
            <a:off x="8953500" y="5591175"/>
            <a:ext cx="2228850" cy="381000"/>
          </a:xfrm>
          <a:prstGeom prst="rect">
            <a:avLst/>
          </a:prstGeom>
          <a:noFill/>
          <a:ln w="0">
            <a:noFill/>
            <a:prstDash val="solid"/>
          </a:ln>
        </p:spPr>
        <p:txBody>
          <a:bodyPr lIns="0" tIns="0" rIns="0" bIns="0" anchor="t">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Risk measures</a:t>
            </a:r>
          </a:p>
        </p:txBody>
      </p:sp>
    </p:spTree>
    <p:extLst>
      <p:ext uri="{BB962C8B-B14F-4D97-AF65-F5344CB8AC3E}">
        <p14:creationId xmlns:p14="http://schemas.microsoft.com/office/powerpoint/2010/main" val="149355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6AAD0731-7CB6-42F3-A355-E249E6D82F11}"/>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079702ED-DAFE-4C8C-AB63-401B8BF14D9B}"/>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8A5A00"/>
                </a:solidFill>
                <a:latin typeface="Aptos"/>
                <a:ea typeface="Aptos"/>
                <a:cs typeface="Aptos"/>
              </a:defRPr>
            </a:pPr>
            <a:r>
              <a:rPr sz="900" b="1">
                <a:solidFill>
                  <a:srgbClr val="8A5A00"/>
                </a:solidFill>
                <a:latin typeface="Aptos"/>
                <a:ea typeface="Aptos"/>
                <a:cs typeface="Aptos"/>
              </a:rPr>
              <a:t>APPENDIX</a:t>
            </a:r>
          </a:p>
        </p:txBody>
      </p:sp>
      <p:sp>
        <p:nvSpPr>
          <p:cNvPr id="3" name="Rectangle 2">
            <a:extLst>
              <a:ext uri="{FF2B5EF4-FFF2-40B4-BE49-F238E27FC236}">
                <a16:creationId xmlns:a16="http://schemas.microsoft.com/office/drawing/2014/main" id="{DCA3A199-C2BA-40DB-8830-2796D0F6C9E5}"/>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The solution uses a modular, inspectable implementation</a:t>
            </a:r>
          </a:p>
        </p:txBody>
      </p:sp>
      <p:sp>
        <p:nvSpPr>
          <p:cNvPr id="4" name="Straight Connector 3">
            <a:extLst>
              <a:ext uri="{FF2B5EF4-FFF2-40B4-BE49-F238E27FC236}">
                <a16:creationId xmlns:a16="http://schemas.microsoft.com/office/drawing/2014/main" id="{A250025D-3426-4D30-AC36-D2C1AFDD8651}"/>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7989155C-8ED9-416D-A89B-3A5385762F92}"/>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Q&amp;A reference</a:t>
            </a:r>
          </a:p>
        </p:txBody>
      </p:sp>
      <p:sp>
        <p:nvSpPr>
          <p:cNvPr id="6" name="Rectangle 5">
            <a:extLst>
              <a:ext uri="{FF2B5EF4-FFF2-40B4-BE49-F238E27FC236}">
                <a16:creationId xmlns:a16="http://schemas.microsoft.com/office/drawing/2014/main" id="{1711DCDA-3098-4DF6-8ADC-A668DC9D5A04}"/>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8A5A00"/>
                </a:solidFill>
                <a:latin typeface="Aptos"/>
                <a:ea typeface="Aptos"/>
                <a:cs typeface="Aptos"/>
              </a:defRPr>
            </a:pPr>
            <a:r>
              <a:rPr sz="825" b="1">
                <a:solidFill>
                  <a:srgbClr val="8A5A00"/>
                </a:solidFill>
                <a:latin typeface="Aptos"/>
                <a:ea typeface="Aptos"/>
                <a:cs typeface="Aptos"/>
              </a:rPr>
              <a:t>14</a:t>
            </a:r>
          </a:p>
        </p:txBody>
      </p:sp>
      <p:sp>
        <p:nvSpPr>
          <p:cNvPr id="7" name="Rectangle 6">
            <a:extLst>
              <a:ext uri="{FF2B5EF4-FFF2-40B4-BE49-F238E27FC236}">
                <a16:creationId xmlns:a16="http://schemas.microsoft.com/office/drawing/2014/main" id="{EA7CE1C8-EFA0-4212-A370-75241F0965FE}"/>
              </a:ext>
            </a:extLst>
          </p:cNvPr>
          <p:cNvSpPr>
            <a:spLocks noGrp="1"/>
          </p:cNvSpPr>
          <p:nvPr/>
        </p:nvSpPr>
        <p:spPr>
          <a:xfrm>
            <a:off x="609600" y="1104900"/>
            <a:ext cx="100965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The server separates entry point, tool tiers, utilities, ingestion, configuration, and dated data.</a:t>
            </a:r>
          </a:p>
        </p:txBody>
      </p:sp>
      <p:sp>
        <p:nvSpPr>
          <p:cNvPr id="8" name="Rectangle 7">
            <a:extLst>
              <a:ext uri="{FF2B5EF4-FFF2-40B4-BE49-F238E27FC236}">
                <a16:creationId xmlns:a16="http://schemas.microsoft.com/office/drawing/2014/main" id="{01421D64-065F-411F-98FE-6FA47F4285FD}"/>
              </a:ext>
            </a:extLst>
          </p:cNvPr>
          <p:cNvSpPr>
            <a:spLocks noGrp="1"/>
          </p:cNvSpPr>
          <p:nvPr/>
        </p:nvSpPr>
        <p:spPr>
          <a:xfrm>
            <a:off x="609600" y="1524000"/>
            <a:ext cx="3048000" cy="190500"/>
          </a:xfrm>
          <a:prstGeom prst="rect">
            <a:avLst/>
          </a:prstGeom>
          <a:noFill/>
          <a:ln w="0">
            <a:noFill/>
            <a:prstDash val="solid"/>
          </a:ln>
        </p:spPr>
        <p:txBody>
          <a:bodyPr lIns="0" tIns="0" rIns="0" bIns="0" anchor="t">
            <a:noAutofit/>
          </a:bodyPr>
          <a:lstStyle/>
          <a:p>
            <a:pPr algn="l">
              <a:lnSpc>
                <a:spcPct val="100000"/>
              </a:lnSpc>
              <a:buNone/>
              <a:defRPr sz="975" b="1">
                <a:solidFill>
                  <a:srgbClr val="8A5A00"/>
                </a:solidFill>
                <a:latin typeface="Aptos"/>
                <a:ea typeface="Aptos"/>
                <a:cs typeface="Aptos"/>
              </a:defRPr>
            </a:pPr>
            <a:r>
              <a:rPr sz="975" b="1">
                <a:solidFill>
                  <a:srgbClr val="8A5A00"/>
                </a:solidFill>
                <a:latin typeface="Aptos"/>
                <a:ea typeface="Aptos"/>
                <a:cs typeface="Aptos"/>
              </a:rPr>
              <a:t>MODULE FLOW</a:t>
            </a:r>
          </a:p>
        </p:txBody>
      </p:sp>
      <p:sp>
        <p:nvSpPr>
          <p:cNvPr id="9" name="Rectangle 8">
            <a:extLst>
              <a:ext uri="{FF2B5EF4-FFF2-40B4-BE49-F238E27FC236}">
                <a16:creationId xmlns:a16="http://schemas.microsoft.com/office/drawing/2014/main" id="{978EB6FA-F99D-49CE-B190-DA44207457A0}"/>
              </a:ext>
            </a:extLst>
          </p:cNvPr>
          <p:cNvSpPr>
            <a:spLocks noGrp="1"/>
          </p:cNvSpPr>
          <p:nvPr/>
        </p:nvSpPr>
        <p:spPr>
          <a:xfrm>
            <a:off x="609600" y="1781175"/>
            <a:ext cx="15240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QUERY PATH</a:t>
            </a:r>
          </a:p>
        </p:txBody>
      </p:sp>
      <p:sp>
        <p:nvSpPr>
          <p:cNvPr id="10" name="Straight Connector 9">
            <a:extLst>
              <a:ext uri="{FF2B5EF4-FFF2-40B4-BE49-F238E27FC236}">
                <a16:creationId xmlns:a16="http://schemas.microsoft.com/office/drawing/2014/main" id="{BF4F66C7-B38C-47A9-9B50-9415BAD6DE82}"/>
              </a:ext>
            </a:extLst>
          </p:cNvPr>
          <p:cNvSpPr>
            <a:spLocks noGrp="1"/>
          </p:cNvSpPr>
          <p:nvPr/>
        </p:nvSpPr>
        <p:spPr>
          <a:xfrm>
            <a:off x="2952750" y="2514600"/>
            <a:ext cx="9525" cy="171450"/>
          </a:xfrm>
          <a:prstGeom prst="line">
            <a:avLst/>
          </a:prstGeom>
          <a:noFill/>
          <a:ln w="28575">
            <a:solidFill>
              <a:srgbClr val="D71E28"/>
            </a:solidFill>
            <a:prstDash val="solid"/>
          </a:ln>
        </p:spPr>
      </p:sp>
      <p:sp>
        <p:nvSpPr>
          <p:cNvPr id="11" name="Straight Connector 10">
            <a:extLst>
              <a:ext uri="{FF2B5EF4-FFF2-40B4-BE49-F238E27FC236}">
                <a16:creationId xmlns:a16="http://schemas.microsoft.com/office/drawing/2014/main" id="{B5BF6778-20F7-4021-98C6-B11A6DD999DD}"/>
              </a:ext>
            </a:extLst>
          </p:cNvPr>
          <p:cNvSpPr>
            <a:spLocks noGrp="1"/>
          </p:cNvSpPr>
          <p:nvPr/>
        </p:nvSpPr>
        <p:spPr>
          <a:xfrm>
            <a:off x="2952750" y="3200400"/>
            <a:ext cx="9525" cy="171450"/>
          </a:xfrm>
          <a:prstGeom prst="line">
            <a:avLst/>
          </a:prstGeom>
          <a:noFill/>
          <a:ln w="28575">
            <a:solidFill>
              <a:srgbClr val="D71E28"/>
            </a:solidFill>
            <a:prstDash val="solid"/>
          </a:ln>
        </p:spPr>
      </p:sp>
      <p:sp>
        <p:nvSpPr>
          <p:cNvPr id="12" name="Straight Connector 11">
            <a:extLst>
              <a:ext uri="{FF2B5EF4-FFF2-40B4-BE49-F238E27FC236}">
                <a16:creationId xmlns:a16="http://schemas.microsoft.com/office/drawing/2014/main" id="{B5333835-23A0-400C-A54E-9D7A29B4CECD}"/>
              </a:ext>
            </a:extLst>
          </p:cNvPr>
          <p:cNvSpPr>
            <a:spLocks noGrp="1"/>
          </p:cNvSpPr>
          <p:nvPr/>
        </p:nvSpPr>
        <p:spPr>
          <a:xfrm>
            <a:off x="2952750" y="3886200"/>
            <a:ext cx="9525" cy="171450"/>
          </a:xfrm>
          <a:prstGeom prst="line">
            <a:avLst/>
          </a:prstGeom>
          <a:noFill/>
          <a:ln w="28575">
            <a:solidFill>
              <a:srgbClr val="D71E28"/>
            </a:solidFill>
            <a:prstDash val="solid"/>
          </a:ln>
        </p:spPr>
      </p:sp>
      <p:sp>
        <p:nvSpPr>
          <p:cNvPr id="13" name="Rectangle: Rounded Corners 12">
            <a:extLst>
              <a:ext uri="{FF2B5EF4-FFF2-40B4-BE49-F238E27FC236}">
                <a16:creationId xmlns:a16="http://schemas.microsoft.com/office/drawing/2014/main" id="{FDF499CD-7E47-4BB0-B448-0E5410481EFE}"/>
              </a:ext>
            </a:extLst>
          </p:cNvPr>
          <p:cNvSpPr>
            <a:spLocks noGrp="1"/>
          </p:cNvSpPr>
          <p:nvPr/>
        </p:nvSpPr>
        <p:spPr>
          <a:xfrm>
            <a:off x="609600" y="2000250"/>
            <a:ext cx="4686300" cy="514350"/>
          </a:xfrm>
          <a:prstGeom prst="roundRect">
            <a:avLst>
              <a:gd name="adj" fmla="val 18519"/>
            </a:avLst>
          </a:prstGeom>
          <a:solidFill>
            <a:srgbClr val="FCEEEF"/>
          </a:solidFill>
          <a:ln w="9525">
            <a:solidFill>
              <a:srgbClr val="D71E28"/>
            </a:solidFill>
            <a:prstDash val="solid"/>
          </a:ln>
        </p:spPr>
      </p:sp>
      <p:sp>
        <p:nvSpPr>
          <p:cNvPr id="14" name="Rectangle 13">
            <a:extLst>
              <a:ext uri="{FF2B5EF4-FFF2-40B4-BE49-F238E27FC236}">
                <a16:creationId xmlns:a16="http://schemas.microsoft.com/office/drawing/2014/main" id="{262078F0-7275-4630-B627-F96AEA194713}"/>
              </a:ext>
            </a:extLst>
          </p:cNvPr>
          <p:cNvSpPr>
            <a:spLocks noGrp="1"/>
          </p:cNvSpPr>
          <p:nvPr/>
        </p:nvSpPr>
        <p:spPr>
          <a:xfrm>
            <a:off x="781050" y="2133600"/>
            <a:ext cx="121920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server.py</a:t>
            </a:r>
          </a:p>
        </p:txBody>
      </p:sp>
      <p:sp>
        <p:nvSpPr>
          <p:cNvPr id="15" name="Rectangle 14">
            <a:extLst>
              <a:ext uri="{FF2B5EF4-FFF2-40B4-BE49-F238E27FC236}">
                <a16:creationId xmlns:a16="http://schemas.microsoft.com/office/drawing/2014/main" id="{D6DEF63A-7B9E-4916-92C2-EC04BC415B7A}"/>
              </a:ext>
            </a:extLst>
          </p:cNvPr>
          <p:cNvSpPr>
            <a:spLocks noGrp="1"/>
          </p:cNvSpPr>
          <p:nvPr/>
        </p:nvSpPr>
        <p:spPr>
          <a:xfrm>
            <a:off x="2076450" y="2095500"/>
            <a:ext cx="3009900" cy="342900"/>
          </a:xfrm>
          <a:prstGeom prst="rect">
            <a:avLst/>
          </a:prstGeom>
          <a:noFill/>
          <a:ln w="0">
            <a:noFill/>
            <a:prstDash val="solid"/>
          </a:ln>
        </p:spPr>
        <p:txBody>
          <a:bodyPr lIns="0" tIns="0" rIns="0" bIns="0" anchor="ctr">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FastMCP entry point</a:t>
            </a:r>
          </a:p>
        </p:txBody>
      </p:sp>
      <p:sp>
        <p:nvSpPr>
          <p:cNvPr id="16" name="Rectangle: Rounded Corners 15">
            <a:extLst>
              <a:ext uri="{FF2B5EF4-FFF2-40B4-BE49-F238E27FC236}">
                <a16:creationId xmlns:a16="http://schemas.microsoft.com/office/drawing/2014/main" id="{2FDA4BEA-5F25-4AE6-8945-B35237311481}"/>
              </a:ext>
            </a:extLst>
          </p:cNvPr>
          <p:cNvSpPr>
            <a:spLocks noGrp="1"/>
          </p:cNvSpPr>
          <p:nvPr/>
        </p:nvSpPr>
        <p:spPr>
          <a:xfrm>
            <a:off x="609600" y="2686050"/>
            <a:ext cx="4686300" cy="514350"/>
          </a:xfrm>
          <a:prstGeom prst="roundRect">
            <a:avLst>
              <a:gd name="adj" fmla="val 18519"/>
            </a:avLst>
          </a:prstGeom>
          <a:solidFill>
            <a:srgbClr val="FFFFFF"/>
          </a:solidFill>
          <a:ln w="9525">
            <a:solidFill>
              <a:srgbClr val="D7DCE2"/>
            </a:solidFill>
            <a:prstDash val="solid"/>
          </a:ln>
        </p:spPr>
      </p:sp>
      <p:sp>
        <p:nvSpPr>
          <p:cNvPr id="17" name="Rectangle 16">
            <a:extLst>
              <a:ext uri="{FF2B5EF4-FFF2-40B4-BE49-F238E27FC236}">
                <a16:creationId xmlns:a16="http://schemas.microsoft.com/office/drawing/2014/main" id="{BCE10EB1-CBE1-4B7D-A92C-CE2E46210669}"/>
              </a:ext>
            </a:extLst>
          </p:cNvPr>
          <p:cNvSpPr>
            <a:spLocks noGrp="1"/>
          </p:cNvSpPr>
          <p:nvPr/>
        </p:nvSpPr>
        <p:spPr>
          <a:xfrm>
            <a:off x="781050" y="2819400"/>
            <a:ext cx="121920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tools/</a:t>
            </a:r>
          </a:p>
        </p:txBody>
      </p:sp>
      <p:sp>
        <p:nvSpPr>
          <p:cNvPr id="18" name="Rectangle 17">
            <a:extLst>
              <a:ext uri="{FF2B5EF4-FFF2-40B4-BE49-F238E27FC236}">
                <a16:creationId xmlns:a16="http://schemas.microsoft.com/office/drawing/2014/main" id="{5BD6CB43-8ECE-4CB8-BE12-E480A1A2F133}"/>
              </a:ext>
            </a:extLst>
          </p:cNvPr>
          <p:cNvSpPr>
            <a:spLocks noGrp="1"/>
          </p:cNvSpPr>
          <p:nvPr/>
        </p:nvSpPr>
        <p:spPr>
          <a:xfrm>
            <a:off x="2076450" y="2781300"/>
            <a:ext cx="3009900" cy="342900"/>
          </a:xfrm>
          <a:prstGeom prst="rect">
            <a:avLst/>
          </a:prstGeom>
          <a:noFill/>
          <a:ln w="0">
            <a:noFill/>
            <a:prstDash val="solid"/>
          </a:ln>
        </p:spPr>
        <p:txBody>
          <a:bodyPr lIns="0" tIns="0" rIns="0" bIns="0" anchor="ctr">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p0_core.py • p1_exploration.py • p2_analytics.py</a:t>
            </a:r>
          </a:p>
        </p:txBody>
      </p:sp>
      <p:sp>
        <p:nvSpPr>
          <p:cNvPr id="19" name="Rectangle: Rounded Corners 18">
            <a:extLst>
              <a:ext uri="{FF2B5EF4-FFF2-40B4-BE49-F238E27FC236}">
                <a16:creationId xmlns:a16="http://schemas.microsoft.com/office/drawing/2014/main" id="{614288AB-ECE3-47AB-AC82-BA82FF000031}"/>
              </a:ext>
            </a:extLst>
          </p:cNvPr>
          <p:cNvSpPr>
            <a:spLocks noGrp="1"/>
          </p:cNvSpPr>
          <p:nvPr/>
        </p:nvSpPr>
        <p:spPr>
          <a:xfrm>
            <a:off x="609600" y="3371850"/>
            <a:ext cx="4686300" cy="514350"/>
          </a:xfrm>
          <a:prstGeom prst="roundRect">
            <a:avLst>
              <a:gd name="adj" fmla="val 18519"/>
            </a:avLst>
          </a:prstGeom>
          <a:solidFill>
            <a:srgbClr val="FFFFFF"/>
          </a:solidFill>
          <a:ln w="9525">
            <a:solidFill>
              <a:srgbClr val="D7DCE2"/>
            </a:solidFill>
            <a:prstDash val="solid"/>
          </a:ln>
        </p:spPr>
      </p:sp>
      <p:sp>
        <p:nvSpPr>
          <p:cNvPr id="20" name="Rectangle 19">
            <a:extLst>
              <a:ext uri="{FF2B5EF4-FFF2-40B4-BE49-F238E27FC236}">
                <a16:creationId xmlns:a16="http://schemas.microsoft.com/office/drawing/2014/main" id="{50EB295A-453C-4CB7-8935-53CD5C7C2243}"/>
              </a:ext>
            </a:extLst>
          </p:cNvPr>
          <p:cNvSpPr>
            <a:spLocks noGrp="1"/>
          </p:cNvSpPr>
          <p:nvPr/>
        </p:nvSpPr>
        <p:spPr>
          <a:xfrm>
            <a:off x="781050" y="3505200"/>
            <a:ext cx="121920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utils/</a:t>
            </a:r>
          </a:p>
        </p:txBody>
      </p:sp>
      <p:sp>
        <p:nvSpPr>
          <p:cNvPr id="21" name="Rectangle 20">
            <a:extLst>
              <a:ext uri="{FF2B5EF4-FFF2-40B4-BE49-F238E27FC236}">
                <a16:creationId xmlns:a16="http://schemas.microsoft.com/office/drawing/2014/main" id="{F9B2E707-2F47-424F-A707-483CA42B8987}"/>
              </a:ext>
            </a:extLst>
          </p:cNvPr>
          <p:cNvSpPr>
            <a:spLocks noGrp="1"/>
          </p:cNvSpPr>
          <p:nvPr/>
        </p:nvSpPr>
        <p:spPr>
          <a:xfrm>
            <a:off x="2076450" y="3467100"/>
            <a:ext cx="3009900" cy="342900"/>
          </a:xfrm>
          <a:prstGeom prst="rect">
            <a:avLst/>
          </a:prstGeom>
          <a:noFill/>
          <a:ln w="0">
            <a:noFill/>
            <a:prstDash val="solid"/>
          </a:ln>
        </p:spPr>
        <p:txBody>
          <a:bodyPr lIns="0" tIns="0" rIns="0" bIns="0" anchor="ctr">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db.py • sql_parser.py • audit.py</a:t>
            </a:r>
          </a:p>
        </p:txBody>
      </p:sp>
      <p:sp>
        <p:nvSpPr>
          <p:cNvPr id="22" name="Rectangle: Rounded Corners 21">
            <a:extLst>
              <a:ext uri="{FF2B5EF4-FFF2-40B4-BE49-F238E27FC236}">
                <a16:creationId xmlns:a16="http://schemas.microsoft.com/office/drawing/2014/main" id="{FD5A6500-D6B3-4FBE-9C14-4E01E7460DD3}"/>
              </a:ext>
            </a:extLst>
          </p:cNvPr>
          <p:cNvSpPr>
            <a:spLocks noGrp="1"/>
          </p:cNvSpPr>
          <p:nvPr/>
        </p:nvSpPr>
        <p:spPr>
          <a:xfrm>
            <a:off x="609600" y="4057650"/>
            <a:ext cx="4686300" cy="514350"/>
          </a:xfrm>
          <a:prstGeom prst="roundRect">
            <a:avLst>
              <a:gd name="adj" fmla="val 18519"/>
            </a:avLst>
          </a:prstGeom>
          <a:solidFill>
            <a:srgbClr val="FFFFFF"/>
          </a:solidFill>
          <a:ln w="9525">
            <a:solidFill>
              <a:srgbClr val="D7DCE2"/>
            </a:solidFill>
            <a:prstDash val="solid"/>
          </a:ln>
        </p:spPr>
      </p:sp>
      <p:sp>
        <p:nvSpPr>
          <p:cNvPr id="23" name="Rectangle 22">
            <a:extLst>
              <a:ext uri="{FF2B5EF4-FFF2-40B4-BE49-F238E27FC236}">
                <a16:creationId xmlns:a16="http://schemas.microsoft.com/office/drawing/2014/main" id="{FDEFDF11-2F4A-4C44-BA8E-361ACEEA90A3}"/>
              </a:ext>
            </a:extLst>
          </p:cNvPr>
          <p:cNvSpPr>
            <a:spLocks noGrp="1"/>
          </p:cNvSpPr>
          <p:nvPr/>
        </p:nvSpPr>
        <p:spPr>
          <a:xfrm>
            <a:off x="781050" y="4191000"/>
            <a:ext cx="1219200" cy="228600"/>
          </a:xfrm>
          <a:prstGeom prst="rect">
            <a:avLst/>
          </a:prstGeom>
          <a:noFill/>
          <a:ln w="0">
            <a:noFill/>
            <a:prstDash val="solid"/>
          </a:ln>
        </p:spPr>
        <p:txBody>
          <a:bodyPr lIns="0" tIns="0" rIns="0" bIns="0" anchor="t">
            <a:noAutofit/>
          </a:bodyPr>
          <a:lstStyle/>
          <a:p>
            <a:pPr algn="l">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data/</a:t>
            </a:r>
          </a:p>
        </p:txBody>
      </p:sp>
      <p:sp>
        <p:nvSpPr>
          <p:cNvPr id="24" name="Rectangle 23">
            <a:extLst>
              <a:ext uri="{FF2B5EF4-FFF2-40B4-BE49-F238E27FC236}">
                <a16:creationId xmlns:a16="http://schemas.microsoft.com/office/drawing/2014/main" id="{65AA58D7-B245-4BBF-B868-0CBE22FE0EE3}"/>
              </a:ext>
            </a:extLst>
          </p:cNvPr>
          <p:cNvSpPr>
            <a:spLocks noGrp="1"/>
          </p:cNvSpPr>
          <p:nvPr/>
        </p:nvSpPr>
        <p:spPr>
          <a:xfrm>
            <a:off x="2076450" y="4152900"/>
            <a:ext cx="3009900" cy="342900"/>
          </a:xfrm>
          <a:prstGeom prst="rect">
            <a:avLst/>
          </a:prstGeom>
          <a:noFill/>
          <a:ln w="0">
            <a:noFill/>
            <a:prstDash val="solid"/>
          </a:ln>
        </p:spPr>
        <p:txBody>
          <a:bodyPr lIns="0" tIns="0" rIns="0" bIns="0" anchor="ctr">
            <a:noAutofit/>
          </a:bodyPr>
          <a:lstStyle/>
          <a:p>
            <a:pPr algn="l">
              <a:lnSpc>
                <a:spcPct val="100000"/>
              </a:lnSpc>
              <a:buNone/>
              <a:defRPr sz="1200" b="0">
                <a:solidFill>
                  <a:srgbClr val="3F4953"/>
                </a:solidFill>
                <a:latin typeface="Aptos"/>
                <a:ea typeface="Aptos"/>
                <a:cs typeface="Aptos"/>
              </a:defRPr>
            </a:pPr>
            <a:r>
              <a:rPr sz="1200" b="0">
                <a:solidFill>
                  <a:srgbClr val="3F4953"/>
                </a:solidFill>
                <a:latin typeface="Aptos"/>
                <a:ea typeface="Aptos"/>
                <a:cs typeface="Aptos"/>
              </a:rPr>
              <a:t>&lt;YYYYMMDD&gt; date-partitioned Parquet</a:t>
            </a:r>
          </a:p>
        </p:txBody>
      </p:sp>
      <p:sp>
        <p:nvSpPr>
          <p:cNvPr id="25" name="Rectangle 24">
            <a:extLst>
              <a:ext uri="{FF2B5EF4-FFF2-40B4-BE49-F238E27FC236}">
                <a16:creationId xmlns:a16="http://schemas.microsoft.com/office/drawing/2014/main" id="{2C9AFDFC-E261-417C-BF32-49A313CBDB07}"/>
              </a:ext>
            </a:extLst>
          </p:cNvPr>
          <p:cNvSpPr>
            <a:spLocks noGrp="1"/>
          </p:cNvSpPr>
          <p:nvPr/>
        </p:nvSpPr>
        <p:spPr>
          <a:xfrm>
            <a:off x="609600" y="4781550"/>
            <a:ext cx="1714500" cy="171450"/>
          </a:xfrm>
          <a:prstGeom prst="rect">
            <a:avLst/>
          </a:prstGeom>
          <a:noFill/>
          <a:ln w="0">
            <a:noFill/>
            <a:prstDash val="solid"/>
          </a:ln>
        </p:spPr>
        <p:txBody>
          <a:bodyPr lIns="0" tIns="0" rIns="0" bIns="0" anchor="t">
            <a:noAutofit/>
          </a:bodyPr>
          <a:lstStyle/>
          <a:p>
            <a:pPr algn="l">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INGESTION PATH</a:t>
            </a:r>
          </a:p>
        </p:txBody>
      </p:sp>
      <p:sp>
        <p:nvSpPr>
          <p:cNvPr id="26" name="Straight Connector 25">
            <a:extLst>
              <a:ext uri="{FF2B5EF4-FFF2-40B4-BE49-F238E27FC236}">
                <a16:creationId xmlns:a16="http://schemas.microsoft.com/office/drawing/2014/main" id="{ECCD4CCB-CB3F-4C6C-8EDC-84C386A85009}"/>
              </a:ext>
            </a:extLst>
          </p:cNvPr>
          <p:cNvSpPr>
            <a:spLocks noGrp="1"/>
          </p:cNvSpPr>
          <p:nvPr/>
        </p:nvSpPr>
        <p:spPr>
          <a:xfrm>
            <a:off x="1809750" y="5305425"/>
            <a:ext cx="247650" cy="0"/>
          </a:xfrm>
          <a:prstGeom prst="line">
            <a:avLst/>
          </a:prstGeom>
          <a:noFill/>
          <a:ln w="28575">
            <a:solidFill>
              <a:srgbClr val="D71E28"/>
            </a:solidFill>
            <a:prstDash val="solid"/>
          </a:ln>
        </p:spPr>
      </p:sp>
      <p:sp>
        <p:nvSpPr>
          <p:cNvPr id="27" name="Straight Connector 26">
            <a:extLst>
              <a:ext uri="{FF2B5EF4-FFF2-40B4-BE49-F238E27FC236}">
                <a16:creationId xmlns:a16="http://schemas.microsoft.com/office/drawing/2014/main" id="{4BF7F79B-E87E-4FA1-939C-CE512498B346}"/>
              </a:ext>
            </a:extLst>
          </p:cNvPr>
          <p:cNvSpPr>
            <a:spLocks noGrp="1"/>
          </p:cNvSpPr>
          <p:nvPr/>
        </p:nvSpPr>
        <p:spPr>
          <a:xfrm>
            <a:off x="3467100" y="5305425"/>
            <a:ext cx="247650" cy="0"/>
          </a:xfrm>
          <a:prstGeom prst="line">
            <a:avLst/>
          </a:prstGeom>
          <a:noFill/>
          <a:ln w="28575">
            <a:solidFill>
              <a:srgbClr val="D71E28"/>
            </a:solidFill>
            <a:prstDash val="solid"/>
          </a:ln>
        </p:spPr>
      </p:sp>
      <p:sp>
        <p:nvSpPr>
          <p:cNvPr id="28" name="Rectangle: Rounded Corners 27">
            <a:extLst>
              <a:ext uri="{FF2B5EF4-FFF2-40B4-BE49-F238E27FC236}">
                <a16:creationId xmlns:a16="http://schemas.microsoft.com/office/drawing/2014/main" id="{C1FEDBCB-4F37-4ED4-B8D0-29E797852119}"/>
              </a:ext>
            </a:extLst>
          </p:cNvPr>
          <p:cNvSpPr>
            <a:spLocks noGrp="1"/>
          </p:cNvSpPr>
          <p:nvPr/>
        </p:nvSpPr>
        <p:spPr>
          <a:xfrm>
            <a:off x="609600" y="5029200"/>
            <a:ext cx="1200150" cy="552450"/>
          </a:xfrm>
          <a:prstGeom prst="roundRect">
            <a:avLst>
              <a:gd name="adj" fmla="val 17241"/>
            </a:avLst>
          </a:prstGeom>
          <a:solidFill>
            <a:srgbClr val="FFFFFF"/>
          </a:solidFill>
          <a:ln w="9525">
            <a:solidFill>
              <a:srgbClr val="D7DCE2"/>
            </a:solidFill>
            <a:prstDash val="solid"/>
          </a:ln>
        </p:spPr>
      </p:sp>
      <p:sp>
        <p:nvSpPr>
          <p:cNvPr id="29" name="Rectangle 28">
            <a:extLst>
              <a:ext uri="{FF2B5EF4-FFF2-40B4-BE49-F238E27FC236}">
                <a16:creationId xmlns:a16="http://schemas.microsoft.com/office/drawing/2014/main" id="{7E3C9034-67BA-49F2-B95E-1FE8C3059542}"/>
              </a:ext>
            </a:extLst>
          </p:cNvPr>
          <p:cNvSpPr>
            <a:spLocks noGrp="1"/>
          </p:cNvSpPr>
          <p:nvPr/>
        </p:nvSpPr>
        <p:spPr>
          <a:xfrm>
            <a:off x="723900" y="5210175"/>
            <a:ext cx="971550" cy="190500"/>
          </a:xfrm>
          <a:prstGeom prst="rect">
            <a:avLst/>
          </a:prstGeom>
          <a:noFill/>
          <a:ln w="0">
            <a:noFill/>
            <a:prstDash val="solid"/>
          </a:ln>
        </p:spPr>
        <p:txBody>
          <a:bodyPr lIns="0" tIns="0" rIns="0" bIns="0" anchor="t">
            <a:noAutofit/>
          </a:bodyPr>
          <a:lstStyle/>
          <a:p>
            <a:pPr algn="ctr">
              <a:lnSpc>
                <a:spcPct val="100000"/>
              </a:lnSpc>
              <a:buNone/>
              <a:defRPr sz="1200" b="1">
                <a:solidFill>
                  <a:srgbClr val="20252B"/>
                </a:solidFill>
                <a:latin typeface="Aptos"/>
                <a:ea typeface="Aptos"/>
                <a:cs typeface="Aptos"/>
              </a:defRPr>
            </a:pPr>
            <a:r>
              <a:rPr sz="1200" b="1">
                <a:solidFill>
                  <a:srgbClr val="20252B"/>
                </a:solidFill>
                <a:latin typeface="Aptos"/>
                <a:ea typeface="Aptos"/>
                <a:cs typeface="Aptos"/>
              </a:rPr>
              <a:t>CSV / XLSX</a:t>
            </a:r>
          </a:p>
        </p:txBody>
      </p:sp>
      <p:sp>
        <p:nvSpPr>
          <p:cNvPr id="30" name="Rectangle: Rounded Corners 29">
            <a:extLst>
              <a:ext uri="{FF2B5EF4-FFF2-40B4-BE49-F238E27FC236}">
                <a16:creationId xmlns:a16="http://schemas.microsoft.com/office/drawing/2014/main" id="{2F40ED87-4AEC-4A58-8941-8F040C3A1F62}"/>
              </a:ext>
            </a:extLst>
          </p:cNvPr>
          <p:cNvSpPr>
            <a:spLocks noGrp="1"/>
          </p:cNvSpPr>
          <p:nvPr/>
        </p:nvSpPr>
        <p:spPr>
          <a:xfrm>
            <a:off x="2057400" y="5029200"/>
            <a:ext cx="1409700" cy="552450"/>
          </a:xfrm>
          <a:prstGeom prst="roundRect">
            <a:avLst>
              <a:gd name="adj" fmla="val 17241"/>
            </a:avLst>
          </a:prstGeom>
          <a:solidFill>
            <a:srgbClr val="FCEEEF"/>
          </a:solidFill>
          <a:ln w="9525">
            <a:solidFill>
              <a:srgbClr val="D71E28"/>
            </a:solidFill>
            <a:prstDash val="solid"/>
          </a:ln>
        </p:spPr>
      </p:sp>
      <p:sp>
        <p:nvSpPr>
          <p:cNvPr id="31" name="Rectangle 30">
            <a:extLst>
              <a:ext uri="{FF2B5EF4-FFF2-40B4-BE49-F238E27FC236}">
                <a16:creationId xmlns:a16="http://schemas.microsoft.com/office/drawing/2014/main" id="{C3C2DB80-4D9E-4206-B7E1-B41A464FB6E3}"/>
              </a:ext>
            </a:extLst>
          </p:cNvPr>
          <p:cNvSpPr>
            <a:spLocks noGrp="1"/>
          </p:cNvSpPr>
          <p:nvPr/>
        </p:nvSpPr>
        <p:spPr>
          <a:xfrm>
            <a:off x="2190750" y="5210175"/>
            <a:ext cx="1143000" cy="190500"/>
          </a:xfrm>
          <a:prstGeom prst="rect">
            <a:avLst/>
          </a:prstGeom>
          <a:noFill/>
          <a:ln w="0">
            <a:noFill/>
            <a:prstDash val="solid"/>
          </a:ln>
        </p:spPr>
        <p:txBody>
          <a:bodyPr lIns="0" tIns="0" rIns="0" bIns="0" anchor="t">
            <a:noAutofit/>
          </a:bodyPr>
          <a:lstStyle/>
          <a:p>
            <a:pPr algn="ctr">
              <a:lnSpc>
                <a:spcPct val="100000"/>
              </a:lnSpc>
              <a:buNone/>
              <a:defRPr sz="1200" b="1">
                <a:solidFill>
                  <a:srgbClr val="971B2F"/>
                </a:solidFill>
                <a:latin typeface="Aptos Mono"/>
                <a:ea typeface="Aptos Mono"/>
                <a:cs typeface="Aptos Mono"/>
              </a:defRPr>
            </a:pPr>
            <a:r>
              <a:rPr sz="1200" b="1">
                <a:solidFill>
                  <a:srgbClr val="971B2F"/>
                </a:solidFill>
                <a:latin typeface="Aptos Mono"/>
                <a:ea typeface="Aptos Mono"/>
                <a:cs typeface="Aptos Mono"/>
              </a:rPr>
              <a:t>ingest.py</a:t>
            </a:r>
          </a:p>
        </p:txBody>
      </p:sp>
      <p:sp>
        <p:nvSpPr>
          <p:cNvPr id="32" name="Rectangle: Rounded Corners 31">
            <a:extLst>
              <a:ext uri="{FF2B5EF4-FFF2-40B4-BE49-F238E27FC236}">
                <a16:creationId xmlns:a16="http://schemas.microsoft.com/office/drawing/2014/main" id="{7DCAE044-1797-41CD-B096-7FF751CD18D6}"/>
              </a:ext>
            </a:extLst>
          </p:cNvPr>
          <p:cNvSpPr>
            <a:spLocks noGrp="1"/>
          </p:cNvSpPr>
          <p:nvPr/>
        </p:nvSpPr>
        <p:spPr>
          <a:xfrm>
            <a:off x="3714750" y="5029200"/>
            <a:ext cx="1581150" cy="552450"/>
          </a:xfrm>
          <a:prstGeom prst="roundRect">
            <a:avLst>
              <a:gd name="adj" fmla="val 17241"/>
            </a:avLst>
          </a:prstGeom>
          <a:solidFill>
            <a:schemeClr val="accent6">
              <a:lumMod val="75000"/>
            </a:schemeClr>
          </a:solidFill>
          <a:ln w="9525">
            <a:solidFill>
              <a:srgbClr val="20252B"/>
            </a:solidFill>
            <a:prstDash val="solid"/>
          </a:ln>
        </p:spPr>
      </p:sp>
      <p:sp>
        <p:nvSpPr>
          <p:cNvPr id="33" name="Rectangle 32">
            <a:extLst>
              <a:ext uri="{FF2B5EF4-FFF2-40B4-BE49-F238E27FC236}">
                <a16:creationId xmlns:a16="http://schemas.microsoft.com/office/drawing/2014/main" id="{B7203AA7-DC97-42A7-896E-B2C5C1CC1A61}"/>
              </a:ext>
            </a:extLst>
          </p:cNvPr>
          <p:cNvSpPr>
            <a:spLocks noGrp="1"/>
          </p:cNvSpPr>
          <p:nvPr/>
        </p:nvSpPr>
        <p:spPr>
          <a:xfrm>
            <a:off x="3848100" y="5210175"/>
            <a:ext cx="1314450" cy="190500"/>
          </a:xfrm>
          <a:prstGeom prst="rect">
            <a:avLst/>
          </a:prstGeom>
          <a:noFill/>
          <a:ln w="0">
            <a:noFill/>
            <a:prstDash val="solid"/>
          </a:ln>
        </p:spPr>
        <p:txBody>
          <a:bodyPr lIns="0" tIns="0" rIns="0" bIns="0" anchor="t">
            <a:noAutofit/>
          </a:bodyPr>
          <a:lstStyle/>
          <a:p>
            <a:pPr algn="ctr">
              <a:lnSpc>
                <a:spcPct val="100000"/>
              </a:lnSpc>
              <a:buNone/>
              <a:defRPr sz="1200" b="1">
                <a:solidFill>
                  <a:srgbClr val="FFFFFF"/>
                </a:solidFill>
                <a:latin typeface="Aptos"/>
                <a:ea typeface="Aptos"/>
                <a:cs typeface="Aptos"/>
              </a:defRPr>
            </a:pPr>
            <a:r>
              <a:rPr sz="1200" b="1">
                <a:solidFill>
                  <a:srgbClr val="FFFFFF"/>
                </a:solidFill>
                <a:latin typeface="Aptos"/>
                <a:ea typeface="Aptos"/>
                <a:cs typeface="Aptos"/>
              </a:rPr>
              <a:t>dated Parquet</a:t>
            </a:r>
          </a:p>
        </p:txBody>
      </p:sp>
      <p:sp>
        <p:nvSpPr>
          <p:cNvPr id="34" name="Rectangle: Rounded Corners 33">
            <a:extLst>
              <a:ext uri="{FF2B5EF4-FFF2-40B4-BE49-F238E27FC236}">
                <a16:creationId xmlns:a16="http://schemas.microsoft.com/office/drawing/2014/main" id="{7DCDD751-BC3F-4C2E-80E4-7BB2CE96FED3}"/>
              </a:ext>
            </a:extLst>
          </p:cNvPr>
          <p:cNvSpPr>
            <a:spLocks noGrp="1"/>
          </p:cNvSpPr>
          <p:nvPr/>
        </p:nvSpPr>
        <p:spPr>
          <a:xfrm>
            <a:off x="609600" y="5753100"/>
            <a:ext cx="4686300" cy="419100"/>
          </a:xfrm>
          <a:prstGeom prst="roundRect">
            <a:avLst>
              <a:gd name="adj" fmla="val 18182"/>
            </a:avLst>
          </a:prstGeom>
          <a:solidFill>
            <a:srgbClr val="FFF8E0"/>
          </a:solidFill>
          <a:ln w="9525">
            <a:solidFill>
              <a:srgbClr val="FFCD41"/>
            </a:solidFill>
            <a:prstDash val="solid"/>
          </a:ln>
        </p:spPr>
      </p:sp>
      <p:sp>
        <p:nvSpPr>
          <p:cNvPr id="35" name="Rectangle 34">
            <a:extLst>
              <a:ext uri="{FF2B5EF4-FFF2-40B4-BE49-F238E27FC236}">
                <a16:creationId xmlns:a16="http://schemas.microsoft.com/office/drawing/2014/main" id="{D334ED51-9880-4131-8302-B29C565CC43A}"/>
              </a:ext>
            </a:extLst>
          </p:cNvPr>
          <p:cNvSpPr>
            <a:spLocks noGrp="1"/>
          </p:cNvSpPr>
          <p:nvPr/>
        </p:nvSpPr>
        <p:spPr>
          <a:xfrm>
            <a:off x="742950" y="5876925"/>
            <a:ext cx="4419600" cy="190500"/>
          </a:xfrm>
          <a:prstGeom prst="rect">
            <a:avLst/>
          </a:prstGeom>
          <a:noFill/>
          <a:ln w="0">
            <a:noFill/>
            <a:prstDash val="solid"/>
          </a:ln>
        </p:spPr>
        <p:txBody>
          <a:bodyPr lIns="0" tIns="0" rIns="0" bIns="0" anchor="t">
            <a:noAutofit/>
          </a:bodyPr>
          <a:lstStyle/>
          <a:p>
            <a:pPr algn="ctr">
              <a:lnSpc>
                <a:spcPct val="100000"/>
              </a:lnSpc>
              <a:buNone/>
              <a:defRPr sz="1125" b="1">
                <a:solidFill>
                  <a:srgbClr val="20252B"/>
                </a:solidFill>
                <a:latin typeface="Aptos Mono"/>
                <a:ea typeface="Aptos Mono"/>
                <a:cs typeface="Aptos Mono"/>
              </a:defRPr>
            </a:pPr>
            <a:r>
              <a:rPr sz="1125" b="1">
                <a:solidFill>
                  <a:srgbClr val="20252B"/>
                </a:solidFill>
                <a:latin typeface="Aptos Mono"/>
                <a:ea typeface="Aptos Mono"/>
                <a:cs typeface="Aptos Mono"/>
              </a:rPr>
              <a:t>Supporting files: app_config.py • config.yaml • pyproject.toml</a:t>
            </a:r>
          </a:p>
        </p:txBody>
      </p:sp>
      <p:sp>
        <p:nvSpPr>
          <p:cNvPr id="36" name="Rectangle 35">
            <a:extLst>
              <a:ext uri="{FF2B5EF4-FFF2-40B4-BE49-F238E27FC236}">
                <a16:creationId xmlns:a16="http://schemas.microsoft.com/office/drawing/2014/main" id="{34932CA2-77AE-4E8A-97D7-DAA68907A25E}"/>
              </a:ext>
            </a:extLst>
          </p:cNvPr>
          <p:cNvSpPr>
            <a:spLocks noGrp="1"/>
          </p:cNvSpPr>
          <p:nvPr/>
        </p:nvSpPr>
        <p:spPr>
          <a:xfrm>
            <a:off x="5810250" y="1524000"/>
            <a:ext cx="3048000" cy="190500"/>
          </a:xfrm>
          <a:prstGeom prst="rect">
            <a:avLst/>
          </a:prstGeom>
          <a:noFill/>
          <a:ln w="0">
            <a:noFill/>
            <a:prstDash val="solid"/>
          </a:ln>
        </p:spPr>
        <p:txBody>
          <a:bodyPr lIns="0" tIns="0" rIns="0" bIns="0" anchor="t">
            <a:noAutofit/>
          </a:bodyPr>
          <a:lstStyle/>
          <a:p>
            <a:pPr algn="l">
              <a:lnSpc>
                <a:spcPct val="100000"/>
              </a:lnSpc>
              <a:buNone/>
              <a:defRPr sz="975" b="1">
                <a:solidFill>
                  <a:srgbClr val="8A5A00"/>
                </a:solidFill>
                <a:latin typeface="Aptos"/>
                <a:ea typeface="Aptos"/>
                <a:cs typeface="Aptos"/>
              </a:defRPr>
            </a:pPr>
            <a:r>
              <a:rPr sz="975" b="1">
                <a:solidFill>
                  <a:srgbClr val="8A5A00"/>
                </a:solidFill>
                <a:latin typeface="Aptos"/>
                <a:ea typeface="Aptos"/>
                <a:cs typeface="Aptos"/>
              </a:rPr>
              <a:t>TOOL INVENTORY</a:t>
            </a:r>
          </a:p>
        </p:txBody>
      </p:sp>
      <p:sp>
        <p:nvSpPr>
          <p:cNvPr id="37" name="Rectangle: Rounded Corners 36">
            <a:extLst>
              <a:ext uri="{FF2B5EF4-FFF2-40B4-BE49-F238E27FC236}">
                <a16:creationId xmlns:a16="http://schemas.microsoft.com/office/drawing/2014/main" id="{C1C32FF4-1B14-4842-A652-C466AF01534B}"/>
              </a:ext>
            </a:extLst>
          </p:cNvPr>
          <p:cNvSpPr>
            <a:spLocks noGrp="1"/>
          </p:cNvSpPr>
          <p:nvPr/>
        </p:nvSpPr>
        <p:spPr>
          <a:xfrm>
            <a:off x="5810250" y="1809750"/>
            <a:ext cx="5467350" cy="914400"/>
          </a:xfrm>
          <a:prstGeom prst="roundRect">
            <a:avLst>
              <a:gd name="adj" fmla="val 12500"/>
            </a:avLst>
          </a:prstGeom>
          <a:solidFill>
            <a:srgbClr val="FCEEEF"/>
          </a:solidFill>
          <a:ln w="9525">
            <a:solidFill>
              <a:srgbClr val="D71E28"/>
            </a:solidFill>
            <a:prstDash val="solid"/>
          </a:ln>
        </p:spPr>
      </p:sp>
      <p:sp>
        <p:nvSpPr>
          <p:cNvPr id="38" name="Rectangle 37">
            <a:extLst>
              <a:ext uri="{FF2B5EF4-FFF2-40B4-BE49-F238E27FC236}">
                <a16:creationId xmlns:a16="http://schemas.microsoft.com/office/drawing/2014/main" id="{4D7261BC-D6A1-418F-9582-86BA4CF3A7D7}"/>
              </a:ext>
            </a:extLst>
          </p:cNvPr>
          <p:cNvSpPr>
            <a:spLocks noGrp="1"/>
          </p:cNvSpPr>
          <p:nvPr/>
        </p:nvSpPr>
        <p:spPr>
          <a:xfrm>
            <a:off x="6000750" y="1943100"/>
            <a:ext cx="1562100" cy="209550"/>
          </a:xfrm>
          <a:prstGeom prst="rect">
            <a:avLst/>
          </a:prstGeom>
          <a:noFill/>
          <a:ln w="0">
            <a:noFill/>
            <a:prstDash val="solid"/>
          </a:ln>
        </p:spPr>
        <p:txBody>
          <a:bodyPr lIns="0" tIns="0" rIns="0" bIns="0" anchor="t">
            <a:noAutofit/>
          </a:bodyPr>
          <a:lstStyle/>
          <a:p>
            <a:pPr algn="l">
              <a:lnSpc>
                <a:spcPct val="100000"/>
              </a:lnSpc>
              <a:buNone/>
              <a:defRPr sz="1200" b="1">
                <a:solidFill>
                  <a:srgbClr val="D71E28"/>
                </a:solidFill>
                <a:latin typeface="Aptos"/>
                <a:ea typeface="Aptos"/>
                <a:cs typeface="Aptos"/>
              </a:defRPr>
            </a:pPr>
            <a:r>
              <a:rPr sz="1200" b="1">
                <a:solidFill>
                  <a:srgbClr val="D71E28"/>
                </a:solidFill>
                <a:latin typeface="Aptos"/>
                <a:ea typeface="Aptos"/>
                <a:cs typeface="Aptos"/>
              </a:rPr>
              <a:t>P0 CORE</a:t>
            </a:r>
          </a:p>
        </p:txBody>
      </p:sp>
      <p:sp>
        <p:nvSpPr>
          <p:cNvPr id="39" name="Rectangle 38">
            <a:extLst>
              <a:ext uri="{FF2B5EF4-FFF2-40B4-BE49-F238E27FC236}">
                <a16:creationId xmlns:a16="http://schemas.microsoft.com/office/drawing/2014/main" id="{8306B34A-D11D-4F48-B9AC-491139D2A216}"/>
              </a:ext>
            </a:extLst>
          </p:cNvPr>
          <p:cNvSpPr>
            <a:spLocks noGrp="1"/>
          </p:cNvSpPr>
          <p:nvPr/>
        </p:nvSpPr>
        <p:spPr>
          <a:xfrm>
            <a:off x="7677150" y="1924050"/>
            <a:ext cx="3352800" cy="647700"/>
          </a:xfrm>
          <a:prstGeom prst="rect">
            <a:avLst/>
          </a:prstGeom>
          <a:noFill/>
          <a:ln w="0">
            <a:noFill/>
            <a:prstDash val="solid"/>
          </a:ln>
        </p:spPr>
        <p:txBody>
          <a:bodyPr lIns="0" tIns="0" rIns="0" bIns="0" anchor="t">
            <a:noAutofit/>
          </a:bodyPr>
          <a:lstStyle/>
          <a:p>
            <a:pPr algn="l">
              <a:lnSpc>
                <a:spcPct val="102000"/>
              </a:lnSpc>
              <a:buNone/>
              <a:defRPr sz="1200" b="1">
                <a:solidFill>
                  <a:srgbClr val="3F4953"/>
                </a:solidFill>
                <a:latin typeface="Aptos Mono"/>
                <a:ea typeface="Aptos Mono"/>
                <a:cs typeface="Aptos Mono"/>
              </a:defRPr>
            </a:pPr>
            <a:r>
              <a:rPr sz="1200" b="1">
                <a:solidFill>
                  <a:srgbClr val="3F4953"/>
                </a:solidFill>
                <a:latin typeface="Aptos Mono"/>
                <a:ea typeface="Aptos Mono"/>
                <a:cs typeface="Aptos Mono"/>
              </a:rPr>
              <a:t>health_check • list_datasets • describe_table</a:t>
            </a:r>
          </a:p>
          <a:p>
            <a:pPr algn="l">
              <a:lnSpc>
                <a:spcPct val="102000"/>
              </a:lnSpc>
              <a:buNone/>
              <a:defRPr sz="1200" b="1">
                <a:solidFill>
                  <a:srgbClr val="3F4953"/>
                </a:solidFill>
                <a:latin typeface="Aptos Mono"/>
                <a:ea typeface="Aptos Mono"/>
                <a:cs typeface="Aptos Mono"/>
              </a:defRPr>
            </a:pPr>
            <a:r>
              <a:rPr sz="1200" b="1">
                <a:solidFill>
                  <a:srgbClr val="3F4953"/>
                </a:solidFill>
                <a:latin typeface="Aptos Mono"/>
                <a:ea typeface="Aptos Mono"/>
                <a:cs typeface="Aptos Mono"/>
              </a:rPr>
              <a:t>execute_custom_sql • list_instrument_types</a:t>
            </a:r>
          </a:p>
        </p:txBody>
      </p:sp>
      <p:sp>
        <p:nvSpPr>
          <p:cNvPr id="40" name="Rectangle: Rounded Corners 39">
            <a:extLst>
              <a:ext uri="{FF2B5EF4-FFF2-40B4-BE49-F238E27FC236}">
                <a16:creationId xmlns:a16="http://schemas.microsoft.com/office/drawing/2014/main" id="{5E1E5D91-BBED-4FDF-84A6-BAE4006E6325}"/>
              </a:ext>
            </a:extLst>
          </p:cNvPr>
          <p:cNvSpPr>
            <a:spLocks noGrp="1"/>
          </p:cNvSpPr>
          <p:nvPr/>
        </p:nvSpPr>
        <p:spPr>
          <a:xfrm>
            <a:off x="5810250" y="2933700"/>
            <a:ext cx="5467350" cy="914400"/>
          </a:xfrm>
          <a:prstGeom prst="roundRect">
            <a:avLst>
              <a:gd name="adj" fmla="val 12500"/>
            </a:avLst>
          </a:prstGeom>
          <a:solidFill>
            <a:srgbClr val="FFF8E0"/>
          </a:solidFill>
          <a:ln w="9525">
            <a:solidFill>
              <a:srgbClr val="8A5A00"/>
            </a:solidFill>
            <a:prstDash val="solid"/>
          </a:ln>
        </p:spPr>
      </p:sp>
      <p:sp>
        <p:nvSpPr>
          <p:cNvPr id="41" name="Rectangle 40">
            <a:extLst>
              <a:ext uri="{FF2B5EF4-FFF2-40B4-BE49-F238E27FC236}">
                <a16:creationId xmlns:a16="http://schemas.microsoft.com/office/drawing/2014/main" id="{0B925E9B-FD52-4EA7-9721-ADB41DC4919E}"/>
              </a:ext>
            </a:extLst>
          </p:cNvPr>
          <p:cNvSpPr>
            <a:spLocks noGrp="1"/>
          </p:cNvSpPr>
          <p:nvPr/>
        </p:nvSpPr>
        <p:spPr>
          <a:xfrm>
            <a:off x="6000750" y="3067050"/>
            <a:ext cx="1562100" cy="209550"/>
          </a:xfrm>
          <a:prstGeom prst="rect">
            <a:avLst/>
          </a:prstGeom>
          <a:noFill/>
          <a:ln w="0">
            <a:noFill/>
            <a:prstDash val="solid"/>
          </a:ln>
        </p:spPr>
        <p:txBody>
          <a:bodyPr lIns="0" tIns="0" rIns="0" bIns="0" anchor="t">
            <a:noAutofit/>
          </a:bodyPr>
          <a:lstStyle/>
          <a:p>
            <a:pPr algn="l">
              <a:lnSpc>
                <a:spcPct val="100000"/>
              </a:lnSpc>
              <a:buNone/>
              <a:defRPr sz="1200" b="1">
                <a:solidFill>
                  <a:srgbClr val="8A5A00"/>
                </a:solidFill>
                <a:latin typeface="Aptos"/>
                <a:ea typeface="Aptos"/>
                <a:cs typeface="Aptos"/>
              </a:defRPr>
            </a:pPr>
            <a:r>
              <a:rPr sz="1200" b="1">
                <a:solidFill>
                  <a:srgbClr val="8A5A00"/>
                </a:solidFill>
                <a:latin typeface="Aptos"/>
                <a:ea typeface="Aptos"/>
                <a:cs typeface="Aptos"/>
              </a:rPr>
              <a:t>P1 EXPLORATION</a:t>
            </a:r>
          </a:p>
        </p:txBody>
      </p:sp>
      <p:sp>
        <p:nvSpPr>
          <p:cNvPr id="42" name="Rectangle 41">
            <a:extLst>
              <a:ext uri="{FF2B5EF4-FFF2-40B4-BE49-F238E27FC236}">
                <a16:creationId xmlns:a16="http://schemas.microsoft.com/office/drawing/2014/main" id="{D12007C1-A4A2-4EC4-BBB4-05B182530058}"/>
              </a:ext>
            </a:extLst>
          </p:cNvPr>
          <p:cNvSpPr>
            <a:spLocks noGrp="1"/>
          </p:cNvSpPr>
          <p:nvPr/>
        </p:nvSpPr>
        <p:spPr>
          <a:xfrm>
            <a:off x="7677150" y="3048000"/>
            <a:ext cx="3352800" cy="647700"/>
          </a:xfrm>
          <a:prstGeom prst="rect">
            <a:avLst/>
          </a:prstGeom>
          <a:noFill/>
          <a:ln w="0">
            <a:noFill/>
            <a:prstDash val="solid"/>
          </a:ln>
        </p:spPr>
        <p:txBody>
          <a:bodyPr lIns="0" tIns="0" rIns="0" bIns="0" anchor="t">
            <a:noAutofit/>
          </a:bodyPr>
          <a:lstStyle/>
          <a:p>
            <a:pPr algn="l">
              <a:lnSpc>
                <a:spcPct val="102000"/>
              </a:lnSpc>
              <a:buNone/>
              <a:defRPr sz="1200" b="1">
                <a:solidFill>
                  <a:srgbClr val="3F4953"/>
                </a:solidFill>
                <a:latin typeface="Aptos Mono"/>
                <a:ea typeface="Aptos Mono"/>
                <a:cs typeface="Aptos Mono"/>
              </a:defRPr>
            </a:pPr>
            <a:r>
              <a:rPr sz="1200" b="1">
                <a:solidFill>
                  <a:srgbClr val="3F4953"/>
                </a:solidFill>
                <a:latin typeface="Aptos Mono"/>
                <a:ea typeface="Aptos Mono"/>
                <a:cs typeface="Aptos Mono"/>
              </a:rPr>
              <a:t>get_table_sample • search_tables • explain_query</a:t>
            </a:r>
          </a:p>
        </p:txBody>
      </p:sp>
      <p:sp>
        <p:nvSpPr>
          <p:cNvPr id="43" name="Rectangle: Rounded Corners 42">
            <a:extLst>
              <a:ext uri="{FF2B5EF4-FFF2-40B4-BE49-F238E27FC236}">
                <a16:creationId xmlns:a16="http://schemas.microsoft.com/office/drawing/2014/main" id="{F4908652-403F-4C1D-87D2-16399632058E}"/>
              </a:ext>
            </a:extLst>
          </p:cNvPr>
          <p:cNvSpPr>
            <a:spLocks noGrp="1"/>
          </p:cNvSpPr>
          <p:nvPr/>
        </p:nvSpPr>
        <p:spPr>
          <a:xfrm>
            <a:off x="5810250" y="4057650"/>
            <a:ext cx="5467350" cy="914400"/>
          </a:xfrm>
          <a:prstGeom prst="roundRect">
            <a:avLst>
              <a:gd name="adj" fmla="val 12500"/>
            </a:avLst>
          </a:prstGeom>
          <a:solidFill>
            <a:srgbClr val="EEF1F4"/>
          </a:solidFill>
          <a:ln w="9525">
            <a:solidFill>
              <a:srgbClr val="20252B"/>
            </a:solidFill>
            <a:prstDash val="solid"/>
          </a:ln>
        </p:spPr>
      </p:sp>
      <p:sp>
        <p:nvSpPr>
          <p:cNvPr id="44" name="Rectangle 43">
            <a:extLst>
              <a:ext uri="{FF2B5EF4-FFF2-40B4-BE49-F238E27FC236}">
                <a16:creationId xmlns:a16="http://schemas.microsoft.com/office/drawing/2014/main" id="{B00BC251-3F28-41BE-9732-C20A0733643C}"/>
              </a:ext>
            </a:extLst>
          </p:cNvPr>
          <p:cNvSpPr>
            <a:spLocks noGrp="1"/>
          </p:cNvSpPr>
          <p:nvPr/>
        </p:nvSpPr>
        <p:spPr>
          <a:xfrm>
            <a:off x="6000750" y="4191000"/>
            <a:ext cx="1562100" cy="209550"/>
          </a:xfrm>
          <a:prstGeom prst="rect">
            <a:avLst/>
          </a:prstGeom>
          <a:noFill/>
          <a:ln w="0">
            <a:noFill/>
            <a:prstDash val="solid"/>
          </a:ln>
        </p:spPr>
        <p:txBody>
          <a:bodyPr lIns="0" tIns="0" rIns="0" bIns="0" anchor="t">
            <a:noAutofit/>
          </a:bodyPr>
          <a:lstStyle/>
          <a:p>
            <a:pPr algn="l">
              <a:lnSpc>
                <a:spcPct val="100000"/>
              </a:lnSpc>
              <a:buNone/>
              <a:defRPr sz="1200" b="1">
                <a:solidFill>
                  <a:srgbClr val="20252B"/>
                </a:solidFill>
                <a:latin typeface="Aptos"/>
                <a:ea typeface="Aptos"/>
                <a:cs typeface="Aptos"/>
              </a:defRPr>
            </a:pPr>
            <a:r>
              <a:rPr sz="1200" b="1">
                <a:solidFill>
                  <a:srgbClr val="20252B"/>
                </a:solidFill>
                <a:latin typeface="Aptos"/>
                <a:ea typeface="Aptos"/>
                <a:cs typeface="Aptos"/>
              </a:rPr>
              <a:t>P2 ANALYTICS</a:t>
            </a:r>
          </a:p>
        </p:txBody>
      </p:sp>
      <p:sp>
        <p:nvSpPr>
          <p:cNvPr id="45" name="Rectangle 44">
            <a:extLst>
              <a:ext uri="{FF2B5EF4-FFF2-40B4-BE49-F238E27FC236}">
                <a16:creationId xmlns:a16="http://schemas.microsoft.com/office/drawing/2014/main" id="{F5BC7C52-651F-45EF-BD64-BB38C333A6D9}"/>
              </a:ext>
            </a:extLst>
          </p:cNvPr>
          <p:cNvSpPr>
            <a:spLocks noGrp="1"/>
          </p:cNvSpPr>
          <p:nvPr/>
        </p:nvSpPr>
        <p:spPr>
          <a:xfrm>
            <a:off x="7677150" y="4171950"/>
            <a:ext cx="3352800" cy="647700"/>
          </a:xfrm>
          <a:prstGeom prst="rect">
            <a:avLst/>
          </a:prstGeom>
          <a:noFill/>
          <a:ln w="0">
            <a:noFill/>
            <a:prstDash val="solid"/>
          </a:ln>
        </p:spPr>
        <p:txBody>
          <a:bodyPr lIns="0" tIns="0" rIns="0" bIns="0" anchor="t">
            <a:noAutofit/>
          </a:bodyPr>
          <a:lstStyle/>
          <a:p>
            <a:pPr algn="l">
              <a:lnSpc>
                <a:spcPct val="102000"/>
              </a:lnSpc>
              <a:buNone/>
              <a:defRPr sz="1200" b="1">
                <a:solidFill>
                  <a:srgbClr val="3F4953"/>
                </a:solidFill>
                <a:latin typeface="Aptos Mono"/>
                <a:ea typeface="Aptos Mono"/>
                <a:cs typeface="Aptos Mono"/>
              </a:defRPr>
            </a:pPr>
            <a:r>
              <a:rPr sz="1200" b="1">
                <a:solidFill>
                  <a:srgbClr val="3F4953"/>
                </a:solidFill>
                <a:latin typeface="Aptos Mono"/>
                <a:ea typeface="Aptos Mono"/>
                <a:cs typeface="Aptos Mono"/>
              </a:rPr>
              <a:t>get_row_count • get_distinct_values</a:t>
            </a:r>
          </a:p>
          <a:p>
            <a:pPr algn="l">
              <a:lnSpc>
                <a:spcPct val="102000"/>
              </a:lnSpc>
              <a:buNone/>
              <a:defRPr sz="1200" b="1">
                <a:solidFill>
                  <a:srgbClr val="3F4953"/>
                </a:solidFill>
                <a:latin typeface="Aptos Mono"/>
                <a:ea typeface="Aptos Mono"/>
                <a:cs typeface="Aptos Mono"/>
              </a:defRPr>
            </a:pPr>
            <a:r>
              <a:rPr sz="1200" b="1">
                <a:solidFill>
                  <a:srgbClr val="3F4953"/>
                </a:solidFill>
                <a:latin typeface="Aptos Mono"/>
                <a:ea typeface="Aptos Mono"/>
                <a:cs typeface="Aptos Mono"/>
              </a:rPr>
              <a:t>get_column_stats • aggregate_table</a:t>
            </a:r>
          </a:p>
        </p:txBody>
      </p:sp>
      <p:sp>
        <p:nvSpPr>
          <p:cNvPr id="46" name="Rectangle 45">
            <a:extLst>
              <a:ext uri="{FF2B5EF4-FFF2-40B4-BE49-F238E27FC236}">
                <a16:creationId xmlns:a16="http://schemas.microsoft.com/office/drawing/2014/main" id="{C91B8AFD-0253-485D-93F2-B98A262119C5}"/>
              </a:ext>
            </a:extLst>
          </p:cNvPr>
          <p:cNvSpPr>
            <a:spLocks noGrp="1"/>
          </p:cNvSpPr>
          <p:nvPr/>
        </p:nvSpPr>
        <p:spPr>
          <a:xfrm>
            <a:off x="5810250" y="5314950"/>
            <a:ext cx="3048000" cy="190500"/>
          </a:xfrm>
          <a:prstGeom prst="rect">
            <a:avLst/>
          </a:prstGeom>
          <a:noFill/>
          <a:ln w="0">
            <a:noFill/>
            <a:prstDash val="solid"/>
          </a:ln>
        </p:spPr>
        <p:txBody>
          <a:bodyPr lIns="0" tIns="0" rIns="0" bIns="0" anchor="t">
            <a:noAutofit/>
          </a:bodyPr>
          <a:lstStyle/>
          <a:p>
            <a:pPr algn="l">
              <a:lnSpc>
                <a:spcPct val="100000"/>
              </a:lnSpc>
              <a:buNone/>
              <a:defRPr sz="975" b="1">
                <a:solidFill>
                  <a:srgbClr val="8A5A00"/>
                </a:solidFill>
                <a:latin typeface="Aptos"/>
                <a:ea typeface="Aptos"/>
                <a:cs typeface="Aptos"/>
              </a:defRPr>
            </a:pPr>
            <a:r>
              <a:rPr sz="975" b="1">
                <a:solidFill>
                  <a:srgbClr val="8A5A00"/>
                </a:solidFill>
                <a:latin typeface="Aptos"/>
                <a:ea typeface="Aptos"/>
                <a:cs typeface="Aptos"/>
              </a:rPr>
              <a:t>DEPENDENCIES</a:t>
            </a:r>
          </a:p>
        </p:txBody>
      </p:sp>
      <p:sp>
        <p:nvSpPr>
          <p:cNvPr id="47" name="Rectangle: Rounded Corners 46">
            <a:extLst>
              <a:ext uri="{FF2B5EF4-FFF2-40B4-BE49-F238E27FC236}">
                <a16:creationId xmlns:a16="http://schemas.microsoft.com/office/drawing/2014/main" id="{3E318A38-1E7A-411C-830D-EAB769D3C957}"/>
              </a:ext>
            </a:extLst>
          </p:cNvPr>
          <p:cNvSpPr>
            <a:spLocks noGrp="1"/>
          </p:cNvSpPr>
          <p:nvPr/>
        </p:nvSpPr>
        <p:spPr>
          <a:xfrm>
            <a:off x="5810250" y="5581650"/>
            <a:ext cx="5467350" cy="590550"/>
          </a:xfrm>
          <a:prstGeom prst="roundRect">
            <a:avLst>
              <a:gd name="adj" fmla="val 16129"/>
            </a:avLst>
          </a:prstGeom>
          <a:solidFill>
            <a:schemeClr val="accent6">
              <a:lumMod val="75000"/>
            </a:schemeClr>
          </a:solidFill>
          <a:ln w="9525">
            <a:solidFill>
              <a:srgbClr val="20252B"/>
            </a:solidFill>
            <a:prstDash val="solid"/>
          </a:ln>
        </p:spPr>
      </p:sp>
      <p:sp>
        <p:nvSpPr>
          <p:cNvPr id="48" name="Rectangle 47">
            <a:extLst>
              <a:ext uri="{FF2B5EF4-FFF2-40B4-BE49-F238E27FC236}">
                <a16:creationId xmlns:a16="http://schemas.microsoft.com/office/drawing/2014/main" id="{2788FC2D-873A-4CC5-B9D8-CDA06E9DBC6C}"/>
              </a:ext>
            </a:extLst>
          </p:cNvPr>
          <p:cNvSpPr>
            <a:spLocks noGrp="1"/>
          </p:cNvSpPr>
          <p:nvPr/>
        </p:nvSpPr>
        <p:spPr>
          <a:xfrm>
            <a:off x="5943600" y="5657850"/>
            <a:ext cx="5200650" cy="400050"/>
          </a:xfrm>
          <a:prstGeom prst="rect">
            <a:avLst/>
          </a:prstGeom>
          <a:noFill/>
          <a:ln w="0">
            <a:noFill/>
            <a:prstDash val="solid"/>
          </a:ln>
        </p:spPr>
        <p:txBody>
          <a:bodyPr lIns="0" tIns="0" rIns="0" bIns="0" anchor="ctr">
            <a:noAutofit/>
          </a:bodyPr>
          <a:lstStyle/>
          <a:p>
            <a:pPr algn="ctr">
              <a:lnSpc>
                <a:spcPct val="100000"/>
              </a:lnSpc>
              <a:buNone/>
              <a:defRPr sz="1200" b="1">
                <a:solidFill>
                  <a:srgbClr val="FFFFFF"/>
                </a:solidFill>
                <a:latin typeface="Aptos"/>
                <a:ea typeface="Aptos"/>
                <a:cs typeface="Aptos"/>
              </a:defRPr>
            </a:pPr>
            <a:r>
              <a:rPr sz="1200" b="1">
                <a:solidFill>
                  <a:srgbClr val="FFFFFF"/>
                </a:solidFill>
                <a:latin typeface="Aptos"/>
                <a:ea typeface="Aptos"/>
                <a:cs typeface="Aptos"/>
              </a:rPr>
              <a:t>FastMCP • DuckDB • pandas • PyArrow • openpyxl / python-calamine • PyYAML • sqlparse</a:t>
            </a:r>
          </a:p>
        </p:txBody>
      </p:sp>
    </p:spTree>
    <p:extLst>
      <p:ext uri="{BB962C8B-B14F-4D97-AF65-F5344CB8AC3E}">
        <p14:creationId xmlns:p14="http://schemas.microsoft.com/office/powerpoint/2010/main" val="151344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CBBB6BD1-8526-4891-9A1F-414347D47640}"/>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C291A418-45CD-4C21-9566-4BDD5387A58B}"/>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8A5A00"/>
                </a:solidFill>
                <a:latin typeface="Aptos"/>
                <a:ea typeface="Aptos"/>
                <a:cs typeface="Aptos"/>
              </a:defRPr>
            </a:pPr>
            <a:r>
              <a:rPr sz="900" b="1">
                <a:solidFill>
                  <a:srgbClr val="8A5A00"/>
                </a:solidFill>
                <a:latin typeface="Aptos"/>
                <a:ea typeface="Aptos"/>
                <a:cs typeface="Aptos"/>
              </a:rPr>
              <a:t>APPENDIX</a:t>
            </a:r>
          </a:p>
        </p:txBody>
      </p:sp>
      <p:sp>
        <p:nvSpPr>
          <p:cNvPr id="3" name="Rectangle 2">
            <a:extLst>
              <a:ext uri="{FF2B5EF4-FFF2-40B4-BE49-F238E27FC236}">
                <a16:creationId xmlns:a16="http://schemas.microsoft.com/office/drawing/2014/main" id="{29A01889-67EF-4CE6-B2F3-5CB5E4503AFD}"/>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Data is normalized, dated, and written to Parquet</a:t>
            </a:r>
          </a:p>
        </p:txBody>
      </p:sp>
      <p:sp>
        <p:nvSpPr>
          <p:cNvPr id="4" name="Straight Connector 3">
            <a:extLst>
              <a:ext uri="{FF2B5EF4-FFF2-40B4-BE49-F238E27FC236}">
                <a16:creationId xmlns:a16="http://schemas.microsoft.com/office/drawing/2014/main" id="{ED06DE73-8748-4547-98C1-D46396D3B10A}"/>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69D99F59-4AE6-4CCB-8EF3-FFCDD0945C51}"/>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Q&amp;A reference</a:t>
            </a:r>
          </a:p>
        </p:txBody>
      </p:sp>
      <p:sp>
        <p:nvSpPr>
          <p:cNvPr id="6" name="Rectangle 5">
            <a:extLst>
              <a:ext uri="{FF2B5EF4-FFF2-40B4-BE49-F238E27FC236}">
                <a16:creationId xmlns:a16="http://schemas.microsoft.com/office/drawing/2014/main" id="{45244DC0-5FEB-4C4B-8B91-9327FA92CBCA}"/>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8A5A00"/>
                </a:solidFill>
                <a:latin typeface="Aptos"/>
                <a:ea typeface="Aptos"/>
                <a:cs typeface="Aptos"/>
              </a:defRPr>
            </a:pPr>
            <a:r>
              <a:rPr sz="825" b="1">
                <a:solidFill>
                  <a:srgbClr val="8A5A00"/>
                </a:solidFill>
                <a:latin typeface="Aptos"/>
                <a:ea typeface="Aptos"/>
                <a:cs typeface="Aptos"/>
              </a:rPr>
              <a:t>15</a:t>
            </a:r>
          </a:p>
        </p:txBody>
      </p:sp>
      <p:sp>
        <p:nvSpPr>
          <p:cNvPr id="7" name="Rectangle 6">
            <a:extLst>
              <a:ext uri="{FF2B5EF4-FFF2-40B4-BE49-F238E27FC236}">
                <a16:creationId xmlns:a16="http://schemas.microsoft.com/office/drawing/2014/main" id="{34CAE2D9-9D47-4E7B-A2F8-B6AB7D24CA65}"/>
              </a:ext>
            </a:extLst>
          </p:cNvPr>
          <p:cNvSpPr>
            <a:spLocks noGrp="1"/>
          </p:cNvSpPr>
          <p:nvPr/>
        </p:nvSpPr>
        <p:spPr>
          <a:xfrm>
            <a:off x="609600" y="1104900"/>
            <a:ext cx="97155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The ingestion path turns configured CSV/XLSX files into consistent business-date partitions.</a:t>
            </a:r>
          </a:p>
        </p:txBody>
      </p:sp>
      <p:sp>
        <p:nvSpPr>
          <p:cNvPr id="8" name="Straight Connector 7">
            <a:extLst>
              <a:ext uri="{FF2B5EF4-FFF2-40B4-BE49-F238E27FC236}">
                <a16:creationId xmlns:a16="http://schemas.microsoft.com/office/drawing/2014/main" id="{6DCE5539-FD60-4A64-A1BC-ACE5D679BE35}"/>
              </a:ext>
            </a:extLst>
          </p:cNvPr>
          <p:cNvSpPr>
            <a:spLocks noGrp="1"/>
          </p:cNvSpPr>
          <p:nvPr/>
        </p:nvSpPr>
        <p:spPr>
          <a:xfrm>
            <a:off x="2381250" y="2743200"/>
            <a:ext cx="342900" cy="0"/>
          </a:xfrm>
          <a:prstGeom prst="line">
            <a:avLst/>
          </a:prstGeom>
          <a:noFill/>
          <a:ln w="28575">
            <a:solidFill>
              <a:srgbClr val="D71E28"/>
            </a:solidFill>
            <a:prstDash val="solid"/>
          </a:ln>
        </p:spPr>
      </p:sp>
      <p:sp>
        <p:nvSpPr>
          <p:cNvPr id="9" name="Straight Connector 8">
            <a:extLst>
              <a:ext uri="{FF2B5EF4-FFF2-40B4-BE49-F238E27FC236}">
                <a16:creationId xmlns:a16="http://schemas.microsoft.com/office/drawing/2014/main" id="{58AEDACD-551D-4BD8-BFBF-EE0E3D7440EF}"/>
              </a:ext>
            </a:extLst>
          </p:cNvPr>
          <p:cNvSpPr>
            <a:spLocks noGrp="1"/>
          </p:cNvSpPr>
          <p:nvPr/>
        </p:nvSpPr>
        <p:spPr>
          <a:xfrm>
            <a:off x="4572000" y="2743200"/>
            <a:ext cx="342900" cy="0"/>
          </a:xfrm>
          <a:prstGeom prst="line">
            <a:avLst/>
          </a:prstGeom>
          <a:noFill/>
          <a:ln w="28575">
            <a:solidFill>
              <a:srgbClr val="D71E28"/>
            </a:solidFill>
            <a:prstDash val="solid"/>
          </a:ln>
        </p:spPr>
      </p:sp>
      <p:sp>
        <p:nvSpPr>
          <p:cNvPr id="10" name="Straight Connector 9">
            <a:extLst>
              <a:ext uri="{FF2B5EF4-FFF2-40B4-BE49-F238E27FC236}">
                <a16:creationId xmlns:a16="http://schemas.microsoft.com/office/drawing/2014/main" id="{28C98E1B-734F-41BF-8C82-D67D0E6D9999}"/>
              </a:ext>
            </a:extLst>
          </p:cNvPr>
          <p:cNvSpPr>
            <a:spLocks noGrp="1"/>
          </p:cNvSpPr>
          <p:nvPr/>
        </p:nvSpPr>
        <p:spPr>
          <a:xfrm>
            <a:off x="6762750" y="2743200"/>
            <a:ext cx="342900" cy="0"/>
          </a:xfrm>
          <a:prstGeom prst="line">
            <a:avLst/>
          </a:prstGeom>
          <a:noFill/>
          <a:ln w="28575">
            <a:solidFill>
              <a:srgbClr val="D71E28"/>
            </a:solidFill>
            <a:prstDash val="solid"/>
          </a:ln>
        </p:spPr>
      </p:sp>
      <p:sp>
        <p:nvSpPr>
          <p:cNvPr id="11" name="Straight Connector 10">
            <a:extLst>
              <a:ext uri="{FF2B5EF4-FFF2-40B4-BE49-F238E27FC236}">
                <a16:creationId xmlns:a16="http://schemas.microsoft.com/office/drawing/2014/main" id="{64100F33-0FB4-4ED6-9708-223522ABD8BE}"/>
              </a:ext>
            </a:extLst>
          </p:cNvPr>
          <p:cNvSpPr>
            <a:spLocks noGrp="1"/>
          </p:cNvSpPr>
          <p:nvPr/>
        </p:nvSpPr>
        <p:spPr>
          <a:xfrm>
            <a:off x="8953500" y="2743200"/>
            <a:ext cx="342900" cy="0"/>
          </a:xfrm>
          <a:prstGeom prst="line">
            <a:avLst/>
          </a:prstGeom>
          <a:noFill/>
          <a:ln w="28575">
            <a:solidFill>
              <a:srgbClr val="D71E28"/>
            </a:solidFill>
            <a:prstDash val="solid"/>
          </a:ln>
        </p:spPr>
      </p:sp>
      <p:sp>
        <p:nvSpPr>
          <p:cNvPr id="12" name="Oval 11">
            <a:extLst>
              <a:ext uri="{FF2B5EF4-FFF2-40B4-BE49-F238E27FC236}">
                <a16:creationId xmlns:a16="http://schemas.microsoft.com/office/drawing/2014/main" id="{793A2B16-3A16-44A3-938A-CE1C74C7E997}"/>
              </a:ext>
            </a:extLst>
          </p:cNvPr>
          <p:cNvSpPr>
            <a:spLocks noGrp="1"/>
          </p:cNvSpPr>
          <p:nvPr/>
        </p:nvSpPr>
        <p:spPr>
          <a:xfrm>
            <a:off x="1323975" y="1581150"/>
            <a:ext cx="361950" cy="3619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3" name="Rectangle: Rounded Corners 12">
            <a:extLst>
              <a:ext uri="{FF2B5EF4-FFF2-40B4-BE49-F238E27FC236}">
                <a16:creationId xmlns:a16="http://schemas.microsoft.com/office/drawing/2014/main" id="{5C253112-B532-4C68-82B5-47E144FF93AA}"/>
              </a:ext>
            </a:extLst>
          </p:cNvPr>
          <p:cNvSpPr>
            <a:spLocks noGrp="1"/>
          </p:cNvSpPr>
          <p:nvPr/>
        </p:nvSpPr>
        <p:spPr>
          <a:xfrm>
            <a:off x="609600" y="2152650"/>
            <a:ext cx="1771650" cy="1200150"/>
          </a:xfrm>
          <a:prstGeom prst="roundRect">
            <a:avLst>
              <a:gd name="adj" fmla="val 9524"/>
            </a:avLst>
          </a:prstGeom>
          <a:solidFill>
            <a:srgbClr val="FFFFFF"/>
          </a:solidFill>
          <a:ln w="9525">
            <a:solidFill>
              <a:srgbClr val="D7DCE2"/>
            </a:solidFill>
            <a:prstDash val="solid"/>
          </a:ln>
        </p:spPr>
      </p:sp>
      <p:sp>
        <p:nvSpPr>
          <p:cNvPr id="14" name="Rectangle 13">
            <a:extLst>
              <a:ext uri="{FF2B5EF4-FFF2-40B4-BE49-F238E27FC236}">
                <a16:creationId xmlns:a16="http://schemas.microsoft.com/office/drawing/2014/main" id="{CB31C937-C232-4A6B-BDBB-3C74450CD3B2}"/>
              </a:ext>
            </a:extLst>
          </p:cNvPr>
          <p:cNvSpPr>
            <a:spLocks noGrp="1"/>
          </p:cNvSpPr>
          <p:nvPr/>
        </p:nvSpPr>
        <p:spPr>
          <a:xfrm>
            <a:off x="762000" y="2324100"/>
            <a:ext cx="1466850" cy="171450"/>
          </a:xfrm>
          <a:prstGeom prst="rect">
            <a:avLst/>
          </a:prstGeom>
          <a:noFill/>
          <a:ln w="0">
            <a:noFill/>
            <a:prstDash val="solid"/>
          </a:ln>
        </p:spPr>
        <p:txBody>
          <a:bodyPr lIns="0" tIns="0" rIns="0" bIns="0" anchor="t">
            <a:noAutofit/>
          </a:bodyPr>
          <a:lstStyle/>
          <a:p>
            <a:pPr algn="ctr">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RESOLVE</a:t>
            </a:r>
          </a:p>
        </p:txBody>
      </p:sp>
      <p:sp>
        <p:nvSpPr>
          <p:cNvPr id="15" name="Rectangle 14">
            <a:extLst>
              <a:ext uri="{FF2B5EF4-FFF2-40B4-BE49-F238E27FC236}">
                <a16:creationId xmlns:a16="http://schemas.microsoft.com/office/drawing/2014/main" id="{8A9B99A1-6C27-4946-8F3C-BA10C5515361}"/>
              </a:ext>
            </a:extLst>
          </p:cNvPr>
          <p:cNvSpPr>
            <a:spLocks noGrp="1"/>
          </p:cNvSpPr>
          <p:nvPr/>
        </p:nvSpPr>
        <p:spPr>
          <a:xfrm>
            <a:off x="762000" y="2686050"/>
            <a:ext cx="1466850" cy="514350"/>
          </a:xfrm>
          <a:prstGeom prst="rect">
            <a:avLst/>
          </a:prstGeom>
          <a:noFill/>
          <a:ln w="0">
            <a:noFill/>
            <a:prstDash val="solid"/>
          </a:ln>
        </p:spPr>
        <p:txBody>
          <a:bodyPr lIns="0" tIns="0" rIns="0" bIns="0" anchor="t">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Configured</a:t>
            </a:r>
          </a:p>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CSV / XLSX</a:t>
            </a:r>
          </a:p>
        </p:txBody>
      </p:sp>
      <p:sp>
        <p:nvSpPr>
          <p:cNvPr id="16" name="Oval 15">
            <a:extLst>
              <a:ext uri="{FF2B5EF4-FFF2-40B4-BE49-F238E27FC236}">
                <a16:creationId xmlns:a16="http://schemas.microsoft.com/office/drawing/2014/main" id="{08821FA4-6199-4561-8F07-645B419A84ED}"/>
              </a:ext>
            </a:extLst>
          </p:cNvPr>
          <p:cNvSpPr>
            <a:spLocks noGrp="1"/>
          </p:cNvSpPr>
          <p:nvPr/>
        </p:nvSpPr>
        <p:spPr>
          <a:xfrm>
            <a:off x="3514725" y="1581150"/>
            <a:ext cx="361950" cy="3619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7" name="Rectangle: Rounded Corners 16">
            <a:extLst>
              <a:ext uri="{FF2B5EF4-FFF2-40B4-BE49-F238E27FC236}">
                <a16:creationId xmlns:a16="http://schemas.microsoft.com/office/drawing/2014/main" id="{B05F5E83-52E4-4E38-9A34-9C72434DF318}"/>
              </a:ext>
            </a:extLst>
          </p:cNvPr>
          <p:cNvSpPr>
            <a:spLocks noGrp="1"/>
          </p:cNvSpPr>
          <p:nvPr/>
        </p:nvSpPr>
        <p:spPr>
          <a:xfrm>
            <a:off x="2800350" y="2152650"/>
            <a:ext cx="1771650" cy="1200150"/>
          </a:xfrm>
          <a:prstGeom prst="roundRect">
            <a:avLst>
              <a:gd name="adj" fmla="val 9524"/>
            </a:avLst>
          </a:prstGeom>
          <a:solidFill>
            <a:srgbClr val="FFFFFF"/>
          </a:solidFill>
          <a:ln w="9525">
            <a:solidFill>
              <a:srgbClr val="D7DCE2"/>
            </a:solidFill>
            <a:prstDash val="solid"/>
          </a:ln>
        </p:spPr>
      </p:sp>
      <p:sp>
        <p:nvSpPr>
          <p:cNvPr id="18" name="Rectangle 17">
            <a:extLst>
              <a:ext uri="{FF2B5EF4-FFF2-40B4-BE49-F238E27FC236}">
                <a16:creationId xmlns:a16="http://schemas.microsoft.com/office/drawing/2014/main" id="{EDC5D5C9-AE91-49FB-A065-DBC059D90CD1}"/>
              </a:ext>
            </a:extLst>
          </p:cNvPr>
          <p:cNvSpPr>
            <a:spLocks noGrp="1"/>
          </p:cNvSpPr>
          <p:nvPr/>
        </p:nvSpPr>
        <p:spPr>
          <a:xfrm>
            <a:off x="2952750" y="2324100"/>
            <a:ext cx="1466850" cy="171450"/>
          </a:xfrm>
          <a:prstGeom prst="rect">
            <a:avLst/>
          </a:prstGeom>
          <a:noFill/>
          <a:ln w="0">
            <a:noFill/>
            <a:prstDash val="solid"/>
          </a:ln>
        </p:spPr>
        <p:txBody>
          <a:bodyPr lIns="0" tIns="0" rIns="0" bIns="0" anchor="t">
            <a:noAutofit/>
          </a:bodyPr>
          <a:lstStyle/>
          <a:p>
            <a:pPr algn="ctr">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NORMALIZE</a:t>
            </a:r>
          </a:p>
        </p:txBody>
      </p:sp>
      <p:sp>
        <p:nvSpPr>
          <p:cNvPr id="19" name="Rectangle 18">
            <a:extLst>
              <a:ext uri="{FF2B5EF4-FFF2-40B4-BE49-F238E27FC236}">
                <a16:creationId xmlns:a16="http://schemas.microsoft.com/office/drawing/2014/main" id="{639BC2F6-EB38-4907-9112-7EA257C0411A}"/>
              </a:ext>
            </a:extLst>
          </p:cNvPr>
          <p:cNvSpPr>
            <a:spLocks noGrp="1"/>
          </p:cNvSpPr>
          <p:nvPr/>
        </p:nvSpPr>
        <p:spPr>
          <a:xfrm>
            <a:off x="2952750" y="2686050"/>
            <a:ext cx="1466850" cy="514350"/>
          </a:xfrm>
          <a:prstGeom prst="rect">
            <a:avLst/>
          </a:prstGeom>
          <a:noFill/>
          <a:ln w="0">
            <a:noFill/>
            <a:prstDash val="solid"/>
          </a:ln>
        </p:spPr>
        <p:txBody>
          <a:bodyPr lIns="0" tIns="0" rIns="0" bIns="0" anchor="t">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Column names</a:t>
            </a:r>
          </a:p>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and fields</a:t>
            </a:r>
          </a:p>
        </p:txBody>
      </p:sp>
      <p:sp>
        <p:nvSpPr>
          <p:cNvPr id="20" name="Oval 19">
            <a:extLst>
              <a:ext uri="{FF2B5EF4-FFF2-40B4-BE49-F238E27FC236}">
                <a16:creationId xmlns:a16="http://schemas.microsoft.com/office/drawing/2014/main" id="{91C8E548-871D-4D13-8122-A5AEC01A9532}"/>
              </a:ext>
            </a:extLst>
          </p:cNvPr>
          <p:cNvSpPr>
            <a:spLocks noGrp="1"/>
          </p:cNvSpPr>
          <p:nvPr/>
        </p:nvSpPr>
        <p:spPr>
          <a:xfrm>
            <a:off x="5705475" y="1581150"/>
            <a:ext cx="361950" cy="3619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1" name="Rectangle: Rounded Corners 20">
            <a:extLst>
              <a:ext uri="{FF2B5EF4-FFF2-40B4-BE49-F238E27FC236}">
                <a16:creationId xmlns:a16="http://schemas.microsoft.com/office/drawing/2014/main" id="{4E32093C-CCF1-4063-A155-3D552FF55D09}"/>
              </a:ext>
            </a:extLst>
          </p:cNvPr>
          <p:cNvSpPr>
            <a:spLocks noGrp="1"/>
          </p:cNvSpPr>
          <p:nvPr/>
        </p:nvSpPr>
        <p:spPr>
          <a:xfrm>
            <a:off x="4991100" y="2152650"/>
            <a:ext cx="1771650" cy="1200150"/>
          </a:xfrm>
          <a:prstGeom prst="roundRect">
            <a:avLst>
              <a:gd name="adj" fmla="val 9524"/>
            </a:avLst>
          </a:prstGeom>
          <a:solidFill>
            <a:srgbClr val="FFFFFF"/>
          </a:solidFill>
          <a:ln w="9525">
            <a:solidFill>
              <a:srgbClr val="D7DCE2"/>
            </a:solidFill>
            <a:prstDash val="solid"/>
          </a:ln>
        </p:spPr>
      </p:sp>
      <p:sp>
        <p:nvSpPr>
          <p:cNvPr id="22" name="Rectangle 21">
            <a:extLst>
              <a:ext uri="{FF2B5EF4-FFF2-40B4-BE49-F238E27FC236}">
                <a16:creationId xmlns:a16="http://schemas.microsoft.com/office/drawing/2014/main" id="{C074A32A-84CD-4F42-8B39-AD0388372DE5}"/>
              </a:ext>
            </a:extLst>
          </p:cNvPr>
          <p:cNvSpPr>
            <a:spLocks noGrp="1"/>
          </p:cNvSpPr>
          <p:nvPr/>
        </p:nvSpPr>
        <p:spPr>
          <a:xfrm>
            <a:off x="5143500" y="2324100"/>
            <a:ext cx="1466850" cy="171450"/>
          </a:xfrm>
          <a:prstGeom prst="rect">
            <a:avLst/>
          </a:prstGeom>
          <a:noFill/>
          <a:ln w="0">
            <a:noFill/>
            <a:prstDash val="solid"/>
          </a:ln>
        </p:spPr>
        <p:txBody>
          <a:bodyPr lIns="0" tIns="0" rIns="0" bIns="0" anchor="t">
            <a:noAutofit/>
          </a:bodyPr>
          <a:lstStyle/>
          <a:p>
            <a:pPr algn="ctr">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STANDARDIZE</a:t>
            </a:r>
          </a:p>
        </p:txBody>
      </p:sp>
      <p:sp>
        <p:nvSpPr>
          <p:cNvPr id="23" name="Rectangle 22">
            <a:extLst>
              <a:ext uri="{FF2B5EF4-FFF2-40B4-BE49-F238E27FC236}">
                <a16:creationId xmlns:a16="http://schemas.microsoft.com/office/drawing/2014/main" id="{EED2AB28-7AD8-4B59-BF7F-A7B5182968CA}"/>
              </a:ext>
            </a:extLst>
          </p:cNvPr>
          <p:cNvSpPr>
            <a:spLocks noGrp="1"/>
          </p:cNvSpPr>
          <p:nvPr/>
        </p:nvSpPr>
        <p:spPr>
          <a:xfrm>
            <a:off x="5143500" y="2686050"/>
            <a:ext cx="1466850" cy="514350"/>
          </a:xfrm>
          <a:prstGeom prst="rect">
            <a:avLst/>
          </a:prstGeom>
          <a:noFill/>
          <a:ln w="0">
            <a:noFill/>
            <a:prstDash val="solid"/>
          </a:ln>
        </p:spPr>
        <p:txBody>
          <a:bodyPr lIns="0" tIns="0" rIns="0" bIns="0" anchor="t">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Dates as</a:t>
            </a:r>
          </a:p>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YYYYMMDD</a:t>
            </a:r>
          </a:p>
        </p:txBody>
      </p:sp>
      <p:sp>
        <p:nvSpPr>
          <p:cNvPr id="24" name="Oval 23">
            <a:extLst>
              <a:ext uri="{FF2B5EF4-FFF2-40B4-BE49-F238E27FC236}">
                <a16:creationId xmlns:a16="http://schemas.microsoft.com/office/drawing/2014/main" id="{CF3C86F1-66F1-4311-B0F6-CA8DFA3BA2F8}"/>
              </a:ext>
            </a:extLst>
          </p:cNvPr>
          <p:cNvSpPr>
            <a:spLocks noGrp="1"/>
          </p:cNvSpPr>
          <p:nvPr/>
        </p:nvSpPr>
        <p:spPr>
          <a:xfrm>
            <a:off x="7896225" y="1581150"/>
            <a:ext cx="361950" cy="361950"/>
          </a:xfrm>
          <a:prstGeom prst="ellipse">
            <a:avLst/>
          </a:prstGeom>
          <a:solidFill>
            <a:srgbClr val="D71E28"/>
          </a:solidFill>
          <a:ln w="9525">
            <a:solidFill>
              <a:srgbClr val="D71E28"/>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25" name="Rectangle: Rounded Corners 24">
            <a:extLst>
              <a:ext uri="{FF2B5EF4-FFF2-40B4-BE49-F238E27FC236}">
                <a16:creationId xmlns:a16="http://schemas.microsoft.com/office/drawing/2014/main" id="{D4E9FBE6-9641-4B46-8C87-0E2E0D7D1144}"/>
              </a:ext>
            </a:extLst>
          </p:cNvPr>
          <p:cNvSpPr>
            <a:spLocks noGrp="1"/>
          </p:cNvSpPr>
          <p:nvPr/>
        </p:nvSpPr>
        <p:spPr>
          <a:xfrm>
            <a:off x="7181850" y="2152650"/>
            <a:ext cx="1771650" cy="1200150"/>
          </a:xfrm>
          <a:prstGeom prst="roundRect">
            <a:avLst>
              <a:gd name="adj" fmla="val 9524"/>
            </a:avLst>
          </a:prstGeom>
          <a:solidFill>
            <a:srgbClr val="FFFFFF"/>
          </a:solidFill>
          <a:ln w="9525">
            <a:solidFill>
              <a:srgbClr val="D7DCE2"/>
            </a:solidFill>
            <a:prstDash val="solid"/>
          </a:ln>
        </p:spPr>
      </p:sp>
      <p:sp>
        <p:nvSpPr>
          <p:cNvPr id="26" name="Rectangle 25">
            <a:extLst>
              <a:ext uri="{FF2B5EF4-FFF2-40B4-BE49-F238E27FC236}">
                <a16:creationId xmlns:a16="http://schemas.microsoft.com/office/drawing/2014/main" id="{46C7AB74-5B6C-4B3C-898D-827791018D11}"/>
              </a:ext>
            </a:extLst>
          </p:cNvPr>
          <p:cNvSpPr>
            <a:spLocks noGrp="1"/>
          </p:cNvSpPr>
          <p:nvPr/>
        </p:nvSpPr>
        <p:spPr>
          <a:xfrm>
            <a:off x="7334250" y="2324100"/>
            <a:ext cx="1466850" cy="171450"/>
          </a:xfrm>
          <a:prstGeom prst="rect">
            <a:avLst/>
          </a:prstGeom>
          <a:noFill/>
          <a:ln w="0">
            <a:noFill/>
            <a:prstDash val="solid"/>
          </a:ln>
        </p:spPr>
        <p:txBody>
          <a:bodyPr lIns="0" tIns="0" rIns="0" bIns="0" anchor="t">
            <a:noAutofit/>
          </a:bodyPr>
          <a:lstStyle/>
          <a:p>
            <a:pPr algn="ctr">
              <a:lnSpc>
                <a:spcPct val="100000"/>
              </a:lnSpc>
              <a:buNone/>
              <a:defRPr sz="900" b="1">
                <a:solidFill>
                  <a:srgbClr val="971B2F"/>
                </a:solidFill>
                <a:latin typeface="Aptos"/>
                <a:ea typeface="Aptos"/>
                <a:cs typeface="Aptos"/>
              </a:defRPr>
            </a:pPr>
            <a:r>
              <a:rPr sz="900" b="1">
                <a:solidFill>
                  <a:srgbClr val="971B2F"/>
                </a:solidFill>
                <a:latin typeface="Aptos"/>
                <a:ea typeface="Aptos"/>
                <a:cs typeface="Aptos"/>
              </a:rPr>
              <a:t>ADD</a:t>
            </a:r>
          </a:p>
        </p:txBody>
      </p:sp>
      <p:sp>
        <p:nvSpPr>
          <p:cNvPr id="27" name="Rectangle 26">
            <a:extLst>
              <a:ext uri="{FF2B5EF4-FFF2-40B4-BE49-F238E27FC236}">
                <a16:creationId xmlns:a16="http://schemas.microsoft.com/office/drawing/2014/main" id="{B5BC40F4-FAB0-4F13-A693-97431B9CFFBA}"/>
              </a:ext>
            </a:extLst>
          </p:cNvPr>
          <p:cNvSpPr>
            <a:spLocks noGrp="1"/>
          </p:cNvSpPr>
          <p:nvPr/>
        </p:nvSpPr>
        <p:spPr>
          <a:xfrm>
            <a:off x="7334250" y="2686050"/>
            <a:ext cx="1466850" cy="514350"/>
          </a:xfrm>
          <a:prstGeom prst="rect">
            <a:avLst/>
          </a:prstGeom>
          <a:noFill/>
          <a:ln w="0">
            <a:noFill/>
            <a:prstDash val="solid"/>
          </a:ln>
        </p:spPr>
        <p:txBody>
          <a:bodyPr lIns="0" tIns="0" rIns="0" bIns="0" anchor="t">
            <a:noAutofit/>
          </a:bodyPr>
          <a:lstStyle/>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Business_Date</a:t>
            </a:r>
          </a:p>
          <a:p>
            <a:pPr algn="ctr">
              <a:lnSpc>
                <a:spcPct val="100000"/>
              </a:lnSpc>
              <a:buNone/>
              <a:defRPr sz="1275" b="1">
                <a:solidFill>
                  <a:srgbClr val="20252B"/>
                </a:solidFill>
                <a:latin typeface="Aptos"/>
                <a:ea typeface="Aptos"/>
                <a:cs typeface="Aptos"/>
              </a:defRPr>
            </a:pPr>
            <a:r>
              <a:rPr sz="1275" b="1">
                <a:solidFill>
                  <a:srgbClr val="20252B"/>
                </a:solidFill>
                <a:latin typeface="Aptos"/>
                <a:ea typeface="Aptos"/>
                <a:cs typeface="Aptos"/>
              </a:rPr>
              <a:t>to every row</a:t>
            </a:r>
          </a:p>
        </p:txBody>
      </p:sp>
      <p:sp>
        <p:nvSpPr>
          <p:cNvPr id="28" name="Oval 27">
            <a:extLst>
              <a:ext uri="{FF2B5EF4-FFF2-40B4-BE49-F238E27FC236}">
                <a16:creationId xmlns:a16="http://schemas.microsoft.com/office/drawing/2014/main" id="{140E2D2A-0978-4F84-8D8B-1B83AD385A25}"/>
              </a:ext>
            </a:extLst>
          </p:cNvPr>
          <p:cNvSpPr>
            <a:spLocks noGrp="1"/>
          </p:cNvSpPr>
          <p:nvPr/>
        </p:nvSpPr>
        <p:spPr>
          <a:xfrm>
            <a:off x="10086975" y="1581150"/>
            <a:ext cx="361950" cy="361950"/>
          </a:xfrm>
          <a:prstGeom prst="ellipse">
            <a:avLst/>
          </a:prstGeom>
          <a:solidFill>
            <a:schemeClr val="accent6">
              <a:lumMod val="75000"/>
            </a:schemeClr>
          </a:solidFill>
          <a:ln w="9525">
            <a:solidFill>
              <a:srgbClr val="20252B"/>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29" name="Rectangle: Rounded Corners 28">
            <a:extLst>
              <a:ext uri="{FF2B5EF4-FFF2-40B4-BE49-F238E27FC236}">
                <a16:creationId xmlns:a16="http://schemas.microsoft.com/office/drawing/2014/main" id="{97454660-DEE4-4FDA-9915-DC932A91FA86}"/>
              </a:ext>
            </a:extLst>
          </p:cNvPr>
          <p:cNvSpPr>
            <a:spLocks noGrp="1"/>
          </p:cNvSpPr>
          <p:nvPr/>
        </p:nvSpPr>
        <p:spPr>
          <a:xfrm>
            <a:off x="9372600" y="2152650"/>
            <a:ext cx="1771650" cy="1200150"/>
          </a:xfrm>
          <a:prstGeom prst="roundRect">
            <a:avLst>
              <a:gd name="adj" fmla="val 9524"/>
            </a:avLst>
          </a:prstGeom>
          <a:solidFill>
            <a:schemeClr val="accent6">
              <a:lumMod val="75000"/>
            </a:schemeClr>
          </a:solidFill>
          <a:ln w="9525">
            <a:solidFill>
              <a:srgbClr val="20252B"/>
            </a:solidFill>
            <a:prstDash val="solid"/>
          </a:ln>
        </p:spPr>
      </p:sp>
      <p:sp>
        <p:nvSpPr>
          <p:cNvPr id="30" name="Rectangle 29">
            <a:extLst>
              <a:ext uri="{FF2B5EF4-FFF2-40B4-BE49-F238E27FC236}">
                <a16:creationId xmlns:a16="http://schemas.microsoft.com/office/drawing/2014/main" id="{7D96AB2A-DB40-43E5-A43F-04CDEB180EE7}"/>
              </a:ext>
            </a:extLst>
          </p:cNvPr>
          <p:cNvSpPr>
            <a:spLocks noGrp="1"/>
          </p:cNvSpPr>
          <p:nvPr/>
        </p:nvSpPr>
        <p:spPr>
          <a:xfrm>
            <a:off x="9525000" y="2324100"/>
            <a:ext cx="1466850" cy="171450"/>
          </a:xfrm>
          <a:prstGeom prst="rect">
            <a:avLst/>
          </a:prstGeom>
          <a:noFill/>
          <a:ln w="0">
            <a:noFill/>
            <a:prstDash val="solid"/>
          </a:ln>
        </p:spPr>
        <p:txBody>
          <a:bodyPr lIns="0" tIns="0" rIns="0" bIns="0" anchor="t">
            <a:noAutofit/>
          </a:bodyPr>
          <a:lstStyle/>
          <a:p>
            <a:pPr algn="ctr">
              <a:lnSpc>
                <a:spcPct val="100000"/>
              </a:lnSpc>
              <a:buNone/>
              <a:defRPr sz="900" b="1">
                <a:solidFill>
                  <a:srgbClr val="FFCD41"/>
                </a:solidFill>
                <a:latin typeface="Aptos"/>
                <a:ea typeface="Aptos"/>
                <a:cs typeface="Aptos"/>
              </a:defRPr>
            </a:pPr>
            <a:r>
              <a:rPr sz="900" b="1">
                <a:solidFill>
                  <a:srgbClr val="FFCD41"/>
                </a:solidFill>
                <a:latin typeface="Aptos"/>
                <a:ea typeface="Aptos"/>
                <a:cs typeface="Aptos"/>
              </a:rPr>
              <a:t>WRITE</a:t>
            </a:r>
          </a:p>
        </p:txBody>
      </p:sp>
      <p:sp>
        <p:nvSpPr>
          <p:cNvPr id="31" name="Rectangle 30">
            <a:extLst>
              <a:ext uri="{FF2B5EF4-FFF2-40B4-BE49-F238E27FC236}">
                <a16:creationId xmlns:a16="http://schemas.microsoft.com/office/drawing/2014/main" id="{2B26FB12-F323-4D87-9ED2-9790B1E5122F}"/>
              </a:ext>
            </a:extLst>
          </p:cNvPr>
          <p:cNvSpPr>
            <a:spLocks noGrp="1"/>
          </p:cNvSpPr>
          <p:nvPr/>
        </p:nvSpPr>
        <p:spPr>
          <a:xfrm>
            <a:off x="9525000" y="2686050"/>
            <a:ext cx="1466850" cy="514350"/>
          </a:xfrm>
          <a:prstGeom prst="rect">
            <a:avLst/>
          </a:prstGeom>
          <a:noFill/>
          <a:ln w="0">
            <a:noFill/>
            <a:prstDash val="solid"/>
          </a:ln>
        </p:spPr>
        <p:txBody>
          <a:bodyPr lIns="0" tIns="0" rIns="0" bIns="0" anchor="t">
            <a:noAutofit/>
          </a:bodyPr>
          <a:lstStyle/>
          <a:p>
            <a:pPr algn="ctr">
              <a:lnSpc>
                <a:spcPct val="100000"/>
              </a:lnSpc>
              <a:buNone/>
              <a:defRPr sz="1275" b="1">
                <a:solidFill>
                  <a:srgbClr val="FFFFFF"/>
                </a:solidFill>
                <a:latin typeface="Aptos"/>
                <a:ea typeface="Aptos"/>
                <a:cs typeface="Aptos"/>
              </a:defRPr>
            </a:pPr>
            <a:r>
              <a:rPr sz="1275" b="1">
                <a:solidFill>
                  <a:srgbClr val="FFFFFF"/>
                </a:solidFill>
                <a:latin typeface="Aptos"/>
                <a:ea typeface="Aptos"/>
                <a:cs typeface="Aptos"/>
              </a:rPr>
              <a:t>data/&lt;date&gt;/</a:t>
            </a:r>
          </a:p>
          <a:p>
            <a:pPr algn="ctr">
              <a:lnSpc>
                <a:spcPct val="100000"/>
              </a:lnSpc>
              <a:buNone/>
              <a:defRPr sz="1275" b="1">
                <a:solidFill>
                  <a:srgbClr val="FFFFFF"/>
                </a:solidFill>
                <a:latin typeface="Aptos"/>
                <a:ea typeface="Aptos"/>
                <a:cs typeface="Aptos"/>
              </a:defRPr>
            </a:pPr>
            <a:r>
              <a:rPr sz="1275" b="1">
                <a:solidFill>
                  <a:srgbClr val="FFFFFF"/>
                </a:solidFill>
                <a:latin typeface="Aptos"/>
                <a:ea typeface="Aptos"/>
                <a:cs typeface="Aptos"/>
              </a:rPr>
              <a:t>Parquet</a:t>
            </a:r>
          </a:p>
        </p:txBody>
      </p:sp>
      <p:sp>
        <p:nvSpPr>
          <p:cNvPr id="32" name="Rectangle: Rounded Corners 31">
            <a:extLst>
              <a:ext uri="{FF2B5EF4-FFF2-40B4-BE49-F238E27FC236}">
                <a16:creationId xmlns:a16="http://schemas.microsoft.com/office/drawing/2014/main" id="{8432ABA7-5ADA-4F37-9099-8834A8CAF6CE}"/>
              </a:ext>
            </a:extLst>
          </p:cNvPr>
          <p:cNvSpPr>
            <a:spLocks noGrp="1"/>
          </p:cNvSpPr>
          <p:nvPr/>
        </p:nvSpPr>
        <p:spPr>
          <a:xfrm>
            <a:off x="609600" y="3857625"/>
            <a:ext cx="3143250" cy="1409700"/>
          </a:xfrm>
          <a:prstGeom prst="roundRect">
            <a:avLst>
              <a:gd name="adj" fmla="val 8108"/>
            </a:avLst>
          </a:prstGeom>
          <a:solidFill>
            <a:srgbClr val="FFFFFF"/>
          </a:solidFill>
          <a:ln w="9525">
            <a:solidFill>
              <a:srgbClr val="D7DCE2"/>
            </a:solidFill>
            <a:prstDash val="solid"/>
          </a:ln>
        </p:spPr>
      </p:sp>
      <p:sp>
        <p:nvSpPr>
          <p:cNvPr id="33" name="Rectangle 32">
            <a:extLst>
              <a:ext uri="{FF2B5EF4-FFF2-40B4-BE49-F238E27FC236}">
                <a16:creationId xmlns:a16="http://schemas.microsoft.com/office/drawing/2014/main" id="{AB36B8F4-2181-46FE-83F2-2CE59C0A2BCA}"/>
              </a:ext>
            </a:extLst>
          </p:cNvPr>
          <p:cNvSpPr>
            <a:spLocks noGrp="1"/>
          </p:cNvSpPr>
          <p:nvPr/>
        </p:nvSpPr>
        <p:spPr>
          <a:xfrm>
            <a:off x="609600" y="3857625"/>
            <a:ext cx="76200" cy="1409700"/>
          </a:xfrm>
          <a:prstGeom prst="rect">
            <a:avLst/>
          </a:prstGeom>
          <a:solidFill>
            <a:srgbClr val="D71E28"/>
          </a:solidFill>
          <a:ln w="9525">
            <a:solidFill>
              <a:srgbClr val="D71E28"/>
            </a:solidFill>
            <a:prstDash val="solid"/>
          </a:ln>
        </p:spPr>
      </p:sp>
      <p:sp>
        <p:nvSpPr>
          <p:cNvPr id="34" name="Rectangle 33">
            <a:extLst>
              <a:ext uri="{FF2B5EF4-FFF2-40B4-BE49-F238E27FC236}">
                <a16:creationId xmlns:a16="http://schemas.microsoft.com/office/drawing/2014/main" id="{4CD638D4-464C-41DB-ABED-242F2C4BECC7}"/>
              </a:ext>
            </a:extLst>
          </p:cNvPr>
          <p:cNvSpPr>
            <a:spLocks noGrp="1"/>
          </p:cNvSpPr>
          <p:nvPr/>
        </p:nvSpPr>
        <p:spPr>
          <a:xfrm>
            <a:off x="838200" y="4029075"/>
            <a:ext cx="2743200" cy="228600"/>
          </a:xfrm>
          <a:prstGeom prst="rect">
            <a:avLst/>
          </a:prstGeom>
          <a:noFill/>
          <a:ln w="0">
            <a:noFill/>
            <a:prstDash val="solid"/>
          </a:ln>
        </p:spPr>
        <p:txBody>
          <a:bodyPr lIns="0" tIns="0" rIns="0" bIns="0" anchor="t">
            <a:noAutofit/>
          </a:bodyPr>
          <a:lstStyle/>
          <a:p>
            <a:pPr algn="l">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DATA LOCATION</a:t>
            </a:r>
          </a:p>
        </p:txBody>
      </p:sp>
      <p:sp>
        <p:nvSpPr>
          <p:cNvPr id="35" name="Rectangle 34">
            <a:extLst>
              <a:ext uri="{FF2B5EF4-FFF2-40B4-BE49-F238E27FC236}">
                <a16:creationId xmlns:a16="http://schemas.microsoft.com/office/drawing/2014/main" id="{715B005B-FC6C-4BE2-B75B-ECC6AD01B3A9}"/>
              </a:ext>
            </a:extLst>
          </p:cNvPr>
          <p:cNvSpPr>
            <a:spLocks noGrp="1"/>
          </p:cNvSpPr>
          <p:nvPr/>
        </p:nvSpPr>
        <p:spPr>
          <a:xfrm>
            <a:off x="838200" y="4352925"/>
            <a:ext cx="2743200" cy="781050"/>
          </a:xfrm>
          <a:prstGeom prst="rect">
            <a:avLst/>
          </a:prstGeom>
          <a:noFill/>
          <a:ln w="0">
            <a:noFill/>
            <a:prstDash val="solid"/>
          </a:ln>
        </p:spPr>
        <p:txBody>
          <a:bodyPr lIns="0" tIns="0" rIns="0" bIns="0" anchor="t">
            <a:noAutofit/>
          </a:bodyPr>
          <a:lstStyle/>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data_dir: ./data</a:t>
            </a:r>
          </a:p>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Date folders: &lt;YYYYMMDD&gt;</a:t>
            </a:r>
          </a:p>
        </p:txBody>
      </p:sp>
      <p:sp>
        <p:nvSpPr>
          <p:cNvPr id="36" name="Rectangle: Rounded Corners 35">
            <a:extLst>
              <a:ext uri="{FF2B5EF4-FFF2-40B4-BE49-F238E27FC236}">
                <a16:creationId xmlns:a16="http://schemas.microsoft.com/office/drawing/2014/main" id="{14F83314-34A5-4913-9FF4-7B57AE6DE780}"/>
              </a:ext>
            </a:extLst>
          </p:cNvPr>
          <p:cNvSpPr>
            <a:spLocks noGrp="1"/>
          </p:cNvSpPr>
          <p:nvPr/>
        </p:nvSpPr>
        <p:spPr>
          <a:xfrm>
            <a:off x="4095750" y="3857625"/>
            <a:ext cx="3143250" cy="1409700"/>
          </a:xfrm>
          <a:prstGeom prst="roundRect">
            <a:avLst>
              <a:gd name="adj" fmla="val 8108"/>
            </a:avLst>
          </a:prstGeom>
          <a:solidFill>
            <a:srgbClr val="FFF8E0"/>
          </a:solidFill>
          <a:ln w="9525">
            <a:solidFill>
              <a:srgbClr val="D7DCE2"/>
            </a:solidFill>
            <a:prstDash val="solid"/>
          </a:ln>
        </p:spPr>
      </p:sp>
      <p:sp>
        <p:nvSpPr>
          <p:cNvPr id="37" name="Rectangle 36">
            <a:extLst>
              <a:ext uri="{FF2B5EF4-FFF2-40B4-BE49-F238E27FC236}">
                <a16:creationId xmlns:a16="http://schemas.microsoft.com/office/drawing/2014/main" id="{7BD40863-DE12-4422-AC97-CDB0985F9E80}"/>
              </a:ext>
            </a:extLst>
          </p:cNvPr>
          <p:cNvSpPr>
            <a:spLocks noGrp="1"/>
          </p:cNvSpPr>
          <p:nvPr/>
        </p:nvSpPr>
        <p:spPr>
          <a:xfrm>
            <a:off x="4095750" y="3857625"/>
            <a:ext cx="76200" cy="1409700"/>
          </a:xfrm>
          <a:prstGeom prst="rect">
            <a:avLst/>
          </a:prstGeom>
          <a:solidFill>
            <a:srgbClr val="8A5A00"/>
          </a:solidFill>
          <a:ln w="9525">
            <a:solidFill>
              <a:srgbClr val="8A5A00"/>
            </a:solidFill>
            <a:prstDash val="solid"/>
          </a:ln>
        </p:spPr>
      </p:sp>
      <p:sp>
        <p:nvSpPr>
          <p:cNvPr id="38" name="Rectangle 37">
            <a:extLst>
              <a:ext uri="{FF2B5EF4-FFF2-40B4-BE49-F238E27FC236}">
                <a16:creationId xmlns:a16="http://schemas.microsoft.com/office/drawing/2014/main" id="{7A77924E-44E4-42BC-86C2-6BF23199180B}"/>
              </a:ext>
            </a:extLst>
          </p:cNvPr>
          <p:cNvSpPr>
            <a:spLocks noGrp="1"/>
          </p:cNvSpPr>
          <p:nvPr/>
        </p:nvSpPr>
        <p:spPr>
          <a:xfrm>
            <a:off x="4324350" y="4029075"/>
            <a:ext cx="2743200" cy="228600"/>
          </a:xfrm>
          <a:prstGeom prst="rect">
            <a:avLst/>
          </a:prstGeom>
          <a:noFill/>
          <a:ln w="0">
            <a:noFill/>
            <a:prstDash val="solid"/>
          </a:ln>
        </p:spPr>
        <p:txBody>
          <a:bodyPr lIns="0" tIns="0" rIns="0" bIns="0" anchor="t">
            <a:noAutofit/>
          </a:bodyPr>
          <a:lstStyle/>
          <a:p>
            <a:pPr algn="l">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CONFIGURED LIMITS</a:t>
            </a:r>
          </a:p>
        </p:txBody>
      </p:sp>
      <p:sp>
        <p:nvSpPr>
          <p:cNvPr id="39" name="Rectangle 38">
            <a:extLst>
              <a:ext uri="{FF2B5EF4-FFF2-40B4-BE49-F238E27FC236}">
                <a16:creationId xmlns:a16="http://schemas.microsoft.com/office/drawing/2014/main" id="{D9DF219A-DCAA-49DD-A433-E50AED3C7A40}"/>
              </a:ext>
            </a:extLst>
          </p:cNvPr>
          <p:cNvSpPr>
            <a:spLocks noGrp="1"/>
          </p:cNvSpPr>
          <p:nvPr/>
        </p:nvSpPr>
        <p:spPr>
          <a:xfrm>
            <a:off x="4324350" y="4352925"/>
            <a:ext cx="2743200" cy="781050"/>
          </a:xfrm>
          <a:prstGeom prst="rect">
            <a:avLst/>
          </a:prstGeom>
          <a:noFill/>
          <a:ln w="0">
            <a:noFill/>
            <a:prstDash val="solid"/>
          </a:ln>
        </p:spPr>
        <p:txBody>
          <a:bodyPr lIns="0" tIns="0" rIns="0" bIns="0" anchor="t">
            <a:noAutofit/>
          </a:bodyPr>
          <a:lstStyle/>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default_max_rows: 1000</a:t>
            </a:r>
          </a:p>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hard_max_rows: 50000</a:t>
            </a:r>
          </a:p>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query_timeout_seconds: 30</a:t>
            </a:r>
          </a:p>
        </p:txBody>
      </p:sp>
      <p:sp>
        <p:nvSpPr>
          <p:cNvPr id="40" name="Rectangle: Rounded Corners 39">
            <a:extLst>
              <a:ext uri="{FF2B5EF4-FFF2-40B4-BE49-F238E27FC236}">
                <a16:creationId xmlns:a16="http://schemas.microsoft.com/office/drawing/2014/main" id="{1AB87091-8D10-4E75-B0D3-9AED6A1F694A}"/>
              </a:ext>
            </a:extLst>
          </p:cNvPr>
          <p:cNvSpPr>
            <a:spLocks noGrp="1"/>
          </p:cNvSpPr>
          <p:nvPr/>
        </p:nvSpPr>
        <p:spPr>
          <a:xfrm>
            <a:off x="7581900" y="3857625"/>
            <a:ext cx="3695700" cy="1409700"/>
          </a:xfrm>
          <a:prstGeom prst="roundRect">
            <a:avLst>
              <a:gd name="adj" fmla="val 8108"/>
            </a:avLst>
          </a:prstGeom>
          <a:solidFill>
            <a:srgbClr val="EEF1F4"/>
          </a:solidFill>
          <a:ln w="9525">
            <a:solidFill>
              <a:srgbClr val="D7DCE2"/>
            </a:solidFill>
            <a:prstDash val="solid"/>
          </a:ln>
        </p:spPr>
      </p:sp>
      <p:sp>
        <p:nvSpPr>
          <p:cNvPr id="41" name="Rectangle 40">
            <a:extLst>
              <a:ext uri="{FF2B5EF4-FFF2-40B4-BE49-F238E27FC236}">
                <a16:creationId xmlns:a16="http://schemas.microsoft.com/office/drawing/2014/main" id="{784A8A39-494E-479A-801D-BF5444F6E57C}"/>
              </a:ext>
            </a:extLst>
          </p:cNvPr>
          <p:cNvSpPr>
            <a:spLocks noGrp="1"/>
          </p:cNvSpPr>
          <p:nvPr/>
        </p:nvSpPr>
        <p:spPr>
          <a:xfrm>
            <a:off x="7581900" y="3857625"/>
            <a:ext cx="76200" cy="1409700"/>
          </a:xfrm>
          <a:prstGeom prst="rect">
            <a:avLst/>
          </a:prstGeom>
          <a:solidFill>
            <a:srgbClr val="20252B"/>
          </a:solidFill>
          <a:ln w="9525">
            <a:solidFill>
              <a:srgbClr val="20252B"/>
            </a:solidFill>
            <a:prstDash val="solid"/>
          </a:ln>
        </p:spPr>
      </p:sp>
      <p:sp>
        <p:nvSpPr>
          <p:cNvPr id="42" name="Rectangle 41">
            <a:extLst>
              <a:ext uri="{FF2B5EF4-FFF2-40B4-BE49-F238E27FC236}">
                <a16:creationId xmlns:a16="http://schemas.microsoft.com/office/drawing/2014/main" id="{FA940AC0-DBC0-4400-9A41-73908975CF3C}"/>
              </a:ext>
            </a:extLst>
          </p:cNvPr>
          <p:cNvSpPr>
            <a:spLocks noGrp="1"/>
          </p:cNvSpPr>
          <p:nvPr/>
        </p:nvSpPr>
        <p:spPr>
          <a:xfrm>
            <a:off x="7810500" y="4029075"/>
            <a:ext cx="3295650" cy="228600"/>
          </a:xfrm>
          <a:prstGeom prst="rect">
            <a:avLst/>
          </a:prstGeom>
          <a:noFill/>
          <a:ln w="0">
            <a:noFill/>
            <a:prstDash val="solid"/>
          </a:ln>
        </p:spPr>
        <p:txBody>
          <a:bodyPr lIns="0" tIns="0" rIns="0" bIns="0" anchor="t">
            <a:noAutofit/>
          </a:bodyPr>
          <a:lstStyle/>
          <a:p>
            <a:pPr algn="l">
              <a:lnSpc>
                <a:spcPct val="100000"/>
              </a:lnSpc>
              <a:buNone/>
              <a:defRPr sz="1350" b="1">
                <a:solidFill>
                  <a:srgbClr val="20252B"/>
                </a:solidFill>
                <a:latin typeface="Aptos"/>
                <a:ea typeface="Aptos"/>
                <a:cs typeface="Aptos"/>
              </a:defRPr>
            </a:pPr>
            <a:r>
              <a:rPr sz="1350" b="1">
                <a:solidFill>
                  <a:srgbClr val="20252B"/>
                </a:solidFill>
                <a:latin typeface="Aptos"/>
                <a:ea typeface="Aptos"/>
                <a:cs typeface="Aptos"/>
              </a:rPr>
              <a:t>SECURITY &amp; AUDIT</a:t>
            </a:r>
          </a:p>
        </p:txBody>
      </p:sp>
      <p:sp>
        <p:nvSpPr>
          <p:cNvPr id="43" name="Rectangle 42">
            <a:extLst>
              <a:ext uri="{FF2B5EF4-FFF2-40B4-BE49-F238E27FC236}">
                <a16:creationId xmlns:a16="http://schemas.microsoft.com/office/drawing/2014/main" id="{BA654976-F419-40B1-92C7-3E6A42479BD9}"/>
              </a:ext>
            </a:extLst>
          </p:cNvPr>
          <p:cNvSpPr>
            <a:spLocks noGrp="1"/>
          </p:cNvSpPr>
          <p:nvPr/>
        </p:nvSpPr>
        <p:spPr>
          <a:xfrm>
            <a:off x="7810500" y="4352925"/>
            <a:ext cx="3295650" cy="781050"/>
          </a:xfrm>
          <a:prstGeom prst="rect">
            <a:avLst/>
          </a:prstGeom>
          <a:noFill/>
          <a:ln w="0">
            <a:noFill/>
            <a:prstDash val="solid"/>
          </a:ln>
        </p:spPr>
        <p:txBody>
          <a:bodyPr lIns="0" tIns="0" rIns="0" bIns="0" anchor="t">
            <a:noAutofit/>
          </a:bodyPr>
          <a:lstStyle/>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allow_writes: false</a:t>
            </a:r>
          </a:p>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audit.enabled: true</a:t>
            </a:r>
          </a:p>
          <a:p>
            <a:pPr algn="l">
              <a:lnSpc>
                <a:spcPct val="108000"/>
              </a:lnSpc>
              <a:buNone/>
              <a:defRPr sz="1200" b="0">
                <a:solidFill>
                  <a:srgbClr val="3F4953"/>
                </a:solidFill>
                <a:latin typeface="Aptos"/>
                <a:ea typeface="Aptos"/>
                <a:cs typeface="Aptos"/>
              </a:defRPr>
            </a:pPr>
            <a:r>
              <a:rPr sz="1200" b="0">
                <a:solidFill>
                  <a:srgbClr val="3F4953"/>
                </a:solidFill>
                <a:latin typeface="Aptos"/>
                <a:ea typeface="Aptos"/>
                <a:cs typeface="Aptos"/>
              </a:rPr>
              <a:t>log_destination: stdout</a:t>
            </a:r>
          </a:p>
        </p:txBody>
      </p:sp>
      <p:sp>
        <p:nvSpPr>
          <p:cNvPr id="44" name="Rectangle: Rounded Corners 43">
            <a:extLst>
              <a:ext uri="{FF2B5EF4-FFF2-40B4-BE49-F238E27FC236}">
                <a16:creationId xmlns:a16="http://schemas.microsoft.com/office/drawing/2014/main" id="{A5FD502F-96D0-4EC5-B16B-E11083477F4C}"/>
              </a:ext>
            </a:extLst>
          </p:cNvPr>
          <p:cNvSpPr>
            <a:spLocks noGrp="1"/>
          </p:cNvSpPr>
          <p:nvPr/>
        </p:nvSpPr>
        <p:spPr>
          <a:xfrm>
            <a:off x="609600" y="5619750"/>
            <a:ext cx="10668000" cy="533400"/>
          </a:xfrm>
          <a:prstGeom prst="roundRect">
            <a:avLst>
              <a:gd name="adj" fmla="val 17857"/>
            </a:avLst>
          </a:prstGeom>
          <a:solidFill>
            <a:srgbClr val="FCEEEF"/>
          </a:solidFill>
          <a:ln w="9525">
            <a:solidFill>
              <a:srgbClr val="E9A8AD"/>
            </a:solidFill>
            <a:prstDash val="solid"/>
          </a:ln>
        </p:spPr>
      </p:sp>
      <p:sp>
        <p:nvSpPr>
          <p:cNvPr id="45" name="Rectangle 44">
            <a:extLst>
              <a:ext uri="{FF2B5EF4-FFF2-40B4-BE49-F238E27FC236}">
                <a16:creationId xmlns:a16="http://schemas.microsoft.com/office/drawing/2014/main" id="{8A93F63B-926F-41F3-822A-449729B4FE77}"/>
              </a:ext>
            </a:extLst>
          </p:cNvPr>
          <p:cNvSpPr>
            <a:spLocks noGrp="1"/>
          </p:cNvSpPr>
          <p:nvPr/>
        </p:nvSpPr>
        <p:spPr>
          <a:xfrm>
            <a:off x="819150" y="5781675"/>
            <a:ext cx="10248900" cy="228600"/>
          </a:xfrm>
          <a:prstGeom prst="rect">
            <a:avLst/>
          </a:prstGeom>
          <a:noFill/>
          <a:ln w="0">
            <a:noFill/>
            <a:prstDash val="solid"/>
          </a:ln>
        </p:spPr>
        <p:txBody>
          <a:bodyPr lIns="0" tIns="0" rIns="0" bIns="0" anchor="t">
            <a:noAutofit/>
          </a:bodyPr>
          <a:lstStyle/>
          <a:p>
            <a:pPr algn="ctr">
              <a:lnSpc>
                <a:spcPct val="100000"/>
              </a:lnSpc>
              <a:buNone/>
              <a:defRPr sz="1350" b="1">
                <a:solidFill>
                  <a:srgbClr val="971B2F"/>
                </a:solidFill>
                <a:latin typeface="Aptos"/>
                <a:ea typeface="Aptos"/>
                <a:cs typeface="Aptos"/>
              </a:defRPr>
            </a:pPr>
            <a:r>
              <a:rPr sz="1350" b="1">
                <a:solidFill>
                  <a:srgbClr val="971B2F"/>
                </a:solidFill>
                <a:latin typeface="Aptos"/>
                <a:ea typeface="Aptos"/>
                <a:cs typeface="Aptos"/>
              </a:rPr>
              <a:t>Why it matters: consistent fields and business dates make queries easier to scope, compare, and explain.</a:t>
            </a:r>
          </a:p>
        </p:txBody>
      </p:sp>
    </p:spTree>
    <p:extLst>
      <p:ext uri="{BB962C8B-B14F-4D97-AF65-F5344CB8AC3E}">
        <p14:creationId xmlns:p14="http://schemas.microsoft.com/office/powerpoint/2010/main" val="1436858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3B9493A3-9D73-43B0-B036-B71EE2EB32FB}"/>
              </a:ext>
            </a:extLst>
          </p:cNvPr>
          <p:cNvSpPr>
            <a:spLocks noGrp="1"/>
          </p:cNvSpPr>
          <p:nvPr/>
        </p:nvSpPr>
        <p:spPr>
          <a:xfrm>
            <a:off x="0" y="0"/>
            <a:ext cx="12192000" cy="76200"/>
          </a:xfrm>
          <a:prstGeom prst="rect">
            <a:avLst/>
          </a:prstGeom>
          <a:solidFill>
            <a:srgbClr val="D71E28"/>
          </a:solidFill>
          <a:ln w="9525">
            <a:solidFill>
              <a:srgbClr val="D71E28"/>
            </a:solidFill>
            <a:prstDash val="solid"/>
          </a:ln>
        </p:spPr>
      </p:sp>
      <p:sp>
        <p:nvSpPr>
          <p:cNvPr id="2" name="Rectangle 1">
            <a:extLst>
              <a:ext uri="{FF2B5EF4-FFF2-40B4-BE49-F238E27FC236}">
                <a16:creationId xmlns:a16="http://schemas.microsoft.com/office/drawing/2014/main" id="{267209DE-32BB-41B7-B389-F13B265908E7}"/>
              </a:ext>
            </a:extLst>
          </p:cNvPr>
          <p:cNvSpPr>
            <a:spLocks noGrp="1"/>
          </p:cNvSpPr>
          <p:nvPr/>
        </p:nvSpPr>
        <p:spPr>
          <a:xfrm>
            <a:off x="609600" y="295275"/>
            <a:ext cx="3429000" cy="171450"/>
          </a:xfrm>
          <a:prstGeom prst="rect">
            <a:avLst/>
          </a:prstGeom>
          <a:noFill/>
          <a:ln w="0">
            <a:noFill/>
            <a:prstDash val="solid"/>
          </a:ln>
        </p:spPr>
        <p:txBody>
          <a:bodyPr lIns="0" tIns="0" rIns="0" bIns="0" anchor="t">
            <a:noAutofit/>
          </a:bodyPr>
          <a:lstStyle/>
          <a:p>
            <a:pPr algn="l">
              <a:lnSpc>
                <a:spcPct val="100000"/>
              </a:lnSpc>
              <a:buNone/>
              <a:defRPr sz="900" b="1">
                <a:solidFill>
                  <a:srgbClr val="8A5A00"/>
                </a:solidFill>
                <a:latin typeface="Aptos"/>
                <a:ea typeface="Aptos"/>
                <a:cs typeface="Aptos"/>
              </a:defRPr>
            </a:pPr>
            <a:r>
              <a:rPr sz="900" b="1">
                <a:solidFill>
                  <a:srgbClr val="8A5A00"/>
                </a:solidFill>
                <a:latin typeface="Aptos"/>
                <a:ea typeface="Aptos"/>
                <a:cs typeface="Aptos"/>
              </a:rPr>
              <a:t>APPENDIX</a:t>
            </a:r>
          </a:p>
        </p:txBody>
      </p:sp>
      <p:sp>
        <p:nvSpPr>
          <p:cNvPr id="3" name="Rectangle 2">
            <a:extLst>
              <a:ext uri="{FF2B5EF4-FFF2-40B4-BE49-F238E27FC236}">
                <a16:creationId xmlns:a16="http://schemas.microsoft.com/office/drawing/2014/main" id="{45F2D28F-F880-40A2-B763-940847D7BC9E}"/>
              </a:ext>
            </a:extLst>
          </p:cNvPr>
          <p:cNvSpPr>
            <a:spLocks noGrp="1"/>
          </p:cNvSpPr>
          <p:nvPr/>
        </p:nvSpPr>
        <p:spPr>
          <a:xfrm>
            <a:off x="609600" y="533400"/>
            <a:ext cx="10839450" cy="476250"/>
          </a:xfrm>
          <a:prstGeom prst="rect">
            <a:avLst/>
          </a:prstGeom>
          <a:noFill/>
          <a:ln w="0">
            <a:noFill/>
            <a:prstDash val="solid"/>
          </a:ln>
        </p:spPr>
        <p:txBody>
          <a:bodyPr lIns="0" tIns="0" rIns="0" bIns="0" anchor="ctr">
            <a:noAutofit/>
          </a:bodyPr>
          <a:lstStyle/>
          <a:p>
            <a:pPr algn="l">
              <a:lnSpc>
                <a:spcPct val="100000"/>
              </a:lnSpc>
              <a:buNone/>
              <a:defRPr sz="2700" b="1">
                <a:solidFill>
                  <a:srgbClr val="20252B"/>
                </a:solidFill>
                <a:latin typeface="Aptos"/>
                <a:ea typeface="Aptos"/>
                <a:cs typeface="Aptos"/>
              </a:defRPr>
            </a:pPr>
            <a:r>
              <a:rPr sz="2700" b="1">
                <a:solidFill>
                  <a:srgbClr val="20252B"/>
                </a:solidFill>
                <a:latin typeface="Aptos"/>
                <a:ea typeface="Aptos"/>
                <a:cs typeface="Aptos"/>
              </a:rPr>
              <a:t>Principal-engineer questions and team ownership</a:t>
            </a:r>
          </a:p>
        </p:txBody>
      </p:sp>
      <p:sp>
        <p:nvSpPr>
          <p:cNvPr id="4" name="Straight Connector 3">
            <a:extLst>
              <a:ext uri="{FF2B5EF4-FFF2-40B4-BE49-F238E27FC236}">
                <a16:creationId xmlns:a16="http://schemas.microsoft.com/office/drawing/2014/main" id="{9798069F-7B17-4BA7-A6A0-EE5125430321}"/>
              </a:ext>
            </a:extLst>
          </p:cNvPr>
          <p:cNvSpPr>
            <a:spLocks noGrp="1"/>
          </p:cNvSpPr>
          <p:nvPr/>
        </p:nvSpPr>
        <p:spPr>
          <a:xfrm>
            <a:off x="609600" y="6419850"/>
            <a:ext cx="10972800" cy="0"/>
          </a:xfrm>
          <a:prstGeom prst="line">
            <a:avLst/>
          </a:prstGeom>
          <a:noFill/>
          <a:ln w="9525">
            <a:solidFill>
              <a:srgbClr val="D7DCE2"/>
            </a:solidFill>
            <a:prstDash val="solid"/>
          </a:ln>
        </p:spPr>
      </p:sp>
      <p:sp>
        <p:nvSpPr>
          <p:cNvPr id="5" name="Rectangle 4">
            <a:extLst>
              <a:ext uri="{FF2B5EF4-FFF2-40B4-BE49-F238E27FC236}">
                <a16:creationId xmlns:a16="http://schemas.microsoft.com/office/drawing/2014/main" id="{681392CF-8122-44C3-B006-D1F460350185}"/>
              </a:ext>
            </a:extLst>
          </p:cNvPr>
          <p:cNvSpPr>
            <a:spLocks noGrp="1"/>
          </p:cNvSpPr>
          <p:nvPr/>
        </p:nvSpPr>
        <p:spPr>
          <a:xfrm>
            <a:off x="609600" y="6515100"/>
            <a:ext cx="6096000" cy="152400"/>
          </a:xfrm>
          <a:prstGeom prst="rect">
            <a:avLst/>
          </a:prstGeom>
          <a:noFill/>
          <a:ln w="0">
            <a:noFill/>
            <a:prstDash val="solid"/>
          </a:ln>
        </p:spPr>
        <p:txBody>
          <a:bodyPr lIns="0" tIns="0" rIns="0" bIns="0" anchor="t">
            <a:noAutofit/>
          </a:bodyPr>
          <a:lstStyle/>
          <a:p>
            <a:pPr algn="l">
              <a:lnSpc>
                <a:spcPct val="100000"/>
              </a:lnSpc>
              <a:buNone/>
              <a:defRPr sz="750" b="0">
                <a:solidFill>
                  <a:srgbClr val="5D6772"/>
                </a:solidFill>
                <a:latin typeface="Aptos"/>
                <a:ea typeface="Aptos"/>
                <a:cs typeface="Aptos"/>
              </a:defRPr>
            </a:pPr>
            <a:r>
              <a:rPr sz="750" b="0">
                <a:solidFill>
                  <a:srgbClr val="5D6772"/>
                </a:solidFill>
                <a:latin typeface="Aptos"/>
                <a:ea typeface="Aptos"/>
                <a:cs typeface="Aptos"/>
              </a:rPr>
              <a:t>Q&amp;A reference</a:t>
            </a:r>
          </a:p>
        </p:txBody>
      </p:sp>
      <p:sp>
        <p:nvSpPr>
          <p:cNvPr id="6" name="Rectangle 5">
            <a:extLst>
              <a:ext uri="{FF2B5EF4-FFF2-40B4-BE49-F238E27FC236}">
                <a16:creationId xmlns:a16="http://schemas.microsoft.com/office/drawing/2014/main" id="{D5E25BA5-F64F-414F-B78D-6DA344C66FA0}"/>
              </a:ext>
            </a:extLst>
          </p:cNvPr>
          <p:cNvSpPr>
            <a:spLocks noGrp="1"/>
          </p:cNvSpPr>
          <p:nvPr/>
        </p:nvSpPr>
        <p:spPr>
          <a:xfrm>
            <a:off x="11106150" y="6496050"/>
            <a:ext cx="476250" cy="171450"/>
          </a:xfrm>
          <a:prstGeom prst="rect">
            <a:avLst/>
          </a:prstGeom>
          <a:noFill/>
          <a:ln w="0">
            <a:noFill/>
            <a:prstDash val="solid"/>
          </a:ln>
        </p:spPr>
        <p:txBody>
          <a:bodyPr lIns="0" tIns="0" rIns="0" bIns="0" anchor="t">
            <a:noAutofit/>
          </a:bodyPr>
          <a:lstStyle/>
          <a:p>
            <a:pPr algn="r">
              <a:lnSpc>
                <a:spcPct val="100000"/>
              </a:lnSpc>
              <a:buNone/>
              <a:defRPr sz="825" b="1">
                <a:solidFill>
                  <a:srgbClr val="8A5A00"/>
                </a:solidFill>
                <a:latin typeface="Aptos"/>
                <a:ea typeface="Aptos"/>
                <a:cs typeface="Aptos"/>
              </a:defRPr>
            </a:pPr>
            <a:r>
              <a:rPr sz="825" b="1">
                <a:solidFill>
                  <a:srgbClr val="8A5A00"/>
                </a:solidFill>
                <a:latin typeface="Aptos"/>
                <a:ea typeface="Aptos"/>
                <a:cs typeface="Aptos"/>
              </a:rPr>
              <a:t>16</a:t>
            </a:r>
          </a:p>
        </p:txBody>
      </p:sp>
      <p:sp>
        <p:nvSpPr>
          <p:cNvPr id="7" name="Rectangle 6">
            <a:extLst>
              <a:ext uri="{FF2B5EF4-FFF2-40B4-BE49-F238E27FC236}">
                <a16:creationId xmlns:a16="http://schemas.microsoft.com/office/drawing/2014/main" id="{38F822FD-97F6-430E-BB04-1655B3D2B0F5}"/>
              </a:ext>
            </a:extLst>
          </p:cNvPr>
          <p:cNvSpPr>
            <a:spLocks noGrp="1"/>
          </p:cNvSpPr>
          <p:nvPr/>
        </p:nvSpPr>
        <p:spPr>
          <a:xfrm>
            <a:off x="609600" y="1104900"/>
            <a:ext cx="10477500" cy="266700"/>
          </a:xfrm>
          <a:prstGeom prst="rect">
            <a:avLst/>
          </a:prstGeom>
          <a:noFill/>
          <a:ln w="0">
            <a:noFill/>
            <a:prstDash val="solid"/>
          </a:ln>
        </p:spPr>
        <p:txBody>
          <a:bodyPr lIns="0" tIns="0" rIns="0" bIns="0" anchor="t">
            <a:noAutofit/>
          </a:bodyPr>
          <a:lstStyle/>
          <a:p>
            <a:pPr algn="l">
              <a:lnSpc>
                <a:spcPct val="100000"/>
              </a:lnSpc>
              <a:buNone/>
              <a:defRPr sz="1425" b="0">
                <a:solidFill>
                  <a:srgbClr val="5D6772"/>
                </a:solidFill>
                <a:latin typeface="Aptos"/>
                <a:ea typeface="Aptos"/>
                <a:cs typeface="Aptos"/>
              </a:defRPr>
            </a:pPr>
            <a:r>
              <a:rPr sz="1425" b="0">
                <a:solidFill>
                  <a:srgbClr val="5D6772"/>
                </a:solidFill>
                <a:latin typeface="Aptos"/>
                <a:ea typeface="Aptos"/>
                <a:cs typeface="Aptos"/>
              </a:rPr>
              <a:t>Use the answer pattern: current design  →  control or rationale  →  validation or improvement item.</a:t>
            </a:r>
          </a:p>
        </p:txBody>
      </p:sp>
      <p:sp>
        <p:nvSpPr>
          <p:cNvPr id="8" name="Rectangle: Rounded Corners 7">
            <a:extLst>
              <a:ext uri="{FF2B5EF4-FFF2-40B4-BE49-F238E27FC236}">
                <a16:creationId xmlns:a16="http://schemas.microsoft.com/office/drawing/2014/main" id="{647C318D-DA89-475B-B564-5BADAD85AF05}"/>
              </a:ext>
            </a:extLst>
          </p:cNvPr>
          <p:cNvSpPr>
            <a:spLocks noGrp="1"/>
          </p:cNvSpPr>
          <p:nvPr/>
        </p:nvSpPr>
        <p:spPr>
          <a:xfrm>
            <a:off x="609600" y="1562100"/>
            <a:ext cx="3238500" cy="1200150"/>
          </a:xfrm>
          <a:prstGeom prst="roundRect">
            <a:avLst>
              <a:gd name="adj" fmla="val 9524"/>
            </a:avLst>
          </a:prstGeom>
          <a:solidFill>
            <a:srgbClr val="FFFFFF"/>
          </a:solidFill>
          <a:ln w="9525">
            <a:solidFill>
              <a:srgbClr val="D7DCE2"/>
            </a:solidFill>
            <a:prstDash val="solid"/>
          </a:ln>
        </p:spPr>
      </p:sp>
      <p:sp>
        <p:nvSpPr>
          <p:cNvPr id="9" name="Rectangle 8">
            <a:extLst>
              <a:ext uri="{FF2B5EF4-FFF2-40B4-BE49-F238E27FC236}">
                <a16:creationId xmlns:a16="http://schemas.microsoft.com/office/drawing/2014/main" id="{9D63A81F-262D-4B7A-8313-C559D4123809}"/>
              </a:ext>
            </a:extLst>
          </p:cNvPr>
          <p:cNvSpPr>
            <a:spLocks noGrp="1"/>
          </p:cNvSpPr>
          <p:nvPr/>
        </p:nvSpPr>
        <p:spPr>
          <a:xfrm>
            <a:off x="781050" y="1724025"/>
            <a:ext cx="2895600" cy="190500"/>
          </a:xfrm>
          <a:prstGeom prst="rect">
            <a:avLst/>
          </a:prstGeom>
          <a:noFill/>
          <a:ln w="0">
            <a:noFill/>
            <a:prstDash val="solid"/>
          </a:ln>
        </p:spPr>
        <p:txBody>
          <a:bodyPr lIns="0" tIns="0" rIns="0" bIns="0" anchor="t">
            <a:noAutofit/>
          </a:bodyPr>
          <a:lstStyle/>
          <a:p>
            <a:pPr algn="l">
              <a:lnSpc>
                <a:spcPct val="100000"/>
              </a:lnSpc>
              <a:buNone/>
              <a:defRPr sz="975" b="1">
                <a:solidFill>
                  <a:srgbClr val="971B2F"/>
                </a:solidFill>
                <a:latin typeface="Aptos"/>
                <a:ea typeface="Aptos"/>
                <a:cs typeface="Aptos"/>
              </a:defRPr>
            </a:pPr>
            <a:r>
              <a:rPr sz="975" b="1">
                <a:solidFill>
                  <a:srgbClr val="971B2F"/>
                </a:solidFill>
                <a:latin typeface="Aptos"/>
                <a:ea typeface="Aptos"/>
                <a:cs typeface="Aptos"/>
              </a:rPr>
              <a:t>WHY THIS APPROACH?</a:t>
            </a:r>
          </a:p>
        </p:txBody>
      </p:sp>
      <p:sp>
        <p:nvSpPr>
          <p:cNvPr id="10" name="Rectangle 9">
            <a:extLst>
              <a:ext uri="{FF2B5EF4-FFF2-40B4-BE49-F238E27FC236}">
                <a16:creationId xmlns:a16="http://schemas.microsoft.com/office/drawing/2014/main" id="{5F8150E0-8015-41F9-BF66-E4F68D34C4DC}"/>
              </a:ext>
            </a:extLst>
          </p:cNvPr>
          <p:cNvSpPr>
            <a:spLocks noGrp="1"/>
          </p:cNvSpPr>
          <p:nvPr/>
        </p:nvSpPr>
        <p:spPr>
          <a:xfrm>
            <a:off x="781050" y="2047875"/>
            <a:ext cx="2895600" cy="5524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Compare MCP with dashboards, direct SQL, and a centralized platform.</a:t>
            </a:r>
          </a:p>
        </p:txBody>
      </p:sp>
      <p:sp>
        <p:nvSpPr>
          <p:cNvPr id="11" name="Rectangle: Rounded Corners 10">
            <a:extLst>
              <a:ext uri="{FF2B5EF4-FFF2-40B4-BE49-F238E27FC236}">
                <a16:creationId xmlns:a16="http://schemas.microsoft.com/office/drawing/2014/main" id="{EFE12CF5-2A40-40D3-BC4F-67520DC84BBD}"/>
              </a:ext>
            </a:extLst>
          </p:cNvPr>
          <p:cNvSpPr>
            <a:spLocks noGrp="1"/>
          </p:cNvSpPr>
          <p:nvPr/>
        </p:nvSpPr>
        <p:spPr>
          <a:xfrm>
            <a:off x="4171950" y="1562100"/>
            <a:ext cx="3238500" cy="1200150"/>
          </a:xfrm>
          <a:prstGeom prst="roundRect">
            <a:avLst>
              <a:gd name="adj" fmla="val 9524"/>
            </a:avLst>
          </a:prstGeom>
          <a:solidFill>
            <a:srgbClr val="FFFFFF"/>
          </a:solidFill>
          <a:ln w="9525">
            <a:solidFill>
              <a:srgbClr val="D7DCE2"/>
            </a:solidFill>
            <a:prstDash val="solid"/>
          </a:ln>
        </p:spPr>
      </p:sp>
      <p:sp>
        <p:nvSpPr>
          <p:cNvPr id="12" name="Rectangle 11">
            <a:extLst>
              <a:ext uri="{FF2B5EF4-FFF2-40B4-BE49-F238E27FC236}">
                <a16:creationId xmlns:a16="http://schemas.microsoft.com/office/drawing/2014/main" id="{FAAEA946-DC70-4319-B076-FA5EDC0E4655}"/>
              </a:ext>
            </a:extLst>
          </p:cNvPr>
          <p:cNvSpPr>
            <a:spLocks noGrp="1"/>
          </p:cNvSpPr>
          <p:nvPr/>
        </p:nvSpPr>
        <p:spPr>
          <a:xfrm>
            <a:off x="4343400" y="1724025"/>
            <a:ext cx="2895600" cy="190500"/>
          </a:xfrm>
          <a:prstGeom prst="rect">
            <a:avLst/>
          </a:prstGeom>
          <a:noFill/>
          <a:ln w="0">
            <a:noFill/>
            <a:prstDash val="solid"/>
          </a:ln>
        </p:spPr>
        <p:txBody>
          <a:bodyPr lIns="0" tIns="0" rIns="0" bIns="0" anchor="t">
            <a:noAutofit/>
          </a:bodyPr>
          <a:lstStyle/>
          <a:p>
            <a:pPr algn="l">
              <a:lnSpc>
                <a:spcPct val="100000"/>
              </a:lnSpc>
              <a:buNone/>
              <a:defRPr sz="975" b="1">
                <a:solidFill>
                  <a:srgbClr val="971B2F"/>
                </a:solidFill>
                <a:latin typeface="Aptos"/>
                <a:ea typeface="Aptos"/>
                <a:cs typeface="Aptos"/>
              </a:defRPr>
            </a:pPr>
            <a:r>
              <a:rPr sz="975" b="1">
                <a:solidFill>
                  <a:srgbClr val="971B2F"/>
                </a:solidFill>
                <a:latin typeface="Aptos"/>
                <a:ea typeface="Aptos"/>
                <a:cs typeface="Aptos"/>
              </a:rPr>
              <a:t>HOW IS P&amp;L SELECTED?</a:t>
            </a:r>
          </a:p>
        </p:txBody>
      </p:sp>
      <p:sp>
        <p:nvSpPr>
          <p:cNvPr id="13" name="Rectangle 12">
            <a:extLst>
              <a:ext uri="{FF2B5EF4-FFF2-40B4-BE49-F238E27FC236}">
                <a16:creationId xmlns:a16="http://schemas.microsoft.com/office/drawing/2014/main" id="{09B5E4DA-96AC-4FFC-9F50-51436214C591}"/>
              </a:ext>
            </a:extLst>
          </p:cNvPr>
          <p:cNvSpPr>
            <a:spLocks noGrp="1"/>
          </p:cNvSpPr>
          <p:nvPr/>
        </p:nvSpPr>
        <p:spPr>
          <a:xfrm>
            <a:off x="4343400" y="2047875"/>
            <a:ext cx="2895600" cy="5524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Identify view, business date, grain, dataset, and documented join keys.</a:t>
            </a:r>
          </a:p>
        </p:txBody>
      </p:sp>
      <p:sp>
        <p:nvSpPr>
          <p:cNvPr id="14" name="Rectangle: Rounded Corners 13">
            <a:extLst>
              <a:ext uri="{FF2B5EF4-FFF2-40B4-BE49-F238E27FC236}">
                <a16:creationId xmlns:a16="http://schemas.microsoft.com/office/drawing/2014/main" id="{305D4A5D-1FE6-4976-83D6-7DE0BA128E40}"/>
              </a:ext>
            </a:extLst>
          </p:cNvPr>
          <p:cNvSpPr>
            <a:spLocks noGrp="1"/>
          </p:cNvSpPr>
          <p:nvPr/>
        </p:nvSpPr>
        <p:spPr>
          <a:xfrm>
            <a:off x="7734300" y="1562100"/>
            <a:ext cx="3238500" cy="1200150"/>
          </a:xfrm>
          <a:prstGeom prst="roundRect">
            <a:avLst>
              <a:gd name="adj" fmla="val 9524"/>
            </a:avLst>
          </a:prstGeom>
          <a:solidFill>
            <a:srgbClr val="FFFFFF"/>
          </a:solidFill>
          <a:ln w="9525">
            <a:solidFill>
              <a:srgbClr val="D7DCE2"/>
            </a:solidFill>
            <a:prstDash val="solid"/>
          </a:ln>
        </p:spPr>
      </p:sp>
      <p:sp>
        <p:nvSpPr>
          <p:cNvPr id="15" name="Rectangle 14">
            <a:extLst>
              <a:ext uri="{FF2B5EF4-FFF2-40B4-BE49-F238E27FC236}">
                <a16:creationId xmlns:a16="http://schemas.microsoft.com/office/drawing/2014/main" id="{1C13E485-6558-420D-9858-1B88DEFEA9F1}"/>
              </a:ext>
            </a:extLst>
          </p:cNvPr>
          <p:cNvSpPr>
            <a:spLocks noGrp="1"/>
          </p:cNvSpPr>
          <p:nvPr/>
        </p:nvSpPr>
        <p:spPr>
          <a:xfrm>
            <a:off x="7905750" y="1724025"/>
            <a:ext cx="2895600" cy="190500"/>
          </a:xfrm>
          <a:prstGeom prst="rect">
            <a:avLst/>
          </a:prstGeom>
          <a:noFill/>
          <a:ln w="0">
            <a:noFill/>
            <a:prstDash val="solid"/>
          </a:ln>
        </p:spPr>
        <p:txBody>
          <a:bodyPr lIns="0" tIns="0" rIns="0" bIns="0" anchor="t">
            <a:noAutofit/>
          </a:bodyPr>
          <a:lstStyle/>
          <a:p>
            <a:pPr algn="l">
              <a:lnSpc>
                <a:spcPct val="100000"/>
              </a:lnSpc>
              <a:buNone/>
              <a:defRPr sz="975" b="1">
                <a:solidFill>
                  <a:srgbClr val="971B2F"/>
                </a:solidFill>
                <a:latin typeface="Aptos"/>
                <a:ea typeface="Aptos"/>
                <a:cs typeface="Aptos"/>
              </a:defRPr>
            </a:pPr>
            <a:r>
              <a:rPr sz="975" b="1">
                <a:solidFill>
                  <a:srgbClr val="971B2F"/>
                </a:solidFill>
                <a:latin typeface="Aptos"/>
                <a:ea typeface="Aptos"/>
                <a:cs typeface="Aptos"/>
              </a:rPr>
              <a:t>WHY DUCKDB / PARQUET?</a:t>
            </a:r>
          </a:p>
        </p:txBody>
      </p:sp>
      <p:sp>
        <p:nvSpPr>
          <p:cNvPr id="16" name="Rectangle 15">
            <a:extLst>
              <a:ext uri="{FF2B5EF4-FFF2-40B4-BE49-F238E27FC236}">
                <a16:creationId xmlns:a16="http://schemas.microsoft.com/office/drawing/2014/main" id="{9292C77D-C2D1-4E03-927A-113C1AE7F628}"/>
              </a:ext>
            </a:extLst>
          </p:cNvPr>
          <p:cNvSpPr>
            <a:spLocks noGrp="1"/>
          </p:cNvSpPr>
          <p:nvPr/>
        </p:nvSpPr>
        <p:spPr>
          <a:xfrm>
            <a:off x="7905750" y="2047875"/>
            <a:ext cx="2895600" cy="5524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Explain the embedded analytical engine and dated file partitions.</a:t>
            </a:r>
          </a:p>
        </p:txBody>
      </p:sp>
      <p:sp>
        <p:nvSpPr>
          <p:cNvPr id="17" name="Rectangle: Rounded Corners 16">
            <a:extLst>
              <a:ext uri="{FF2B5EF4-FFF2-40B4-BE49-F238E27FC236}">
                <a16:creationId xmlns:a16="http://schemas.microsoft.com/office/drawing/2014/main" id="{397FAFFA-3B06-49C8-80D3-DF64479E3C98}"/>
              </a:ext>
            </a:extLst>
          </p:cNvPr>
          <p:cNvSpPr>
            <a:spLocks noGrp="1"/>
          </p:cNvSpPr>
          <p:nvPr/>
        </p:nvSpPr>
        <p:spPr>
          <a:xfrm>
            <a:off x="609600" y="3028950"/>
            <a:ext cx="3238500" cy="1200150"/>
          </a:xfrm>
          <a:prstGeom prst="roundRect">
            <a:avLst>
              <a:gd name="adj" fmla="val 9524"/>
            </a:avLst>
          </a:prstGeom>
          <a:solidFill>
            <a:srgbClr val="EEF1F4"/>
          </a:solidFill>
          <a:ln w="9525">
            <a:solidFill>
              <a:srgbClr val="D7DCE2"/>
            </a:solidFill>
            <a:prstDash val="solid"/>
          </a:ln>
        </p:spPr>
      </p:sp>
      <p:sp>
        <p:nvSpPr>
          <p:cNvPr id="18" name="Rectangle 17">
            <a:extLst>
              <a:ext uri="{FF2B5EF4-FFF2-40B4-BE49-F238E27FC236}">
                <a16:creationId xmlns:a16="http://schemas.microsoft.com/office/drawing/2014/main" id="{761064ED-3837-4B11-83A6-7303AF33B473}"/>
              </a:ext>
            </a:extLst>
          </p:cNvPr>
          <p:cNvSpPr>
            <a:spLocks noGrp="1"/>
          </p:cNvSpPr>
          <p:nvPr/>
        </p:nvSpPr>
        <p:spPr>
          <a:xfrm>
            <a:off x="781050" y="3190875"/>
            <a:ext cx="2895600" cy="190500"/>
          </a:xfrm>
          <a:prstGeom prst="rect">
            <a:avLst/>
          </a:prstGeom>
          <a:noFill/>
          <a:ln w="0">
            <a:noFill/>
            <a:prstDash val="solid"/>
          </a:ln>
        </p:spPr>
        <p:txBody>
          <a:bodyPr lIns="0" tIns="0" rIns="0" bIns="0" anchor="t">
            <a:noAutofit/>
          </a:bodyPr>
          <a:lstStyle/>
          <a:p>
            <a:pPr algn="l">
              <a:lnSpc>
                <a:spcPct val="100000"/>
              </a:lnSpc>
              <a:buNone/>
              <a:defRPr sz="975" b="1">
                <a:solidFill>
                  <a:srgbClr val="971B2F"/>
                </a:solidFill>
                <a:latin typeface="Aptos"/>
                <a:ea typeface="Aptos"/>
                <a:cs typeface="Aptos"/>
              </a:defRPr>
            </a:pPr>
            <a:r>
              <a:rPr sz="975" b="1">
                <a:solidFill>
                  <a:srgbClr val="971B2F"/>
                </a:solidFill>
                <a:latin typeface="Aptos"/>
                <a:ea typeface="Aptos"/>
                <a:cs typeface="Aptos"/>
              </a:rPr>
              <a:t>HOW IS SQL CONTROLLED?</a:t>
            </a:r>
          </a:p>
        </p:txBody>
      </p:sp>
      <p:sp>
        <p:nvSpPr>
          <p:cNvPr id="19" name="Rectangle 18">
            <a:extLst>
              <a:ext uri="{FF2B5EF4-FFF2-40B4-BE49-F238E27FC236}">
                <a16:creationId xmlns:a16="http://schemas.microsoft.com/office/drawing/2014/main" id="{D4DF73A0-752A-4B3E-9F05-DEC0B108CD17}"/>
              </a:ext>
            </a:extLst>
          </p:cNvPr>
          <p:cNvSpPr>
            <a:spLocks noGrp="1"/>
          </p:cNvSpPr>
          <p:nvPr/>
        </p:nvSpPr>
        <p:spPr>
          <a:xfrm>
            <a:off x="781050" y="3514725"/>
            <a:ext cx="2895600" cy="5524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Read-only mode, blocked operations, denied objects, limits, timeout, and audit.</a:t>
            </a:r>
          </a:p>
        </p:txBody>
      </p:sp>
      <p:sp>
        <p:nvSpPr>
          <p:cNvPr id="20" name="Rectangle: Rounded Corners 19">
            <a:extLst>
              <a:ext uri="{FF2B5EF4-FFF2-40B4-BE49-F238E27FC236}">
                <a16:creationId xmlns:a16="http://schemas.microsoft.com/office/drawing/2014/main" id="{A72D1F9A-DAF7-46DF-91E6-C5E400874853}"/>
              </a:ext>
            </a:extLst>
          </p:cNvPr>
          <p:cNvSpPr>
            <a:spLocks noGrp="1"/>
          </p:cNvSpPr>
          <p:nvPr/>
        </p:nvSpPr>
        <p:spPr>
          <a:xfrm>
            <a:off x="4171950" y="3028950"/>
            <a:ext cx="3238500" cy="1200150"/>
          </a:xfrm>
          <a:prstGeom prst="roundRect">
            <a:avLst>
              <a:gd name="adj" fmla="val 9524"/>
            </a:avLst>
          </a:prstGeom>
          <a:solidFill>
            <a:srgbClr val="EEF1F4"/>
          </a:solidFill>
          <a:ln w="9525">
            <a:solidFill>
              <a:srgbClr val="D7DCE2"/>
            </a:solidFill>
            <a:prstDash val="solid"/>
          </a:ln>
        </p:spPr>
      </p:sp>
      <p:sp>
        <p:nvSpPr>
          <p:cNvPr id="21" name="Rectangle 20">
            <a:extLst>
              <a:ext uri="{FF2B5EF4-FFF2-40B4-BE49-F238E27FC236}">
                <a16:creationId xmlns:a16="http://schemas.microsoft.com/office/drawing/2014/main" id="{520BA6C7-4EB2-4389-B25B-697DD5380DC6}"/>
              </a:ext>
            </a:extLst>
          </p:cNvPr>
          <p:cNvSpPr>
            <a:spLocks noGrp="1"/>
          </p:cNvSpPr>
          <p:nvPr/>
        </p:nvSpPr>
        <p:spPr>
          <a:xfrm>
            <a:off x="4343400" y="3190875"/>
            <a:ext cx="2895600" cy="190500"/>
          </a:xfrm>
          <a:prstGeom prst="rect">
            <a:avLst/>
          </a:prstGeom>
          <a:noFill/>
          <a:ln w="0">
            <a:noFill/>
            <a:prstDash val="solid"/>
          </a:ln>
        </p:spPr>
        <p:txBody>
          <a:bodyPr lIns="0" tIns="0" rIns="0" bIns="0" anchor="t">
            <a:noAutofit/>
          </a:bodyPr>
          <a:lstStyle/>
          <a:p>
            <a:pPr algn="l">
              <a:lnSpc>
                <a:spcPct val="100000"/>
              </a:lnSpc>
              <a:buNone/>
              <a:defRPr sz="975" b="1">
                <a:solidFill>
                  <a:srgbClr val="971B2F"/>
                </a:solidFill>
                <a:latin typeface="Aptos"/>
                <a:ea typeface="Aptos"/>
                <a:cs typeface="Aptos"/>
              </a:defRPr>
            </a:pPr>
            <a:r>
              <a:rPr sz="975" b="1">
                <a:solidFill>
                  <a:srgbClr val="971B2F"/>
                </a:solidFill>
                <a:latin typeface="Aptos"/>
                <a:ea typeface="Aptos"/>
                <a:cs typeface="Aptos"/>
              </a:rPr>
              <a:t>WHAT CAN FAIL?</a:t>
            </a:r>
          </a:p>
        </p:txBody>
      </p:sp>
      <p:sp>
        <p:nvSpPr>
          <p:cNvPr id="22" name="Rectangle 21">
            <a:extLst>
              <a:ext uri="{FF2B5EF4-FFF2-40B4-BE49-F238E27FC236}">
                <a16:creationId xmlns:a16="http://schemas.microsoft.com/office/drawing/2014/main" id="{C46B5012-8B16-415F-948D-57EDB6EA9B70}"/>
              </a:ext>
            </a:extLst>
          </p:cNvPr>
          <p:cNvSpPr>
            <a:spLocks noGrp="1"/>
          </p:cNvSpPr>
          <p:nvPr/>
        </p:nvSpPr>
        <p:spPr>
          <a:xfrm>
            <a:off x="4343400" y="3514725"/>
            <a:ext cx="2895600" cy="5524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Missing partitions, schema drift, capped results, timeouts, and unclear tool responses.</a:t>
            </a:r>
          </a:p>
        </p:txBody>
      </p:sp>
      <p:sp>
        <p:nvSpPr>
          <p:cNvPr id="23" name="Rectangle: Rounded Corners 22">
            <a:extLst>
              <a:ext uri="{FF2B5EF4-FFF2-40B4-BE49-F238E27FC236}">
                <a16:creationId xmlns:a16="http://schemas.microsoft.com/office/drawing/2014/main" id="{E70CE947-3ED1-498B-88E8-264B2BD4F89E}"/>
              </a:ext>
            </a:extLst>
          </p:cNvPr>
          <p:cNvSpPr>
            <a:spLocks noGrp="1"/>
          </p:cNvSpPr>
          <p:nvPr/>
        </p:nvSpPr>
        <p:spPr>
          <a:xfrm>
            <a:off x="7734300" y="3028950"/>
            <a:ext cx="3238500" cy="1200150"/>
          </a:xfrm>
          <a:prstGeom prst="roundRect">
            <a:avLst>
              <a:gd name="adj" fmla="val 9524"/>
            </a:avLst>
          </a:prstGeom>
          <a:solidFill>
            <a:srgbClr val="EEF1F4"/>
          </a:solidFill>
          <a:ln w="9525">
            <a:solidFill>
              <a:srgbClr val="D7DCE2"/>
            </a:solidFill>
            <a:prstDash val="solid"/>
          </a:ln>
        </p:spPr>
      </p:sp>
      <p:sp>
        <p:nvSpPr>
          <p:cNvPr id="24" name="Rectangle 23">
            <a:extLst>
              <a:ext uri="{FF2B5EF4-FFF2-40B4-BE49-F238E27FC236}">
                <a16:creationId xmlns:a16="http://schemas.microsoft.com/office/drawing/2014/main" id="{C44657B8-0F25-44A3-AE71-86014D810082}"/>
              </a:ext>
            </a:extLst>
          </p:cNvPr>
          <p:cNvSpPr>
            <a:spLocks noGrp="1"/>
          </p:cNvSpPr>
          <p:nvPr/>
        </p:nvSpPr>
        <p:spPr>
          <a:xfrm>
            <a:off x="7905750" y="3190875"/>
            <a:ext cx="2895600" cy="190500"/>
          </a:xfrm>
          <a:prstGeom prst="rect">
            <a:avLst/>
          </a:prstGeom>
          <a:noFill/>
          <a:ln w="0">
            <a:noFill/>
            <a:prstDash val="solid"/>
          </a:ln>
        </p:spPr>
        <p:txBody>
          <a:bodyPr lIns="0" tIns="0" rIns="0" bIns="0" anchor="t">
            <a:noAutofit/>
          </a:bodyPr>
          <a:lstStyle/>
          <a:p>
            <a:pPr algn="l">
              <a:lnSpc>
                <a:spcPct val="100000"/>
              </a:lnSpc>
              <a:buNone/>
              <a:defRPr sz="975" b="1">
                <a:solidFill>
                  <a:srgbClr val="971B2F"/>
                </a:solidFill>
                <a:latin typeface="Aptos"/>
                <a:ea typeface="Aptos"/>
                <a:cs typeface="Aptos"/>
              </a:defRPr>
            </a:pPr>
            <a:r>
              <a:rPr sz="975" b="1">
                <a:solidFill>
                  <a:srgbClr val="971B2F"/>
                </a:solidFill>
                <a:latin typeface="Aptos"/>
                <a:ea typeface="Aptos"/>
                <a:cs typeface="Aptos"/>
              </a:rPr>
              <a:t>HOW IS VALUE MEASURED?</a:t>
            </a:r>
          </a:p>
        </p:txBody>
      </p:sp>
      <p:sp>
        <p:nvSpPr>
          <p:cNvPr id="25" name="Rectangle 24">
            <a:extLst>
              <a:ext uri="{FF2B5EF4-FFF2-40B4-BE49-F238E27FC236}">
                <a16:creationId xmlns:a16="http://schemas.microsoft.com/office/drawing/2014/main" id="{C2FD25C2-D16E-4990-83DB-671F7431295E}"/>
              </a:ext>
            </a:extLst>
          </p:cNvPr>
          <p:cNvSpPr>
            <a:spLocks noGrp="1"/>
          </p:cNvSpPr>
          <p:nvPr/>
        </p:nvSpPr>
        <p:spPr>
          <a:xfrm>
            <a:off x="7905750" y="3514725"/>
            <a:ext cx="2895600" cy="552450"/>
          </a:xfrm>
          <a:prstGeom prst="rect">
            <a:avLst/>
          </a:prstGeom>
          <a:noFill/>
          <a:ln w="0">
            <a:noFill/>
            <a:prstDash val="solid"/>
          </a:ln>
        </p:spPr>
        <p:txBody>
          <a:bodyPr lIns="0" tIns="0" rIns="0" bIns="0" anchor="t">
            <a:noAutofit/>
          </a:bodyPr>
          <a:lstStyle/>
          <a:p>
            <a:pPr algn="l">
              <a:lnSpc>
                <a:spcPct val="104000"/>
              </a:lnSpc>
              <a:buNone/>
              <a:defRPr sz="1200" b="0">
                <a:solidFill>
                  <a:srgbClr val="3F4953"/>
                </a:solidFill>
                <a:latin typeface="Aptos"/>
                <a:ea typeface="Aptos"/>
                <a:cs typeface="Aptos"/>
              </a:defRPr>
            </a:pPr>
            <a:r>
              <a:rPr sz="1200" b="0">
                <a:solidFill>
                  <a:srgbClr val="3F4953"/>
                </a:solidFill>
                <a:latin typeface="Aptos"/>
                <a:ea typeface="Aptos"/>
                <a:cs typeface="Aptos"/>
              </a:rPr>
              <a:t>Time, manual steps, safe-query success, completeness, and adoption.</a:t>
            </a:r>
          </a:p>
        </p:txBody>
      </p:sp>
      <p:sp>
        <p:nvSpPr>
          <p:cNvPr id="26" name="Rectangle 25">
            <a:extLst>
              <a:ext uri="{FF2B5EF4-FFF2-40B4-BE49-F238E27FC236}">
                <a16:creationId xmlns:a16="http://schemas.microsoft.com/office/drawing/2014/main" id="{5F59FD27-F466-446E-9A82-29F92897A533}"/>
              </a:ext>
            </a:extLst>
          </p:cNvPr>
          <p:cNvSpPr>
            <a:spLocks noGrp="1"/>
          </p:cNvSpPr>
          <p:nvPr/>
        </p:nvSpPr>
        <p:spPr>
          <a:xfrm>
            <a:off x="609600" y="4610100"/>
            <a:ext cx="2857500" cy="190500"/>
          </a:xfrm>
          <a:prstGeom prst="rect">
            <a:avLst/>
          </a:prstGeom>
          <a:noFill/>
          <a:ln w="0">
            <a:noFill/>
            <a:prstDash val="solid"/>
          </a:ln>
        </p:spPr>
        <p:txBody>
          <a:bodyPr lIns="0" tIns="0" rIns="0" bIns="0" anchor="t">
            <a:noAutofit/>
          </a:bodyPr>
          <a:lstStyle/>
          <a:p>
            <a:pPr algn="l">
              <a:lnSpc>
                <a:spcPct val="100000"/>
              </a:lnSpc>
              <a:buNone/>
              <a:defRPr sz="975" b="1">
                <a:solidFill>
                  <a:srgbClr val="8A5A00"/>
                </a:solidFill>
                <a:latin typeface="Aptos"/>
                <a:ea typeface="Aptos"/>
                <a:cs typeface="Aptos"/>
              </a:defRPr>
            </a:pPr>
            <a:r>
              <a:rPr sz="975" b="1">
                <a:solidFill>
                  <a:srgbClr val="8A5A00"/>
                </a:solidFill>
                <a:latin typeface="Aptos"/>
                <a:ea typeface="Aptos"/>
                <a:cs typeface="Aptos"/>
              </a:rPr>
              <a:t>Q&amp;A OWNERSHIP</a:t>
            </a:r>
          </a:p>
        </p:txBody>
      </p:sp>
      <p:sp>
        <p:nvSpPr>
          <p:cNvPr id="27" name="Rectangle: Rounded Corners 26">
            <a:extLst>
              <a:ext uri="{FF2B5EF4-FFF2-40B4-BE49-F238E27FC236}">
                <a16:creationId xmlns:a16="http://schemas.microsoft.com/office/drawing/2014/main" id="{3DDF622E-5D9E-428F-AAC9-0D0CFD21D42B}"/>
              </a:ext>
            </a:extLst>
          </p:cNvPr>
          <p:cNvSpPr>
            <a:spLocks noGrp="1"/>
          </p:cNvSpPr>
          <p:nvPr/>
        </p:nvSpPr>
        <p:spPr>
          <a:xfrm>
            <a:off x="609600" y="4953000"/>
            <a:ext cx="1619250" cy="704850"/>
          </a:xfrm>
          <a:prstGeom prst="roundRect">
            <a:avLst>
              <a:gd name="adj" fmla="val 13514"/>
            </a:avLst>
          </a:prstGeom>
          <a:solidFill>
            <a:srgbClr val="FFFFFF"/>
          </a:solidFill>
          <a:ln w="9525">
            <a:solidFill>
              <a:srgbClr val="D7DCE2"/>
            </a:solidFill>
            <a:prstDash val="solid"/>
          </a:ln>
        </p:spPr>
      </p:sp>
      <p:sp>
        <p:nvSpPr>
          <p:cNvPr id="28" name="Oval 27">
            <a:extLst>
              <a:ext uri="{FF2B5EF4-FFF2-40B4-BE49-F238E27FC236}">
                <a16:creationId xmlns:a16="http://schemas.microsoft.com/office/drawing/2014/main" id="{F7F01C72-2446-41CA-994B-BA5FB6EA28CF}"/>
              </a:ext>
            </a:extLst>
          </p:cNvPr>
          <p:cNvSpPr>
            <a:spLocks noGrp="1"/>
          </p:cNvSpPr>
          <p:nvPr/>
        </p:nvSpPr>
        <p:spPr>
          <a:xfrm>
            <a:off x="723900" y="5124450"/>
            <a:ext cx="342900" cy="342900"/>
          </a:xfrm>
          <a:prstGeom prst="ellipse">
            <a:avLst/>
          </a:prstGeom>
          <a:solidFill>
            <a:srgbClr val="971B2F"/>
          </a:solidFill>
          <a:ln w="9525">
            <a:solidFill>
              <a:srgbClr val="971B2F"/>
            </a:solidFill>
            <a:prstDash val="solid"/>
          </a:ln>
        </p:spPr>
      </p:sp>
      <p:sp>
        <p:nvSpPr>
          <p:cNvPr id="29" name="Rectangle 28">
            <a:extLst>
              <a:ext uri="{FF2B5EF4-FFF2-40B4-BE49-F238E27FC236}">
                <a16:creationId xmlns:a16="http://schemas.microsoft.com/office/drawing/2014/main" id="{BD1EBD2A-2C38-4493-ADC1-5CCB21D2B4E5}"/>
              </a:ext>
            </a:extLst>
          </p:cNvPr>
          <p:cNvSpPr>
            <a:spLocks noGrp="1"/>
          </p:cNvSpPr>
          <p:nvPr/>
        </p:nvSpPr>
        <p:spPr>
          <a:xfrm>
            <a:off x="723900" y="5219700"/>
            <a:ext cx="342900" cy="171450"/>
          </a:xfrm>
          <a:prstGeom prst="rect">
            <a:avLst/>
          </a:prstGeom>
          <a:noFill/>
          <a:ln w="0">
            <a:noFill/>
            <a:prstDash val="solid"/>
          </a:ln>
        </p:spPr>
        <p:txBody>
          <a:bodyPr lIns="0" tIns="0" rIns="0" bIns="0" anchor="ctr">
            <a:noAutofit/>
          </a:bodyPr>
          <a:lstStyle/>
          <a:p>
            <a:pPr algn="ctr">
              <a:lnSpc>
                <a:spcPct val="100000"/>
              </a:lnSpc>
              <a:buNone/>
              <a:defRPr sz="1050" b="1">
                <a:solidFill>
                  <a:srgbClr val="FFFFFF"/>
                </a:solidFill>
                <a:latin typeface="Aptos"/>
                <a:ea typeface="Aptos"/>
                <a:cs typeface="Aptos"/>
              </a:defRPr>
            </a:pPr>
            <a:r>
              <a:rPr sz="1050" b="1">
                <a:solidFill>
                  <a:srgbClr val="FFFFFF"/>
                </a:solidFill>
                <a:latin typeface="Aptos"/>
                <a:ea typeface="Aptos"/>
                <a:cs typeface="Aptos"/>
              </a:rPr>
              <a:t>1</a:t>
            </a:r>
          </a:p>
        </p:txBody>
      </p:sp>
      <p:sp>
        <p:nvSpPr>
          <p:cNvPr id="30" name="Rectangle 29">
            <a:extLst>
              <a:ext uri="{FF2B5EF4-FFF2-40B4-BE49-F238E27FC236}">
                <a16:creationId xmlns:a16="http://schemas.microsoft.com/office/drawing/2014/main" id="{3DE9C6F2-1F5C-4395-ADD0-2B426DEE6D9C}"/>
              </a:ext>
            </a:extLst>
          </p:cNvPr>
          <p:cNvSpPr>
            <a:spLocks noGrp="1"/>
          </p:cNvSpPr>
          <p:nvPr/>
        </p:nvSpPr>
        <p:spPr>
          <a:xfrm>
            <a:off x="1143000" y="5095875"/>
            <a:ext cx="971550" cy="361950"/>
          </a:xfrm>
          <a:prstGeom prst="rect">
            <a:avLst/>
          </a:prstGeom>
          <a:noFill/>
          <a:ln w="0">
            <a:noFill/>
            <a:prstDash val="solid"/>
          </a:ln>
        </p:spPr>
        <p:txBody>
          <a:bodyPr lIns="0" tIns="0" rIns="0" bIns="0" anchor="ctr">
            <a:noAutofit/>
          </a:bodyPr>
          <a:lstStyle/>
          <a:p>
            <a:pPr algn="l">
              <a:lnSpc>
                <a:spcPct val="100000"/>
              </a:lnSpc>
              <a:buNone/>
              <a:defRPr sz="975" b="1">
                <a:solidFill>
                  <a:srgbClr val="20252B"/>
                </a:solidFill>
                <a:latin typeface="Aptos"/>
                <a:ea typeface="Aptos"/>
                <a:cs typeface="Aptos"/>
              </a:defRPr>
            </a:pPr>
            <a:r>
              <a:rPr sz="975" b="1">
                <a:solidFill>
                  <a:srgbClr val="20252B"/>
                </a:solidFill>
                <a:latin typeface="Aptos"/>
                <a:ea typeface="Aptos"/>
                <a:cs typeface="Aptos"/>
              </a:rPr>
              <a:t>Problem &amp; users</a:t>
            </a:r>
          </a:p>
        </p:txBody>
      </p:sp>
      <p:sp>
        <p:nvSpPr>
          <p:cNvPr id="31" name="Rectangle: Rounded Corners 30">
            <a:extLst>
              <a:ext uri="{FF2B5EF4-FFF2-40B4-BE49-F238E27FC236}">
                <a16:creationId xmlns:a16="http://schemas.microsoft.com/office/drawing/2014/main" id="{516FD894-9A8B-4367-BFE9-B93650D1A2FC}"/>
              </a:ext>
            </a:extLst>
          </p:cNvPr>
          <p:cNvSpPr>
            <a:spLocks noGrp="1"/>
          </p:cNvSpPr>
          <p:nvPr/>
        </p:nvSpPr>
        <p:spPr>
          <a:xfrm>
            <a:off x="2400300" y="4953000"/>
            <a:ext cx="1619250" cy="704850"/>
          </a:xfrm>
          <a:prstGeom prst="roundRect">
            <a:avLst>
              <a:gd name="adj" fmla="val 13514"/>
            </a:avLst>
          </a:prstGeom>
          <a:solidFill>
            <a:srgbClr val="FFFFFF"/>
          </a:solidFill>
          <a:ln w="9525">
            <a:solidFill>
              <a:srgbClr val="D7DCE2"/>
            </a:solidFill>
            <a:prstDash val="solid"/>
          </a:ln>
        </p:spPr>
      </p:sp>
      <p:sp>
        <p:nvSpPr>
          <p:cNvPr id="32" name="Oval 31">
            <a:extLst>
              <a:ext uri="{FF2B5EF4-FFF2-40B4-BE49-F238E27FC236}">
                <a16:creationId xmlns:a16="http://schemas.microsoft.com/office/drawing/2014/main" id="{4159351C-35DA-4796-B60C-05494C362540}"/>
              </a:ext>
            </a:extLst>
          </p:cNvPr>
          <p:cNvSpPr>
            <a:spLocks noGrp="1"/>
          </p:cNvSpPr>
          <p:nvPr/>
        </p:nvSpPr>
        <p:spPr>
          <a:xfrm>
            <a:off x="2514600" y="5124450"/>
            <a:ext cx="342900" cy="342900"/>
          </a:xfrm>
          <a:prstGeom prst="ellipse">
            <a:avLst/>
          </a:prstGeom>
          <a:solidFill>
            <a:srgbClr val="971B2F"/>
          </a:solidFill>
          <a:ln w="9525">
            <a:solidFill>
              <a:srgbClr val="971B2F"/>
            </a:solidFill>
            <a:prstDash val="solid"/>
          </a:ln>
        </p:spPr>
      </p:sp>
      <p:sp>
        <p:nvSpPr>
          <p:cNvPr id="33" name="Rectangle 32">
            <a:extLst>
              <a:ext uri="{FF2B5EF4-FFF2-40B4-BE49-F238E27FC236}">
                <a16:creationId xmlns:a16="http://schemas.microsoft.com/office/drawing/2014/main" id="{A9982793-8BA2-4B99-B4AB-7B6D02286109}"/>
              </a:ext>
            </a:extLst>
          </p:cNvPr>
          <p:cNvSpPr>
            <a:spLocks noGrp="1"/>
          </p:cNvSpPr>
          <p:nvPr/>
        </p:nvSpPr>
        <p:spPr>
          <a:xfrm>
            <a:off x="2514600" y="5219700"/>
            <a:ext cx="342900" cy="171450"/>
          </a:xfrm>
          <a:prstGeom prst="rect">
            <a:avLst/>
          </a:prstGeom>
          <a:noFill/>
          <a:ln w="0">
            <a:noFill/>
            <a:prstDash val="solid"/>
          </a:ln>
        </p:spPr>
        <p:txBody>
          <a:bodyPr lIns="0" tIns="0" rIns="0" bIns="0" anchor="ctr">
            <a:noAutofit/>
          </a:bodyPr>
          <a:lstStyle/>
          <a:p>
            <a:pPr algn="ctr">
              <a:lnSpc>
                <a:spcPct val="100000"/>
              </a:lnSpc>
              <a:buNone/>
              <a:defRPr sz="1050" b="1">
                <a:solidFill>
                  <a:srgbClr val="FFFFFF"/>
                </a:solidFill>
                <a:latin typeface="Aptos"/>
                <a:ea typeface="Aptos"/>
                <a:cs typeface="Aptos"/>
              </a:defRPr>
            </a:pPr>
            <a:r>
              <a:rPr sz="1050" b="1">
                <a:solidFill>
                  <a:srgbClr val="FFFFFF"/>
                </a:solidFill>
                <a:latin typeface="Aptos"/>
                <a:ea typeface="Aptos"/>
                <a:cs typeface="Aptos"/>
              </a:rPr>
              <a:t>2</a:t>
            </a:r>
          </a:p>
        </p:txBody>
      </p:sp>
      <p:sp>
        <p:nvSpPr>
          <p:cNvPr id="34" name="Rectangle 33">
            <a:extLst>
              <a:ext uri="{FF2B5EF4-FFF2-40B4-BE49-F238E27FC236}">
                <a16:creationId xmlns:a16="http://schemas.microsoft.com/office/drawing/2014/main" id="{4D6ADBEF-3B87-4E45-BC81-4463052F6889}"/>
              </a:ext>
            </a:extLst>
          </p:cNvPr>
          <p:cNvSpPr>
            <a:spLocks noGrp="1"/>
          </p:cNvSpPr>
          <p:nvPr/>
        </p:nvSpPr>
        <p:spPr>
          <a:xfrm>
            <a:off x="2933700" y="5095875"/>
            <a:ext cx="971550" cy="361950"/>
          </a:xfrm>
          <a:prstGeom prst="rect">
            <a:avLst/>
          </a:prstGeom>
          <a:noFill/>
          <a:ln w="0">
            <a:noFill/>
            <a:prstDash val="solid"/>
          </a:ln>
        </p:spPr>
        <p:txBody>
          <a:bodyPr lIns="0" tIns="0" rIns="0" bIns="0" anchor="ctr">
            <a:noAutofit/>
          </a:bodyPr>
          <a:lstStyle/>
          <a:p>
            <a:pPr algn="l">
              <a:lnSpc>
                <a:spcPct val="100000"/>
              </a:lnSpc>
              <a:buNone/>
              <a:defRPr sz="975" b="1">
                <a:solidFill>
                  <a:srgbClr val="20252B"/>
                </a:solidFill>
                <a:latin typeface="Aptos"/>
                <a:ea typeface="Aptos"/>
                <a:cs typeface="Aptos"/>
              </a:defRPr>
            </a:pPr>
            <a:r>
              <a:rPr sz="975" b="1">
                <a:solidFill>
                  <a:srgbClr val="20252B"/>
                </a:solidFill>
                <a:latin typeface="Aptos"/>
                <a:ea typeface="Aptos"/>
                <a:cs typeface="Aptos"/>
              </a:rPr>
              <a:t>Workflow &amp; experience</a:t>
            </a:r>
          </a:p>
        </p:txBody>
      </p:sp>
      <p:sp>
        <p:nvSpPr>
          <p:cNvPr id="35" name="Rectangle: Rounded Corners 34">
            <a:extLst>
              <a:ext uri="{FF2B5EF4-FFF2-40B4-BE49-F238E27FC236}">
                <a16:creationId xmlns:a16="http://schemas.microsoft.com/office/drawing/2014/main" id="{FD74EB67-BFFD-47C8-A2EE-4EE2734C6073}"/>
              </a:ext>
            </a:extLst>
          </p:cNvPr>
          <p:cNvSpPr>
            <a:spLocks noGrp="1"/>
          </p:cNvSpPr>
          <p:nvPr/>
        </p:nvSpPr>
        <p:spPr>
          <a:xfrm>
            <a:off x="4191000" y="4953000"/>
            <a:ext cx="1619250" cy="704850"/>
          </a:xfrm>
          <a:prstGeom prst="roundRect">
            <a:avLst>
              <a:gd name="adj" fmla="val 13514"/>
            </a:avLst>
          </a:prstGeom>
          <a:solidFill>
            <a:srgbClr val="FFFFFF"/>
          </a:solidFill>
          <a:ln w="9525">
            <a:solidFill>
              <a:srgbClr val="D7DCE2"/>
            </a:solidFill>
            <a:prstDash val="solid"/>
          </a:ln>
        </p:spPr>
      </p:sp>
      <p:sp>
        <p:nvSpPr>
          <p:cNvPr id="36" name="Oval 35">
            <a:extLst>
              <a:ext uri="{FF2B5EF4-FFF2-40B4-BE49-F238E27FC236}">
                <a16:creationId xmlns:a16="http://schemas.microsoft.com/office/drawing/2014/main" id="{E020A2C9-5F99-4E64-B419-027404E58EA7}"/>
              </a:ext>
            </a:extLst>
          </p:cNvPr>
          <p:cNvSpPr>
            <a:spLocks noGrp="1"/>
          </p:cNvSpPr>
          <p:nvPr/>
        </p:nvSpPr>
        <p:spPr>
          <a:xfrm>
            <a:off x="4305300" y="5124450"/>
            <a:ext cx="342900" cy="342900"/>
          </a:xfrm>
          <a:prstGeom prst="ellipse">
            <a:avLst/>
          </a:prstGeom>
          <a:solidFill>
            <a:srgbClr val="971B2F"/>
          </a:solidFill>
          <a:ln w="9525">
            <a:solidFill>
              <a:srgbClr val="971B2F"/>
            </a:solidFill>
            <a:prstDash val="solid"/>
          </a:ln>
        </p:spPr>
      </p:sp>
      <p:sp>
        <p:nvSpPr>
          <p:cNvPr id="37" name="Rectangle 36">
            <a:extLst>
              <a:ext uri="{FF2B5EF4-FFF2-40B4-BE49-F238E27FC236}">
                <a16:creationId xmlns:a16="http://schemas.microsoft.com/office/drawing/2014/main" id="{C645EB8C-EA51-4C5D-843C-E30D88F4C298}"/>
              </a:ext>
            </a:extLst>
          </p:cNvPr>
          <p:cNvSpPr>
            <a:spLocks noGrp="1"/>
          </p:cNvSpPr>
          <p:nvPr/>
        </p:nvSpPr>
        <p:spPr>
          <a:xfrm>
            <a:off x="4305300" y="5219700"/>
            <a:ext cx="342900" cy="171450"/>
          </a:xfrm>
          <a:prstGeom prst="rect">
            <a:avLst/>
          </a:prstGeom>
          <a:noFill/>
          <a:ln w="0">
            <a:noFill/>
            <a:prstDash val="solid"/>
          </a:ln>
        </p:spPr>
        <p:txBody>
          <a:bodyPr lIns="0" tIns="0" rIns="0" bIns="0" anchor="ctr">
            <a:noAutofit/>
          </a:bodyPr>
          <a:lstStyle/>
          <a:p>
            <a:pPr algn="ctr">
              <a:lnSpc>
                <a:spcPct val="100000"/>
              </a:lnSpc>
              <a:buNone/>
              <a:defRPr sz="1050" b="1">
                <a:solidFill>
                  <a:srgbClr val="FFFFFF"/>
                </a:solidFill>
                <a:latin typeface="Aptos"/>
                <a:ea typeface="Aptos"/>
                <a:cs typeface="Aptos"/>
              </a:defRPr>
            </a:pPr>
            <a:r>
              <a:rPr sz="1050" b="1">
                <a:solidFill>
                  <a:srgbClr val="FFFFFF"/>
                </a:solidFill>
                <a:latin typeface="Aptos"/>
                <a:ea typeface="Aptos"/>
                <a:cs typeface="Aptos"/>
              </a:rPr>
              <a:t>3</a:t>
            </a:r>
          </a:p>
        </p:txBody>
      </p:sp>
      <p:sp>
        <p:nvSpPr>
          <p:cNvPr id="38" name="Rectangle 37">
            <a:extLst>
              <a:ext uri="{FF2B5EF4-FFF2-40B4-BE49-F238E27FC236}">
                <a16:creationId xmlns:a16="http://schemas.microsoft.com/office/drawing/2014/main" id="{9D41E3EB-FADD-441E-8807-E18D8074A937}"/>
              </a:ext>
            </a:extLst>
          </p:cNvPr>
          <p:cNvSpPr>
            <a:spLocks noGrp="1"/>
          </p:cNvSpPr>
          <p:nvPr/>
        </p:nvSpPr>
        <p:spPr>
          <a:xfrm>
            <a:off x="4724400" y="5095875"/>
            <a:ext cx="971550" cy="361950"/>
          </a:xfrm>
          <a:prstGeom prst="rect">
            <a:avLst/>
          </a:prstGeom>
          <a:noFill/>
          <a:ln w="0">
            <a:noFill/>
            <a:prstDash val="solid"/>
          </a:ln>
        </p:spPr>
        <p:txBody>
          <a:bodyPr lIns="0" tIns="0" rIns="0" bIns="0" anchor="ctr">
            <a:noAutofit/>
          </a:bodyPr>
          <a:lstStyle/>
          <a:p>
            <a:pPr algn="l">
              <a:lnSpc>
                <a:spcPct val="100000"/>
              </a:lnSpc>
              <a:buNone/>
              <a:defRPr sz="975" b="1">
                <a:solidFill>
                  <a:srgbClr val="20252B"/>
                </a:solidFill>
                <a:latin typeface="Aptos"/>
                <a:ea typeface="Aptos"/>
                <a:cs typeface="Aptos"/>
              </a:defRPr>
            </a:pPr>
            <a:r>
              <a:rPr sz="975" b="1">
                <a:solidFill>
                  <a:srgbClr val="20252B"/>
                </a:solidFill>
                <a:latin typeface="Aptos"/>
                <a:ea typeface="Aptos"/>
                <a:cs typeface="Aptos"/>
              </a:rPr>
              <a:t>Value &amp; P&amp;L modes</a:t>
            </a:r>
          </a:p>
        </p:txBody>
      </p:sp>
      <p:sp>
        <p:nvSpPr>
          <p:cNvPr id="39" name="Rectangle: Rounded Corners 38">
            <a:extLst>
              <a:ext uri="{FF2B5EF4-FFF2-40B4-BE49-F238E27FC236}">
                <a16:creationId xmlns:a16="http://schemas.microsoft.com/office/drawing/2014/main" id="{643F8EB9-81A5-44ED-A190-DE096C9CA840}"/>
              </a:ext>
            </a:extLst>
          </p:cNvPr>
          <p:cNvSpPr>
            <a:spLocks noGrp="1"/>
          </p:cNvSpPr>
          <p:nvPr/>
        </p:nvSpPr>
        <p:spPr>
          <a:xfrm>
            <a:off x="5981700" y="4953000"/>
            <a:ext cx="1619250" cy="704850"/>
          </a:xfrm>
          <a:prstGeom prst="roundRect">
            <a:avLst>
              <a:gd name="adj" fmla="val 13514"/>
            </a:avLst>
          </a:prstGeom>
          <a:solidFill>
            <a:srgbClr val="FFFFFF"/>
          </a:solidFill>
          <a:ln w="9525">
            <a:solidFill>
              <a:srgbClr val="D7DCE2"/>
            </a:solidFill>
            <a:prstDash val="solid"/>
          </a:ln>
        </p:spPr>
      </p:sp>
      <p:sp>
        <p:nvSpPr>
          <p:cNvPr id="40" name="Oval 39">
            <a:extLst>
              <a:ext uri="{FF2B5EF4-FFF2-40B4-BE49-F238E27FC236}">
                <a16:creationId xmlns:a16="http://schemas.microsoft.com/office/drawing/2014/main" id="{913F4190-01C8-456A-992F-A3BFACA1CA48}"/>
              </a:ext>
            </a:extLst>
          </p:cNvPr>
          <p:cNvSpPr>
            <a:spLocks noGrp="1"/>
          </p:cNvSpPr>
          <p:nvPr/>
        </p:nvSpPr>
        <p:spPr>
          <a:xfrm>
            <a:off x="6096000" y="5124450"/>
            <a:ext cx="342900" cy="342900"/>
          </a:xfrm>
          <a:prstGeom prst="ellipse">
            <a:avLst/>
          </a:prstGeom>
          <a:solidFill>
            <a:srgbClr val="971B2F"/>
          </a:solidFill>
          <a:ln w="9525">
            <a:solidFill>
              <a:srgbClr val="971B2F"/>
            </a:solidFill>
            <a:prstDash val="solid"/>
          </a:ln>
        </p:spPr>
      </p:sp>
      <p:sp>
        <p:nvSpPr>
          <p:cNvPr id="41" name="Rectangle 40">
            <a:extLst>
              <a:ext uri="{FF2B5EF4-FFF2-40B4-BE49-F238E27FC236}">
                <a16:creationId xmlns:a16="http://schemas.microsoft.com/office/drawing/2014/main" id="{D23B3D4A-7499-4B40-B9C9-D0FC76A09F57}"/>
              </a:ext>
            </a:extLst>
          </p:cNvPr>
          <p:cNvSpPr>
            <a:spLocks noGrp="1"/>
          </p:cNvSpPr>
          <p:nvPr/>
        </p:nvSpPr>
        <p:spPr>
          <a:xfrm>
            <a:off x="6096000" y="5219700"/>
            <a:ext cx="342900" cy="171450"/>
          </a:xfrm>
          <a:prstGeom prst="rect">
            <a:avLst/>
          </a:prstGeom>
          <a:noFill/>
          <a:ln w="0">
            <a:noFill/>
            <a:prstDash val="solid"/>
          </a:ln>
        </p:spPr>
        <p:txBody>
          <a:bodyPr lIns="0" tIns="0" rIns="0" bIns="0" anchor="ctr">
            <a:noAutofit/>
          </a:bodyPr>
          <a:lstStyle/>
          <a:p>
            <a:pPr algn="ctr">
              <a:lnSpc>
                <a:spcPct val="100000"/>
              </a:lnSpc>
              <a:buNone/>
              <a:defRPr sz="1050" b="1">
                <a:solidFill>
                  <a:srgbClr val="FFFFFF"/>
                </a:solidFill>
                <a:latin typeface="Aptos"/>
                <a:ea typeface="Aptos"/>
                <a:cs typeface="Aptos"/>
              </a:defRPr>
            </a:pPr>
            <a:r>
              <a:rPr sz="1050" b="1">
                <a:solidFill>
                  <a:srgbClr val="FFFFFF"/>
                </a:solidFill>
                <a:latin typeface="Aptos"/>
                <a:ea typeface="Aptos"/>
                <a:cs typeface="Aptos"/>
              </a:rPr>
              <a:t>4</a:t>
            </a:r>
          </a:p>
        </p:txBody>
      </p:sp>
      <p:sp>
        <p:nvSpPr>
          <p:cNvPr id="42" name="Rectangle 41">
            <a:extLst>
              <a:ext uri="{FF2B5EF4-FFF2-40B4-BE49-F238E27FC236}">
                <a16:creationId xmlns:a16="http://schemas.microsoft.com/office/drawing/2014/main" id="{08F0993E-AC66-4279-B7D9-450977AE4E6C}"/>
              </a:ext>
            </a:extLst>
          </p:cNvPr>
          <p:cNvSpPr>
            <a:spLocks noGrp="1"/>
          </p:cNvSpPr>
          <p:nvPr/>
        </p:nvSpPr>
        <p:spPr>
          <a:xfrm>
            <a:off x="6515100" y="5095875"/>
            <a:ext cx="971550" cy="361950"/>
          </a:xfrm>
          <a:prstGeom prst="rect">
            <a:avLst/>
          </a:prstGeom>
          <a:noFill/>
          <a:ln w="0">
            <a:noFill/>
            <a:prstDash val="solid"/>
          </a:ln>
        </p:spPr>
        <p:txBody>
          <a:bodyPr lIns="0" tIns="0" rIns="0" bIns="0" anchor="ctr">
            <a:noAutofit/>
          </a:bodyPr>
          <a:lstStyle/>
          <a:p>
            <a:pPr algn="l">
              <a:lnSpc>
                <a:spcPct val="100000"/>
              </a:lnSpc>
              <a:buNone/>
              <a:defRPr sz="975" b="1">
                <a:solidFill>
                  <a:srgbClr val="20252B"/>
                </a:solidFill>
                <a:latin typeface="Aptos"/>
                <a:ea typeface="Aptos"/>
                <a:cs typeface="Aptos"/>
              </a:defRPr>
            </a:pPr>
            <a:r>
              <a:rPr sz="975" b="1">
                <a:solidFill>
                  <a:srgbClr val="20252B"/>
                </a:solidFill>
                <a:latin typeface="Aptos"/>
                <a:ea typeface="Aptos"/>
                <a:cs typeface="Aptos"/>
              </a:rPr>
              <a:t>Rationale &amp; architecture</a:t>
            </a:r>
          </a:p>
        </p:txBody>
      </p:sp>
      <p:sp>
        <p:nvSpPr>
          <p:cNvPr id="43" name="Rectangle: Rounded Corners 42">
            <a:extLst>
              <a:ext uri="{FF2B5EF4-FFF2-40B4-BE49-F238E27FC236}">
                <a16:creationId xmlns:a16="http://schemas.microsoft.com/office/drawing/2014/main" id="{3D311EA0-4943-409B-B219-F25111F665F1}"/>
              </a:ext>
            </a:extLst>
          </p:cNvPr>
          <p:cNvSpPr>
            <a:spLocks noGrp="1"/>
          </p:cNvSpPr>
          <p:nvPr/>
        </p:nvSpPr>
        <p:spPr>
          <a:xfrm>
            <a:off x="7772400" y="4953000"/>
            <a:ext cx="1619250" cy="704850"/>
          </a:xfrm>
          <a:prstGeom prst="roundRect">
            <a:avLst>
              <a:gd name="adj" fmla="val 13514"/>
            </a:avLst>
          </a:prstGeom>
          <a:solidFill>
            <a:srgbClr val="FFFFFF"/>
          </a:solidFill>
          <a:ln w="9525">
            <a:solidFill>
              <a:srgbClr val="D7DCE2"/>
            </a:solidFill>
            <a:prstDash val="solid"/>
          </a:ln>
        </p:spPr>
      </p:sp>
      <p:sp>
        <p:nvSpPr>
          <p:cNvPr id="44" name="Oval 43">
            <a:extLst>
              <a:ext uri="{FF2B5EF4-FFF2-40B4-BE49-F238E27FC236}">
                <a16:creationId xmlns:a16="http://schemas.microsoft.com/office/drawing/2014/main" id="{5350B022-F5E0-42FF-8FB3-E641B1A22170}"/>
              </a:ext>
            </a:extLst>
          </p:cNvPr>
          <p:cNvSpPr>
            <a:spLocks noGrp="1"/>
          </p:cNvSpPr>
          <p:nvPr/>
        </p:nvSpPr>
        <p:spPr>
          <a:xfrm>
            <a:off x="7886700" y="5124450"/>
            <a:ext cx="342900" cy="342900"/>
          </a:xfrm>
          <a:prstGeom prst="ellipse">
            <a:avLst/>
          </a:prstGeom>
          <a:solidFill>
            <a:srgbClr val="971B2F"/>
          </a:solidFill>
          <a:ln w="9525">
            <a:solidFill>
              <a:srgbClr val="971B2F"/>
            </a:solidFill>
            <a:prstDash val="solid"/>
          </a:ln>
        </p:spPr>
      </p:sp>
      <p:sp>
        <p:nvSpPr>
          <p:cNvPr id="45" name="Rectangle 44">
            <a:extLst>
              <a:ext uri="{FF2B5EF4-FFF2-40B4-BE49-F238E27FC236}">
                <a16:creationId xmlns:a16="http://schemas.microsoft.com/office/drawing/2014/main" id="{EEC03D1F-3A84-4D82-8036-35C9088CD2D4}"/>
              </a:ext>
            </a:extLst>
          </p:cNvPr>
          <p:cNvSpPr>
            <a:spLocks noGrp="1"/>
          </p:cNvSpPr>
          <p:nvPr/>
        </p:nvSpPr>
        <p:spPr>
          <a:xfrm>
            <a:off x="7886700" y="5219700"/>
            <a:ext cx="342900" cy="171450"/>
          </a:xfrm>
          <a:prstGeom prst="rect">
            <a:avLst/>
          </a:prstGeom>
          <a:noFill/>
          <a:ln w="0">
            <a:noFill/>
            <a:prstDash val="solid"/>
          </a:ln>
        </p:spPr>
        <p:txBody>
          <a:bodyPr lIns="0" tIns="0" rIns="0" bIns="0" anchor="ctr">
            <a:noAutofit/>
          </a:bodyPr>
          <a:lstStyle/>
          <a:p>
            <a:pPr algn="ctr">
              <a:lnSpc>
                <a:spcPct val="100000"/>
              </a:lnSpc>
              <a:buNone/>
              <a:defRPr sz="1050" b="1">
                <a:solidFill>
                  <a:srgbClr val="FFFFFF"/>
                </a:solidFill>
                <a:latin typeface="Aptos"/>
                <a:ea typeface="Aptos"/>
                <a:cs typeface="Aptos"/>
              </a:defRPr>
            </a:pPr>
            <a:r>
              <a:rPr sz="1050" b="1">
                <a:solidFill>
                  <a:srgbClr val="FFFFFF"/>
                </a:solidFill>
                <a:latin typeface="Aptos"/>
                <a:ea typeface="Aptos"/>
                <a:cs typeface="Aptos"/>
              </a:rPr>
              <a:t>5</a:t>
            </a:r>
          </a:p>
        </p:txBody>
      </p:sp>
      <p:sp>
        <p:nvSpPr>
          <p:cNvPr id="46" name="Rectangle 45">
            <a:extLst>
              <a:ext uri="{FF2B5EF4-FFF2-40B4-BE49-F238E27FC236}">
                <a16:creationId xmlns:a16="http://schemas.microsoft.com/office/drawing/2014/main" id="{EFA2F5DA-5F85-47BC-8FCA-F0F6321A0143}"/>
              </a:ext>
            </a:extLst>
          </p:cNvPr>
          <p:cNvSpPr>
            <a:spLocks noGrp="1"/>
          </p:cNvSpPr>
          <p:nvPr/>
        </p:nvSpPr>
        <p:spPr>
          <a:xfrm>
            <a:off x="8305800" y="5095875"/>
            <a:ext cx="971550" cy="361950"/>
          </a:xfrm>
          <a:prstGeom prst="rect">
            <a:avLst/>
          </a:prstGeom>
          <a:noFill/>
          <a:ln w="0">
            <a:noFill/>
            <a:prstDash val="solid"/>
          </a:ln>
        </p:spPr>
        <p:txBody>
          <a:bodyPr lIns="0" tIns="0" rIns="0" bIns="0" anchor="ctr">
            <a:noAutofit/>
          </a:bodyPr>
          <a:lstStyle/>
          <a:p>
            <a:pPr algn="l">
              <a:lnSpc>
                <a:spcPct val="100000"/>
              </a:lnSpc>
              <a:buNone/>
              <a:defRPr sz="975" b="1">
                <a:solidFill>
                  <a:srgbClr val="20252B"/>
                </a:solidFill>
                <a:latin typeface="Aptos"/>
                <a:ea typeface="Aptos"/>
                <a:cs typeface="Aptos"/>
              </a:defRPr>
            </a:pPr>
            <a:r>
              <a:rPr sz="975" b="1">
                <a:solidFill>
                  <a:srgbClr val="20252B"/>
                </a:solidFill>
                <a:latin typeface="Aptos"/>
                <a:ea typeface="Aptos"/>
                <a:cs typeface="Aptos"/>
              </a:rPr>
              <a:t>Tools &amp; query flow</a:t>
            </a:r>
          </a:p>
        </p:txBody>
      </p:sp>
      <p:sp>
        <p:nvSpPr>
          <p:cNvPr id="47" name="Rectangle: Rounded Corners 46">
            <a:extLst>
              <a:ext uri="{FF2B5EF4-FFF2-40B4-BE49-F238E27FC236}">
                <a16:creationId xmlns:a16="http://schemas.microsoft.com/office/drawing/2014/main" id="{BA4F9E0A-0BD2-4261-97BF-C1607350E542}"/>
              </a:ext>
            </a:extLst>
          </p:cNvPr>
          <p:cNvSpPr>
            <a:spLocks noGrp="1"/>
          </p:cNvSpPr>
          <p:nvPr/>
        </p:nvSpPr>
        <p:spPr>
          <a:xfrm>
            <a:off x="9563100" y="4953000"/>
            <a:ext cx="1619250" cy="704850"/>
          </a:xfrm>
          <a:prstGeom prst="roundRect">
            <a:avLst>
              <a:gd name="adj" fmla="val 13514"/>
            </a:avLst>
          </a:prstGeom>
          <a:solidFill>
            <a:srgbClr val="D71E28"/>
          </a:solidFill>
          <a:ln w="9525">
            <a:solidFill>
              <a:srgbClr val="D71E28"/>
            </a:solidFill>
            <a:prstDash val="solid"/>
          </a:ln>
        </p:spPr>
      </p:sp>
      <p:sp>
        <p:nvSpPr>
          <p:cNvPr id="48" name="Oval 47">
            <a:extLst>
              <a:ext uri="{FF2B5EF4-FFF2-40B4-BE49-F238E27FC236}">
                <a16:creationId xmlns:a16="http://schemas.microsoft.com/office/drawing/2014/main" id="{1CFA3921-2BC5-45A1-8C55-1190D4AC18E3}"/>
              </a:ext>
            </a:extLst>
          </p:cNvPr>
          <p:cNvSpPr>
            <a:spLocks noGrp="1"/>
          </p:cNvSpPr>
          <p:nvPr/>
        </p:nvSpPr>
        <p:spPr>
          <a:xfrm>
            <a:off x="9677400" y="5124450"/>
            <a:ext cx="342900" cy="342900"/>
          </a:xfrm>
          <a:prstGeom prst="ellipse">
            <a:avLst/>
          </a:prstGeom>
          <a:solidFill>
            <a:schemeClr val="accent6">
              <a:lumMod val="75000"/>
            </a:schemeClr>
          </a:solidFill>
          <a:ln w="9525">
            <a:solidFill>
              <a:srgbClr val="8A5A00"/>
            </a:solidFill>
            <a:prstDash val="solid"/>
          </a:ln>
        </p:spPr>
      </p:sp>
      <p:sp>
        <p:nvSpPr>
          <p:cNvPr id="49" name="Rectangle 48">
            <a:extLst>
              <a:ext uri="{FF2B5EF4-FFF2-40B4-BE49-F238E27FC236}">
                <a16:creationId xmlns:a16="http://schemas.microsoft.com/office/drawing/2014/main" id="{EF0E23C6-8968-41D7-BDC6-95DD26BC8B70}"/>
              </a:ext>
            </a:extLst>
          </p:cNvPr>
          <p:cNvSpPr>
            <a:spLocks noGrp="1"/>
          </p:cNvSpPr>
          <p:nvPr/>
        </p:nvSpPr>
        <p:spPr>
          <a:xfrm>
            <a:off x="9677400" y="5219700"/>
            <a:ext cx="342900" cy="171450"/>
          </a:xfrm>
          <a:prstGeom prst="rect">
            <a:avLst/>
          </a:prstGeom>
          <a:noFill/>
          <a:ln w="0">
            <a:noFill/>
            <a:prstDash val="solid"/>
          </a:ln>
        </p:spPr>
        <p:txBody>
          <a:bodyPr lIns="0" tIns="0" rIns="0" bIns="0" anchor="ctr">
            <a:noAutofit/>
          </a:bodyPr>
          <a:lstStyle/>
          <a:p>
            <a:pPr algn="ctr">
              <a:lnSpc>
                <a:spcPct val="100000"/>
              </a:lnSpc>
              <a:buNone/>
              <a:defRPr sz="1050" b="1">
                <a:solidFill>
                  <a:srgbClr val="FFFFFF"/>
                </a:solidFill>
                <a:latin typeface="Aptos"/>
                <a:ea typeface="Aptos"/>
                <a:cs typeface="Aptos"/>
              </a:defRPr>
            </a:pPr>
            <a:r>
              <a:rPr sz="1050" b="1">
                <a:solidFill>
                  <a:srgbClr val="FFFFFF"/>
                </a:solidFill>
                <a:latin typeface="Aptos"/>
                <a:ea typeface="Aptos"/>
                <a:cs typeface="Aptos"/>
              </a:rPr>
              <a:t>6</a:t>
            </a:r>
          </a:p>
        </p:txBody>
      </p:sp>
      <p:sp>
        <p:nvSpPr>
          <p:cNvPr id="50" name="Rectangle 49">
            <a:extLst>
              <a:ext uri="{FF2B5EF4-FFF2-40B4-BE49-F238E27FC236}">
                <a16:creationId xmlns:a16="http://schemas.microsoft.com/office/drawing/2014/main" id="{0E9347F9-641E-47A4-A9B0-7EDCE2CD5AB1}"/>
              </a:ext>
            </a:extLst>
          </p:cNvPr>
          <p:cNvSpPr>
            <a:spLocks noGrp="1"/>
          </p:cNvSpPr>
          <p:nvPr/>
        </p:nvSpPr>
        <p:spPr>
          <a:xfrm>
            <a:off x="10096500" y="5095875"/>
            <a:ext cx="971550" cy="361950"/>
          </a:xfrm>
          <a:prstGeom prst="rect">
            <a:avLst/>
          </a:prstGeom>
          <a:noFill/>
          <a:ln w="0">
            <a:noFill/>
            <a:prstDash val="solid"/>
          </a:ln>
        </p:spPr>
        <p:txBody>
          <a:bodyPr lIns="0" tIns="0" rIns="0" bIns="0" anchor="ctr">
            <a:noAutofit/>
          </a:bodyPr>
          <a:lstStyle/>
          <a:p>
            <a:pPr algn="l">
              <a:lnSpc>
                <a:spcPct val="100000"/>
              </a:lnSpc>
              <a:buNone/>
              <a:defRPr sz="975" b="1">
                <a:solidFill>
                  <a:srgbClr val="FFFFFF"/>
                </a:solidFill>
                <a:latin typeface="Aptos"/>
                <a:ea typeface="Aptos"/>
                <a:cs typeface="Aptos"/>
              </a:defRPr>
            </a:pPr>
            <a:r>
              <a:rPr sz="975" b="1">
                <a:solidFill>
                  <a:srgbClr val="FFFFFF"/>
                </a:solidFill>
                <a:latin typeface="Aptos"/>
                <a:ea typeface="Aptos"/>
                <a:cs typeface="Aptos"/>
              </a:rPr>
              <a:t>Controls &amp; improvements</a:t>
            </a:r>
          </a:p>
        </p:txBody>
      </p:sp>
      <p:sp>
        <p:nvSpPr>
          <p:cNvPr id="51" name="Rectangle: Rounded Corners 50">
            <a:extLst>
              <a:ext uri="{FF2B5EF4-FFF2-40B4-BE49-F238E27FC236}">
                <a16:creationId xmlns:a16="http://schemas.microsoft.com/office/drawing/2014/main" id="{DA75F528-F28D-466A-93A6-E54C2BAD2752}"/>
              </a:ext>
            </a:extLst>
          </p:cNvPr>
          <p:cNvSpPr>
            <a:spLocks noGrp="1"/>
          </p:cNvSpPr>
          <p:nvPr/>
        </p:nvSpPr>
        <p:spPr>
          <a:xfrm>
            <a:off x="609600" y="5848350"/>
            <a:ext cx="10668000" cy="323850"/>
          </a:xfrm>
          <a:prstGeom prst="roundRect">
            <a:avLst>
              <a:gd name="adj" fmla="val 23529"/>
            </a:avLst>
          </a:prstGeom>
          <a:solidFill>
            <a:srgbClr val="FFF8E0"/>
          </a:solidFill>
          <a:ln w="9525">
            <a:solidFill>
              <a:srgbClr val="FFCD41"/>
            </a:solidFill>
            <a:prstDash val="solid"/>
          </a:ln>
        </p:spPr>
      </p:sp>
      <p:sp>
        <p:nvSpPr>
          <p:cNvPr id="52" name="Rectangle 51">
            <a:extLst>
              <a:ext uri="{FF2B5EF4-FFF2-40B4-BE49-F238E27FC236}">
                <a16:creationId xmlns:a16="http://schemas.microsoft.com/office/drawing/2014/main" id="{2B01E584-5E38-493E-BBC2-A9BAF07E2F17}"/>
              </a:ext>
            </a:extLst>
          </p:cNvPr>
          <p:cNvSpPr>
            <a:spLocks noGrp="1"/>
          </p:cNvSpPr>
          <p:nvPr/>
        </p:nvSpPr>
        <p:spPr>
          <a:xfrm>
            <a:off x="800100" y="5905500"/>
            <a:ext cx="10287000" cy="209550"/>
          </a:xfrm>
          <a:prstGeom prst="rect">
            <a:avLst/>
          </a:prstGeom>
          <a:noFill/>
          <a:ln w="0">
            <a:noFill/>
            <a:prstDash val="solid"/>
          </a:ln>
        </p:spPr>
        <p:txBody>
          <a:bodyPr lIns="0" tIns="0" rIns="0" bIns="0" anchor="t">
            <a:noAutofit/>
          </a:bodyPr>
          <a:lstStyle/>
          <a:p>
            <a:pPr algn="ctr">
              <a:lnSpc>
                <a:spcPct val="100000"/>
              </a:lnSpc>
              <a:buNone/>
              <a:defRPr sz="1200" b="1">
                <a:solidFill>
                  <a:srgbClr val="20252B"/>
                </a:solidFill>
                <a:latin typeface="Aptos"/>
                <a:ea typeface="Aptos"/>
                <a:cs typeface="Aptos"/>
              </a:defRPr>
            </a:pPr>
            <a:r>
              <a:rPr sz="1200" b="1">
                <a:solidFill>
                  <a:srgbClr val="20252B"/>
                </a:solidFill>
                <a:latin typeface="Aptos"/>
                <a:ea typeface="Aptos"/>
                <a:cs typeface="Aptos"/>
              </a:rPr>
              <a:t>Open design questions will be documented as explicit validation or improvement items.</a:t>
            </a:r>
          </a:p>
        </p:txBody>
      </p:sp>
    </p:spTree>
    <p:extLst>
      <p:ext uri="{BB962C8B-B14F-4D97-AF65-F5344CB8AC3E}">
        <p14:creationId xmlns:p14="http://schemas.microsoft.com/office/powerpoint/2010/main" val="288515075"/>
      </p:ext>
    </p:extLst>
  </p:cSld>
  <p:clrMapOvr>
    <a:masterClrMapping/>
  </p:clrMapOvr>
</p:sld>
</file>

<file path=ppt/theme/theme1.xml><?xml version="1.0" encoding="utf-8"?>
<a:theme xmlns:a="http://schemas.openxmlformats.org/drawingml/2006/main" name="ChatGPT">
  <a:themeElements>
    <a:clrScheme name="LEAP Trade P&amp;L">
      <a:dk1>
        <a:srgbClr val="000000"/>
      </a:dk1>
      <a:lt1>
        <a:srgbClr val="FFFFFF"/>
      </a:lt1>
      <a:dk2>
        <a:srgbClr val="3F4953"/>
      </a:dk2>
      <a:lt2>
        <a:srgbClr val="E2E6EA"/>
      </a:lt2>
      <a:accent1>
        <a:srgbClr val="D71E28"/>
      </a:accent1>
      <a:accent2>
        <a:srgbClr val="FFCD41"/>
      </a:accent2>
      <a:accent3>
        <a:srgbClr val="971B2F"/>
      </a:accent3>
      <a:accent4>
        <a:srgbClr val="2F5D73"/>
      </a:accent4>
      <a:accent5>
        <a:srgbClr val="2F6B4F"/>
      </a:accent5>
      <a:accent6>
        <a:srgbClr val="5D6772"/>
      </a:accent6>
      <a:hlink>
        <a:srgbClr val="D71E28"/>
      </a:hlink>
      <a:folHlink>
        <a:srgbClr val="971B2F"/>
      </a:folHlink>
    </a:clrScheme>
    <a:fontScheme name="Office">
      <a:majorFont>
        <a:latin typeface="Calibri Light"/>
        <a:ea typeface="Calibri Light"/>
        <a:cs typeface="Calibri Light"/>
      </a:majorFont>
      <a:minorFont>
        <a:latin typeface="Calibri"/>
        <a:ea typeface="Calibri"/>
        <a:cs typeface="Calibri"/>
      </a:minorFont>
    </a:fontScheme>
    <a:fmtScheme name="LEAP Trade P&amp;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LEAP Trade P&amp;L">
      <a:dk1>
        <a:srgbClr val="000000"/>
      </a:dk1>
      <a:lt1>
        <a:srgbClr val="FFFFFF"/>
      </a:lt1>
      <a:dk2>
        <a:srgbClr val="3F4953"/>
      </a:dk2>
      <a:lt2>
        <a:srgbClr val="E2E6EA"/>
      </a:lt2>
      <a:accent1>
        <a:srgbClr val="D71E28"/>
      </a:accent1>
      <a:accent2>
        <a:srgbClr val="FFCD41"/>
      </a:accent2>
      <a:accent3>
        <a:srgbClr val="971B2F"/>
      </a:accent3>
      <a:accent4>
        <a:srgbClr val="2F5D73"/>
      </a:accent4>
      <a:accent5>
        <a:srgbClr val="2F6B4F"/>
      </a:accent5>
      <a:accent6>
        <a:srgbClr val="5D6772"/>
      </a:accent6>
      <a:hlink>
        <a:srgbClr val="D71E28"/>
      </a:hlink>
      <a:folHlink>
        <a:srgbClr val="971B2F"/>
      </a:folHlink>
    </a:clrScheme>
    <a:fontScheme name="Office">
      <a:majorFont>
        <a:latin typeface="Calibri Light"/>
        <a:ea typeface="Calibri Light"/>
        <a:cs typeface="Calibri Light"/>
      </a:majorFont>
      <a:minorFont>
        <a:latin typeface="Calibri"/>
        <a:ea typeface="Calibri"/>
        <a:cs typeface="Calibri"/>
      </a:minorFont>
    </a:fontScheme>
    <a:fmtScheme name="LEAP Trade P&amp;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887C1C-F2C7-468E-B9BD-F98CDF7BB9FB}">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TotalTime>
  <Words>10651</Words>
  <Application>Microsoft Office PowerPoint</Application>
  <DocSecurity>0</DocSecurity>
  <PresentationFormat>Widescreen</PresentationFormat>
  <Paragraphs>1004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Seshu Nuthakki</cp:lastModifiedBy>
  <cp:revision>1</cp:revision>
  <dcterms:created xsi:type="dcterms:W3CDTF">2026-08-14T06:11:24Z</dcterms:created>
  <dcterms:modified xsi:type="dcterms:W3CDTF">2026-08-14T13:26:52Z</dcterms:modified>
</cp:coreProperties>
</file>