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4" r:id="rId15"/>
    <p:sldId id="260" r:id="rId6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8694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71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C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FARGO  ·  L2 SUPPORT AUTOMATION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ETL Incident Diagnosis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hours of cross-region debugging to minutes of automated diagnosis.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job failures hit hardest at 2 AM.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run nightly. They fail nightly.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EGS L2 production support teams in India are the first responders.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our databases reside on SAR-restricted servers  —  accessible only from inside the US.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stalls until US teams come online  —  hours later.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engineers and various teams get pulled in to coordinate the wait.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029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3492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hours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731520" y="6080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worst incidents  —  before real debugging even begins.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2011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NIGHTLY FAILURE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12280" y="2606040"/>
            <a:ext cx="0" cy="3200400"/>
          </a:xfrm>
          <a:prstGeom prst="line">
            <a:avLst/>
          </a:prstGeom>
          <a:noFill/>
          <a:ln w="2540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2468880"/>
            <a:ext cx="274320" cy="274320"/>
          </a:xfrm>
          <a:prstGeom prst="ellipse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 AM 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fails/ INC Generated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75120" y="3108960"/>
            <a:ext cx="274320" cy="274320"/>
          </a:xfrm>
          <a:prstGeom prst="ellipse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2:05 AM 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9536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EGS teams engaged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75120" y="3749040"/>
            <a:ext cx="274320" cy="274320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2:15 AM 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9536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by SAR access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0" y="4389120"/>
            <a:ext cx="274320" cy="274320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AM 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95360" y="4389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teams come online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75120" y="5029200"/>
            <a:ext cx="274320" cy="274320"/>
          </a:xfrm>
          <a:prstGeom prst="ellipse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5029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AM 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0" y="5029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begins/support teams engaged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675120" y="5669280"/>
            <a:ext cx="274320" cy="274320"/>
          </a:xfrm>
          <a:prstGeom prst="ellipse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78040" y="5669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 PM 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95360" y="5669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complete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tools. Multiple teams. Hours of work.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solidFill>
            <a:srgbClr val="FFFDF7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11680"/>
            <a:ext cx="91440" cy="548640"/>
          </a:xfrm>
          <a:prstGeom prst="rect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103120"/>
            <a:ext cx="365760" cy="365760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0" y="2011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alert. Find the failing Autosys job.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633472"/>
            <a:ext cx="10698480" cy="548640"/>
          </a:xfrm>
          <a:prstGeom prst="rect">
            <a:avLst/>
          </a:prstGeom>
          <a:solidFill>
            <a:srgbClr val="FFFDF7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633472"/>
            <a:ext cx="91440" cy="548640"/>
          </a:xfrm>
          <a:prstGeom prst="rect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2724912"/>
            <a:ext cx="365760" cy="365760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26334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Autosys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14800" y="263347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the SSIS package being executed and its parameters.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255264"/>
            <a:ext cx="10698480" cy="548640"/>
          </a:xfrm>
          <a:prstGeom prst="rect">
            <a:avLst/>
          </a:prstGeom>
          <a:solidFill>
            <a:srgbClr val="FFFDF7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255264"/>
            <a:ext cx="91440" cy="548640"/>
          </a:xfrm>
          <a:prstGeom prst="rect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3346704"/>
            <a:ext cx="365760" cy="365760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325526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SSISDB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0" y="325526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the execution logs for failure details.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3877056"/>
            <a:ext cx="10698480" cy="548640"/>
          </a:xfrm>
          <a:prstGeom prst="rect">
            <a:avLst/>
          </a:prstGeom>
          <a:solidFill>
            <a:srgbClr val="FFFDF7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3877056"/>
            <a:ext cx="91440" cy="548640"/>
          </a:xfrm>
          <a:prstGeom prst="rect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3968496"/>
            <a:ext cx="365760" cy="365760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38770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114800" y="387705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SSIS package source.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20" y="4498848"/>
            <a:ext cx="10698480" cy="548640"/>
          </a:xfrm>
          <a:prstGeom prst="rect">
            <a:avLst/>
          </a:prstGeom>
          <a:solidFill>
            <a:srgbClr val="FFFDF7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4498848"/>
            <a:ext cx="91440" cy="548640"/>
          </a:xfrm>
          <a:prstGeom prst="rect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" y="4590288"/>
            <a:ext cx="365760" cy="365760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4590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554480" y="44988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internals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114800" y="449884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failing table, stored procedure, or data-flow task.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31520" y="5120640"/>
            <a:ext cx="10698480" cy="548640"/>
          </a:xfrm>
          <a:prstGeom prst="rect">
            <a:avLst/>
          </a:prstGeom>
          <a:solidFill>
            <a:srgbClr val="FFFDF7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" y="5120640"/>
            <a:ext cx="91440" cy="548640"/>
          </a:xfrm>
          <a:prstGeom prst="rect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5840" y="5212080"/>
            <a:ext cx="365760" cy="365760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84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554480" y="5120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debug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114800" y="51206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Trace, reproduce, document. Then fix.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31520" y="5925312"/>
            <a:ext cx="10698480" cy="457200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592531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C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every step waits for whoever has access  —  often the US DBAs, hours away.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AUTOMATION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investigation. Five minutes. Available 24/7.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05840" y="2103120"/>
            <a:ext cx="3200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3444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 AM 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26700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fails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251960" y="2948940"/>
            <a:ext cx="182880" cy="0"/>
          </a:xfrm>
          <a:prstGeom prst="line">
            <a:avLst/>
          </a:prstGeom>
          <a:noFill/>
          <a:ln w="38100">
            <a:solidFill>
              <a:srgbClr val="D71E2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80560" y="2103120"/>
            <a:ext cx="3200400" cy="1691640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C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15 minutes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26700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investigates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0916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systems, in parallel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26680" y="2948940"/>
            <a:ext cx="182880" cy="0"/>
          </a:xfrm>
          <a:prstGeom prst="line">
            <a:avLst/>
          </a:prstGeom>
          <a:noFill/>
          <a:ln w="38100">
            <a:solidFill>
              <a:srgbClr val="D71E2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955280" y="2103120"/>
            <a:ext cx="3200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8388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2:15 AM 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83880" y="26700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emailed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8388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Production Support  ·  Application Team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1500" y="4160520"/>
            <a:ext cx="5440680" cy="914400"/>
          </a:xfrm>
          <a:prstGeom prst="rect">
            <a:avLst/>
          </a:prstGeom>
          <a:solidFill>
            <a:srgbClr val="FFFDF7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" y="4160520"/>
            <a:ext cx="91440" cy="914400"/>
          </a:xfrm>
          <a:prstGeom prst="rect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" y="425196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24 / 7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5820" y="46177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ready regardless of region or shift.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49340" y="4160520"/>
            <a:ext cx="5440680" cy="914400"/>
          </a:xfrm>
          <a:prstGeom prst="rect">
            <a:avLst/>
          </a:prstGeom>
          <a:solidFill>
            <a:srgbClr val="FFFDF7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49340" y="4160520"/>
            <a:ext cx="91440" cy="914400"/>
          </a:xfrm>
          <a:prstGeom prst="rect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23660" y="425196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Action-ready offshore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23660" y="46177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EGS gets a usable diagnosis  —  confirms scope, preps the fix without waiting.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1500" y="5212080"/>
            <a:ext cx="5440680" cy="914400"/>
          </a:xfrm>
          <a:prstGeom prst="rect">
            <a:avLst/>
          </a:prstGeom>
          <a:solidFill>
            <a:srgbClr val="FFFDF7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1500" y="5212080"/>
            <a:ext cx="91440" cy="914400"/>
          </a:xfrm>
          <a:prstGeom prst="rect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820" y="53035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escalation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45820" y="566928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DBAs engaged only when SAR-restricted server access is truly needed.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49340" y="5212080"/>
            <a:ext cx="5440680" cy="914400"/>
          </a:xfrm>
          <a:prstGeom prst="rect">
            <a:avLst/>
          </a:prstGeom>
          <a:solidFill>
            <a:srgbClr val="FFFDF7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49340" y="5212080"/>
            <a:ext cx="91440" cy="914400"/>
          </a:xfrm>
          <a:prstGeom prst="rect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3660" y="53035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accuracy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23660" y="566928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same code, logs, and packages a developer would  —  faster.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" name="Eyebrow"/>
          <p:cNvSpPr/>
          <p:nvPr/>
        </p:nvSpPr>
        <p:spPr>
          <a:xfrm>
            <a:off x="73152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71E28"/>
                </a:solidFill>
                <a:latin typeface="Calibri" pitchFamily="34" charset="0"/>
              </a:rPr>
              <a:t>IMPACT</a:t>
            </a:r>
          </a:p>
        </p:txBody>
      </p:sp>
      <p:sp>
        <p:nvSpPr>
          <p:cNvPr id="4" name="Title"/>
          <p:cNvSpPr/>
          <p:nvPr/>
        </p:nvSpPr>
        <p:spPr>
          <a:xfrm>
            <a:off x="731520" y="900000"/>
            <a:ext cx="106984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1B"/>
                </a:solidFill>
                <a:latin typeface="Calibri" pitchFamily="34" charset="0"/>
              </a:rPr>
              <a:t>Same diagnosis. Real impact. Read-only by design.</a:t>
            </a:r>
          </a:p>
        </p:txBody>
      </p:sp>
      <p:sp>
        <p:nvSpPr>
          <p:cNvPr id="5" name="Subtitle"/>
          <p:cNvSpPr/>
          <p:nvPr/>
        </p:nvSpPr>
        <p:spPr>
          <a:xfrm>
            <a:off x="731520" y="1450000"/>
            <a:ext cx="106984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</a:rPr>
              <a:t>The system reads logs, code, and incidents  —  it cannot modify production data or restart jobs.</a:t>
            </a:r>
          </a:p>
        </p:txBody>
      </p:sp>
      <p:sp>
        <p:nvSpPr>
          <p:cNvPr id="6" name="PageNum"/>
          <p:cNvSpPr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</a:rPr>
              <a:t>6 / 7</a:t>
            </a:r>
          </a:p>
        </p:txBody>
      </p:sp>
      <p:sp>
        <p:nvSpPr>
          <p:cNvPr id="10" name="S1Card"/>
          <p:cNvSpPr/>
          <p:nvPr/>
        </p:nvSpPr>
        <p:spPr>
          <a:xfrm>
            <a:off x="571500" y="2000000"/>
            <a:ext cx="2640000" cy="1300000"/>
          </a:xfrm>
          <a:prstGeom prst="rect">
            <a:avLst/>
          </a:prstGeom>
          <a:solidFill>
            <a:srgbClr val="FFFDF7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1" name="S1Stripe"/>
          <p:cNvSpPr/>
          <p:nvPr/>
        </p:nvSpPr>
        <p:spPr>
          <a:xfrm>
            <a:off x="571500" y="2000000"/>
            <a:ext cx="91440" cy="1300000"/>
          </a:xfrm>
          <a:prstGeom prst="rect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12" name="S1Num"/>
          <p:cNvSpPr/>
          <p:nvPr/>
        </p:nvSpPr>
        <p:spPr>
          <a:xfrm>
            <a:off x="845820" y="2150000"/>
            <a:ext cx="22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B1B"/>
                </a:solidFill>
                <a:latin typeface="Calibri" pitchFamily="34" charset="0"/>
              </a:rPr>
              <a:t>10 hours</a:t>
            </a:r>
          </a:p>
        </p:txBody>
      </p:sp>
      <p:sp>
        <p:nvSpPr>
          <p:cNvPr id="13" name="S1Desc"/>
          <p:cNvSpPr/>
          <p:nvPr/>
        </p:nvSpPr>
        <p:spPr>
          <a:xfrm>
            <a:off x="845820" y="2780000"/>
            <a:ext cx="22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</a:rPr>
              <a:t>saved on worst-case incidents</a:t>
            </a:r>
          </a:p>
        </p:txBody>
      </p:sp>
      <p:sp>
        <p:nvSpPr>
          <p:cNvPr id="20" name="S2Card"/>
          <p:cNvSpPr/>
          <p:nvPr/>
        </p:nvSpPr>
        <p:spPr>
          <a:xfrm>
            <a:off x="3356500" y="2000000"/>
            <a:ext cx="2640000" cy="1300000"/>
          </a:xfrm>
          <a:prstGeom prst="rect">
            <a:avLst/>
          </a:prstGeom>
          <a:solidFill>
            <a:srgbClr val="FFFDF7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21" name="S2Stripe"/>
          <p:cNvSpPr/>
          <p:nvPr/>
        </p:nvSpPr>
        <p:spPr>
          <a:xfrm>
            <a:off x="3356500" y="2000000"/>
            <a:ext cx="91440" cy="1300000"/>
          </a:xfrm>
          <a:prstGeom prst="rect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22" name="S2Num"/>
          <p:cNvSpPr/>
          <p:nvPr/>
        </p:nvSpPr>
        <p:spPr>
          <a:xfrm>
            <a:off x="3630820" y="2150000"/>
            <a:ext cx="22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B1B"/>
                </a:solidFill>
                <a:latin typeface="Calibri" pitchFamily="34" charset="0"/>
              </a:rPr>
              <a:t>15 min</a:t>
            </a:r>
          </a:p>
        </p:txBody>
      </p:sp>
      <p:sp>
        <p:nvSpPr>
          <p:cNvPr id="23" name="S2Desc"/>
          <p:cNvSpPr/>
          <p:nvPr/>
        </p:nvSpPr>
        <p:spPr>
          <a:xfrm>
            <a:off x="3630820" y="2780000"/>
            <a:ext cx="22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</a:rPr>
              <a:t>alert to diagnosis</a:t>
            </a:r>
          </a:p>
        </p:txBody>
      </p:sp>
      <p:sp>
        <p:nvSpPr>
          <p:cNvPr id="30" name="S3Card"/>
          <p:cNvSpPr/>
          <p:nvPr/>
        </p:nvSpPr>
        <p:spPr>
          <a:xfrm>
            <a:off x="6141500" y="2000000"/>
            <a:ext cx="2640000" cy="1300000"/>
          </a:xfrm>
          <a:prstGeom prst="rect">
            <a:avLst/>
          </a:prstGeom>
          <a:solidFill>
            <a:srgbClr val="FFFDF7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31" name="S3Stripe"/>
          <p:cNvSpPr/>
          <p:nvPr/>
        </p:nvSpPr>
        <p:spPr>
          <a:xfrm>
            <a:off x="6141500" y="2000000"/>
            <a:ext cx="91440" cy="1300000"/>
          </a:xfrm>
          <a:prstGeom prst="rect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32" name="S3Num"/>
          <p:cNvSpPr/>
          <p:nvPr/>
        </p:nvSpPr>
        <p:spPr>
          <a:xfrm>
            <a:off x="6415820" y="2150000"/>
            <a:ext cx="22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B1B"/>
                </a:solidFill>
                <a:latin typeface="Calibri" pitchFamily="34" charset="0"/>
              </a:rPr>
              <a:t>24 / 7</a:t>
            </a:r>
          </a:p>
        </p:txBody>
      </p:sp>
      <p:sp>
        <p:nvSpPr>
          <p:cNvPr id="33" name="S3Desc"/>
          <p:cNvSpPr/>
          <p:nvPr/>
        </p:nvSpPr>
        <p:spPr>
          <a:xfrm>
            <a:off x="6415820" y="2780000"/>
            <a:ext cx="22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</a:rPr>
              <a:t>diagnosis availability</a:t>
            </a:r>
          </a:p>
        </p:txBody>
      </p:sp>
      <p:sp>
        <p:nvSpPr>
          <p:cNvPr id="40" name="S4Card"/>
          <p:cNvSpPr/>
          <p:nvPr/>
        </p:nvSpPr>
        <p:spPr>
          <a:xfrm>
            <a:off x="8926500" y="2000000"/>
            <a:ext cx="2640000" cy="1300000"/>
          </a:xfrm>
          <a:prstGeom prst="rect">
            <a:avLst/>
          </a:prstGeom>
          <a:solidFill>
            <a:srgbClr val="FFFDF7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41" name="S4Stripe"/>
          <p:cNvSpPr/>
          <p:nvPr/>
        </p:nvSpPr>
        <p:spPr>
          <a:xfrm>
            <a:off x="8926500" y="2000000"/>
            <a:ext cx="91440" cy="1300000"/>
          </a:xfrm>
          <a:prstGeom prst="rect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42" name="S4Num"/>
          <p:cNvSpPr/>
          <p:nvPr/>
        </p:nvSpPr>
        <p:spPr>
          <a:xfrm>
            <a:off x="9200820" y="2150000"/>
            <a:ext cx="22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B1B"/>
                </a:solidFill>
                <a:latin typeface="Calibri" pitchFamily="34" charset="0"/>
              </a:rPr>
              <a:t>Surgical</a:t>
            </a:r>
          </a:p>
        </p:txBody>
      </p:sp>
      <p:sp>
        <p:nvSpPr>
          <p:cNvPr id="43" name="S4Desc"/>
          <p:cNvSpPr/>
          <p:nvPr/>
        </p:nvSpPr>
        <p:spPr>
          <a:xfrm>
            <a:off x="9200820" y="2780000"/>
            <a:ext cx="22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</a:rPr>
              <a:t>escalation, not blanket triage</a:t>
            </a:r>
          </a:p>
        </p:txBody>
      </p:sp>
      <p:sp>
        <p:nvSpPr>
          <p:cNvPr id="50" name="OffCard"/>
          <p:cNvSpPr/>
          <p:nvPr/>
        </p:nvSpPr>
        <p:spPr>
          <a:xfrm>
            <a:off x="571500" y="3550000"/>
            <a:ext cx="5450000" cy="2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OffLabel"/>
          <p:cNvSpPr/>
          <p:nvPr/>
        </p:nvSpPr>
        <p:spPr>
          <a:xfrm>
            <a:off x="845820" y="3700000"/>
            <a:ext cx="49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D71E28"/>
                </a:solidFill>
                <a:latin typeface="Calibri" pitchFamily="34" charset="0"/>
              </a:rPr>
              <a:t>OFFSHORE EGS</a:t>
            </a:r>
          </a:p>
        </p:txBody>
      </p:sp>
      <p:sp>
        <p:nvSpPr>
          <p:cNvPr id="52" name="OffHead"/>
          <p:cNvSpPr/>
          <p:nvPr/>
        </p:nvSpPr>
        <p:spPr>
          <a:xfrm>
            <a:off x="845820" y="4000000"/>
            <a:ext cx="49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1B"/>
                </a:solidFill>
                <a:latin typeface="Calibri" pitchFamily="34" charset="0"/>
              </a:rPr>
              <a:t>Frontline coverage 24/7</a:t>
            </a:r>
          </a:p>
        </p:txBody>
      </p:sp>
      <p:sp>
        <p:nvSpPr>
          <p:cNvPr id="53" name="OffBody"/>
          <p:cNvSpPr/>
          <p:nvPr/>
        </p:nvSpPr>
        <p:spPr>
          <a:xfrm>
            <a:off x="845820" y="4470000"/>
            <a:ext cx="4900000" cy="1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</a:rPr>
              <a:t>Receives a usable diagnosis at 2:15 AM. Confirms scope, preps the fix, and escalates only what truly requires US access  —  no more waiting until US morning hours.</a:t>
            </a:r>
          </a:p>
        </p:txBody>
      </p:sp>
      <p:sp>
        <p:nvSpPr>
          <p:cNvPr id="60" name="DbaCard"/>
          <p:cNvSpPr/>
          <p:nvPr/>
        </p:nvSpPr>
        <p:spPr>
          <a:xfrm>
            <a:off x="6172000" y="3550000"/>
            <a:ext cx="5450000" cy="2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1" name="DbaLabel"/>
          <p:cNvSpPr/>
          <p:nvPr/>
        </p:nvSpPr>
        <p:spPr>
          <a:xfrm>
            <a:off x="6446320" y="3700000"/>
            <a:ext cx="49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D71E28"/>
                </a:solidFill>
                <a:latin typeface="Calibri" pitchFamily="34" charset="0"/>
              </a:rPr>
              <a:t>US DBAs</a:t>
            </a:r>
          </a:p>
        </p:txBody>
      </p:sp>
      <p:sp>
        <p:nvSpPr>
          <p:cNvPr id="62" name="DbaHead"/>
          <p:cNvSpPr/>
          <p:nvPr/>
        </p:nvSpPr>
        <p:spPr>
          <a:xfrm>
            <a:off x="6446320" y="4000000"/>
            <a:ext cx="49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1B"/>
                </a:solidFill>
                <a:latin typeface="Calibri" pitchFamily="34" charset="0"/>
              </a:rPr>
              <a:t>Engaged surgically</a:t>
            </a:r>
          </a:p>
        </p:txBody>
      </p:sp>
      <p:sp>
        <p:nvSpPr>
          <p:cNvPr id="63" name="DbaBody"/>
          <p:cNvSpPr/>
          <p:nvPr/>
        </p:nvSpPr>
        <p:spPr>
          <a:xfrm>
            <a:off x="6446320" y="4470000"/>
            <a:ext cx="4900000" cy="1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</a:rPr>
              <a:t>Engaged only for tasks that genuinely require SAR-restricted access  —  no more 5 AM wake-ups for routine first-pass triage that could have been handled elsewhere.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7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small. Prove value. Expand.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3657600" cy="3657600"/>
          </a:xfrm>
          <a:prstGeom prst="rect">
            <a:avLst/>
          </a:prstGeom>
          <a:solidFill>
            <a:srgbClr val="FFFDF7"/>
          </a:solidFill>
          <a:ln w="12700">
            <a:solidFill>
              <a:srgbClr val="E5E0D5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514600"/>
            <a:ext cx="1463040" cy="365760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diagnosis emailed to engineers within 15 minutes. No automated changes to production.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69080" y="4023360"/>
            <a:ext cx="137160" cy="0"/>
          </a:xfrm>
          <a:prstGeom prst="line">
            <a:avLst/>
          </a:prstGeom>
          <a:noFill/>
          <a:ln w="31750">
            <a:solidFill>
              <a:srgbClr val="D71E2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51960" y="219456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26280" y="2514600"/>
            <a:ext cx="1463040" cy="36576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3108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26280" y="39776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engineer feedback to keep improving accuracy. Expand coverage to additional job types.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55280" y="4023360"/>
            <a:ext cx="137160" cy="0"/>
          </a:xfrm>
          <a:prstGeom prst="line">
            <a:avLst/>
          </a:prstGeom>
          <a:noFill/>
          <a:ln w="31750">
            <a:solidFill>
              <a:srgbClr val="D71E2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38160" y="219456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0" y="2514600"/>
            <a:ext cx="1463040" cy="36576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0" y="3108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Fixes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8412480" y="39776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confidence is high, suggest the actual code change. Engineer still approves and merges.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" name="Eyebrow"/>
          <p:cNvSpPr/>
          <p:nvPr/>
        </p:nvSpPr>
        <p:spPr>
          <a:xfrm>
            <a:off x="73152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71E28"/>
                </a:solidFill>
                <a:latin typeface="Calibri" pitchFamily="34" charset="0"/>
              </a:rPr>
              <a:t>PROCESS COMPARISON</a:t>
            </a:r>
          </a:p>
        </p:txBody>
      </p:sp>
      <p:sp>
        <p:nvSpPr>
          <p:cNvPr id="4" name="Title"/>
          <p:cNvSpPr/>
          <p:nvPr/>
        </p:nvSpPr>
        <p:spPr>
          <a:xfrm>
            <a:off x="731520" y="900000"/>
            <a:ext cx="1069848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1B"/>
                </a:solidFill>
                <a:latin typeface="Calibri" pitchFamily="34" charset="0"/>
              </a:rPr>
              <a:t>From a multi-team relay to a single automated diagnosis.</a:t>
            </a:r>
          </a:p>
        </p:txBody>
      </p:sp>
      <p:sp>
        <p:nvSpPr>
          <p:cNvPr id="5" name="PageNum"/>
          <p:cNvSpPr/>
          <p:nvPr/>
        </p:nvSpPr>
        <p:spPr>
          <a:xfrm>
            <a:off x="1078992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</a:rPr>
              <a:t>5 / 7</a:t>
            </a:r>
          </a:p>
        </p:txBody>
      </p:sp>
      <p:sp>
        <p:nvSpPr>
          <p:cNvPr id="10" name="LeftLabel"/>
          <p:cNvSpPr/>
          <p:nvPr/>
        </p:nvSpPr>
        <p:spPr>
          <a:xfrm>
            <a:off x="571500" y="1750000"/>
            <a:ext cx="544068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D71E28"/>
                </a:solidFill>
                <a:latin typeface="Calibri" pitchFamily="34" charset="0"/>
              </a:rPr>
              <a:t>TODAY  ·  MANUAL RELAY</a:t>
            </a:r>
          </a:p>
        </p:txBody>
      </p:sp>
      <p:sp>
        <p:nvSpPr>
          <p:cNvPr id="11" name="LeftHeading"/>
          <p:cNvSpPr/>
          <p:nvPr/>
        </p:nvSpPr>
        <p:spPr>
          <a:xfrm>
            <a:off x="571500" y="2050000"/>
            <a:ext cx="544068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1B"/>
                </a:solidFill>
                <a:latin typeface="Calibri" pitchFamily="34" charset="0"/>
              </a:rPr>
              <a:t>Up to 10 hours, six handoffs.</a:t>
            </a:r>
          </a:p>
        </p:txBody>
      </p:sp>
      <p:sp>
        <p:nvSpPr>
          <p:cNvPr id="12" name="LeftRail"/>
          <p:cNvSpPr/>
          <p:nvPr/>
        </p:nvSpPr>
        <p:spPr>
          <a:xfrm>
            <a:off x="811000" y="2570000"/>
            <a:ext cx="22860" cy="3640000"/>
          </a:xfrm>
          <a:prstGeom prst="rect">
            <a:avLst/>
          </a:prstGeom>
          <a:solidFill>
            <a:srgbClr val="E5E0D5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20" name="L1Dot"/>
          <p:cNvSpPr/>
          <p:nvPr/>
        </p:nvSpPr>
        <p:spPr>
          <a:xfrm>
            <a:off x="731520" y="2570000"/>
            <a:ext cx="182880" cy="182880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21" name="L1Time"/>
          <p:cNvSpPr/>
          <p:nvPr/>
        </p:nvSpPr>
        <p:spPr>
          <a:xfrm>
            <a:off x="1050000" y="2515000"/>
            <a:ext cx="11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A8A8A"/>
                </a:solidFill>
                <a:latin typeface="Calibri" pitchFamily="34" charset="0"/>
              </a:rPr>
              <a:t>2:00 AM ET</a:t>
            </a:r>
          </a:p>
        </p:txBody>
      </p:sp>
      <p:sp>
        <p:nvSpPr>
          <p:cNvPr id="22" name="L1Text"/>
          <p:cNvSpPr/>
          <p:nvPr/>
        </p:nvSpPr>
        <p:spPr>
          <a:xfrm>
            <a:off x="1050000" y="2755000"/>
            <a:ext cx="490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</a:rPr>
              <a:t>Job fails. ServiceNow incident auto-generated.</a:t>
            </a:r>
          </a:p>
        </p:txBody>
      </p:sp>
      <p:sp>
        <p:nvSpPr>
          <p:cNvPr id="23" name="L2Dot"/>
          <p:cNvSpPr/>
          <p:nvPr/>
        </p:nvSpPr>
        <p:spPr>
          <a:xfrm>
            <a:off x="731520" y="3170000"/>
            <a:ext cx="182880" cy="182880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24" name="L2Time"/>
          <p:cNvSpPr/>
          <p:nvPr/>
        </p:nvSpPr>
        <p:spPr>
          <a:xfrm>
            <a:off x="1050000" y="3115000"/>
            <a:ext cx="11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A8A8A"/>
                </a:solidFill>
                <a:latin typeface="Calibri" pitchFamily="34" charset="0"/>
              </a:rPr>
              <a:t>2:05 AM ET</a:t>
            </a:r>
          </a:p>
        </p:txBody>
      </p:sp>
      <p:sp>
        <p:nvSpPr>
          <p:cNvPr id="25" name="L2Text"/>
          <p:cNvSpPr/>
          <p:nvPr/>
        </p:nvSpPr>
        <p:spPr>
          <a:xfrm>
            <a:off x="1050000" y="3355000"/>
            <a:ext cx="490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</a:rPr>
              <a:t>Offshore EGS L2 picks up the ticket and starts to investigate.</a:t>
            </a:r>
          </a:p>
        </p:txBody>
      </p:sp>
      <p:sp>
        <p:nvSpPr>
          <p:cNvPr id="26" name="L3Dot"/>
          <p:cNvSpPr/>
          <p:nvPr/>
        </p:nvSpPr>
        <p:spPr>
          <a:xfrm>
            <a:off x="731520" y="3770000"/>
            <a:ext cx="182880" cy="182880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27" name="L3Time"/>
          <p:cNvSpPr/>
          <p:nvPr/>
        </p:nvSpPr>
        <p:spPr>
          <a:xfrm>
            <a:off x="1050000" y="3715000"/>
            <a:ext cx="11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A8A8A"/>
                </a:solidFill>
                <a:latin typeface="Calibri" pitchFamily="34" charset="0"/>
              </a:rPr>
              <a:t>2:30 AM ET</a:t>
            </a:r>
          </a:p>
        </p:txBody>
      </p:sp>
      <p:sp>
        <p:nvSpPr>
          <p:cNvPr id="28" name="L3Text"/>
          <p:cNvSpPr/>
          <p:nvPr/>
        </p:nvSpPr>
        <p:spPr>
          <a:xfrm>
            <a:off x="1050000" y="3955000"/>
            <a:ext cx="490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</a:rPr>
              <a:t>L2 engages EGS DBAs offshore. DBAs spend time identifying the issue.</a:t>
            </a:r>
          </a:p>
        </p:txBody>
      </p:sp>
      <p:sp>
        <p:nvSpPr>
          <p:cNvPr id="29" name="L4Dot"/>
          <p:cNvSpPr/>
          <p:nvPr/>
        </p:nvSpPr>
        <p:spPr>
          <a:xfrm>
            <a:off x="731520" y="4370000"/>
            <a:ext cx="182880" cy="182880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0" name="L4Time"/>
          <p:cNvSpPr/>
          <p:nvPr/>
        </p:nvSpPr>
        <p:spPr>
          <a:xfrm>
            <a:off x="1050000" y="4315000"/>
            <a:ext cx="11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A8A8A"/>
                </a:solidFill>
                <a:latin typeface="Calibri" pitchFamily="34" charset="0"/>
              </a:rPr>
              <a:t>3:00 AM ET</a:t>
            </a:r>
          </a:p>
        </p:txBody>
      </p:sp>
      <p:sp>
        <p:nvSpPr>
          <p:cNvPr id="31" name="L4Text"/>
          <p:cNvSpPr/>
          <p:nvPr/>
        </p:nvSpPr>
        <p:spPr>
          <a:xfrm>
            <a:off x="1050000" y="4555000"/>
            <a:ext cx="49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</a:rPr>
              <a:t>Branch by issue type:  SAR server → page US DBAs (may not answer).  Server / permissions → DBAs resolve.  Otherwise → punt to developers.</a:t>
            </a:r>
          </a:p>
        </p:txBody>
      </p:sp>
      <p:sp>
        <p:nvSpPr>
          <p:cNvPr id="32" name="L5Dot"/>
          <p:cNvSpPr/>
          <p:nvPr/>
        </p:nvSpPr>
        <p:spPr>
          <a:xfrm>
            <a:off x="731520" y="5180000"/>
            <a:ext cx="182880" cy="182880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3" name="L5Time"/>
          <p:cNvSpPr/>
          <p:nvPr/>
        </p:nvSpPr>
        <p:spPr>
          <a:xfrm>
            <a:off x="1050000" y="5125000"/>
            <a:ext cx="18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A8A8A"/>
                </a:solidFill>
                <a:latin typeface="Calibri" pitchFamily="34" charset="0"/>
              </a:rPr>
              <a:t>9:00 - 11:00 AM ET</a:t>
            </a:r>
          </a:p>
        </p:txBody>
      </p:sp>
      <p:sp>
        <p:nvSpPr>
          <p:cNvPr id="34" name="L5Text"/>
          <p:cNvSpPr/>
          <p:nvPr/>
        </p:nvSpPr>
        <p:spPr>
          <a:xfrm>
            <a:off x="1050000" y="5365000"/>
            <a:ext cx="49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</a:rPr>
              <a:t>US DBAs come online, review jobs and execution reports, then ask app developers to inspect the SSIS packages.</a:t>
            </a:r>
          </a:p>
        </p:txBody>
      </p:sp>
      <p:sp>
        <p:nvSpPr>
          <p:cNvPr id="35" name="L6Dot"/>
          <p:cNvSpPr/>
          <p:nvPr/>
        </p:nvSpPr>
        <p:spPr>
          <a:xfrm>
            <a:off x="731520" y="5990000"/>
            <a:ext cx="182880" cy="182880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6" name="L6Time"/>
          <p:cNvSpPr/>
          <p:nvPr/>
        </p:nvSpPr>
        <p:spPr>
          <a:xfrm>
            <a:off x="1050000" y="5935000"/>
            <a:ext cx="13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71E28"/>
                </a:solidFill>
                <a:latin typeface="Calibri" pitchFamily="34" charset="0"/>
              </a:rPr>
              <a:t>12:00 PM ET</a:t>
            </a:r>
          </a:p>
        </p:txBody>
      </p:sp>
      <p:sp>
        <p:nvSpPr>
          <p:cNvPr id="37" name="L6Text"/>
          <p:cNvSpPr/>
          <p:nvPr/>
        </p:nvSpPr>
        <p:spPr>
          <a:xfrm>
            <a:off x="1050000" y="6175000"/>
            <a:ext cx="49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71E28"/>
                </a:solidFill>
                <a:latin typeface="Calibri" pitchFamily="34" charset="0"/>
              </a:rPr>
              <a:t>L2 finally updates users  —  10 hours later.</a:t>
            </a:r>
          </a:p>
        </p:txBody>
      </p:sp>
      <p:sp>
        <p:nvSpPr>
          <p:cNvPr id="40" name="Divider"/>
          <p:cNvSpPr/>
          <p:nvPr/>
        </p:nvSpPr>
        <p:spPr>
          <a:xfrm>
            <a:off x="6096000" y="2050000"/>
            <a:ext cx="12700" cy="4400000"/>
          </a:xfrm>
          <a:prstGeom prst="rect">
            <a:avLst/>
          </a:prstGeom>
          <a:solidFill>
            <a:srgbClr val="EAEAEA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50" name="RightLabel"/>
          <p:cNvSpPr/>
          <p:nvPr/>
        </p:nvSpPr>
        <p:spPr>
          <a:xfrm>
            <a:off x="6300000" y="1750000"/>
            <a:ext cx="544068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B89000"/>
                </a:solidFill>
                <a:latin typeface="Calibri" pitchFamily="34" charset="0"/>
              </a:rPr>
              <a:t>WITH AUTOMATION  ·  AI DIAGNOSIS</a:t>
            </a:r>
          </a:p>
        </p:txBody>
      </p:sp>
      <p:sp>
        <p:nvSpPr>
          <p:cNvPr id="51" name="RightHeading"/>
          <p:cNvSpPr/>
          <p:nvPr/>
        </p:nvSpPr>
        <p:spPr>
          <a:xfrm>
            <a:off x="6300000" y="2050000"/>
            <a:ext cx="544068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1B"/>
                </a:solidFill>
                <a:latin typeface="Calibri" pitchFamily="34" charset="0"/>
              </a:rPr>
              <a:t>15 minutes, no relay.</a:t>
            </a:r>
          </a:p>
        </p:txBody>
      </p:sp>
      <p:sp>
        <p:nvSpPr>
          <p:cNvPr id="52" name="RightRail"/>
          <p:cNvSpPr/>
          <p:nvPr/>
        </p:nvSpPr>
        <p:spPr>
          <a:xfrm>
            <a:off x="6539480" y="2570000"/>
            <a:ext cx="22860" cy="3640000"/>
          </a:xfrm>
          <a:prstGeom prst="rect">
            <a:avLst/>
          </a:prstGeom>
          <a:solidFill>
            <a:srgbClr val="E5E0D5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60" name="R1Dot"/>
          <p:cNvSpPr/>
          <p:nvPr/>
        </p:nvSpPr>
        <p:spPr>
          <a:xfrm>
            <a:off x="6460000" y="2570000"/>
            <a:ext cx="182880" cy="182880"/>
          </a:xfrm>
          <a:prstGeom prst="ellipse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61" name="R1Time"/>
          <p:cNvSpPr/>
          <p:nvPr/>
        </p:nvSpPr>
        <p:spPr>
          <a:xfrm>
            <a:off x="6780000" y="2515000"/>
            <a:ext cx="11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A8A8A"/>
                </a:solidFill>
                <a:latin typeface="Calibri" pitchFamily="34" charset="0"/>
              </a:rPr>
              <a:t>2:00 AM ET</a:t>
            </a:r>
          </a:p>
        </p:txBody>
      </p:sp>
      <p:sp>
        <p:nvSpPr>
          <p:cNvPr id="62" name="R1Text"/>
          <p:cNvSpPr/>
          <p:nvPr/>
        </p:nvSpPr>
        <p:spPr>
          <a:xfrm>
            <a:off x="6780000" y="2755000"/>
            <a:ext cx="475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</a:rPr>
              <a:t>Job fails. ServiceNow incident auto-generated.</a:t>
            </a:r>
          </a:p>
        </p:txBody>
      </p:sp>
      <p:sp>
        <p:nvSpPr>
          <p:cNvPr id="63" name="R2Dot"/>
          <p:cNvSpPr/>
          <p:nvPr/>
        </p:nvSpPr>
        <p:spPr>
          <a:xfrm>
            <a:off x="6460000" y="3170000"/>
            <a:ext cx="182880" cy="182880"/>
          </a:xfrm>
          <a:prstGeom prst="ellipse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64" name="R2Time"/>
          <p:cNvSpPr/>
          <p:nvPr/>
        </p:nvSpPr>
        <p:spPr>
          <a:xfrm>
            <a:off x="6780000" y="3115000"/>
            <a:ext cx="11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A8A8A"/>
                </a:solidFill>
                <a:latin typeface="Calibri" pitchFamily="34" charset="0"/>
              </a:rPr>
              <a:t>2:00 AM ET</a:t>
            </a:r>
          </a:p>
        </p:txBody>
      </p:sp>
      <p:sp>
        <p:nvSpPr>
          <p:cNvPr id="65" name="R2Text"/>
          <p:cNvSpPr/>
          <p:nvPr/>
        </p:nvSpPr>
        <p:spPr>
          <a:xfrm>
            <a:off x="6780000" y="3355000"/>
            <a:ext cx="475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</a:rPr>
              <a:t>AI investigation kicks off automatically  —  no human triage needed.</a:t>
            </a:r>
          </a:p>
        </p:txBody>
      </p:sp>
      <p:sp>
        <p:nvSpPr>
          <p:cNvPr id="66" name="R3Dot"/>
          <p:cNvSpPr/>
          <p:nvPr/>
        </p:nvSpPr>
        <p:spPr>
          <a:xfrm>
            <a:off x="6460000" y="3770000"/>
            <a:ext cx="182880" cy="182880"/>
          </a:xfrm>
          <a:prstGeom prst="ellipse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67" name="R3Time"/>
          <p:cNvSpPr/>
          <p:nvPr/>
        </p:nvSpPr>
        <p:spPr>
          <a:xfrm>
            <a:off x="6780000" y="3715000"/>
            <a:ext cx="18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A8A8A"/>
                </a:solidFill>
                <a:latin typeface="Calibri" pitchFamily="34" charset="0"/>
              </a:rPr>
              <a:t>2:00 - 2:10 AM ET</a:t>
            </a:r>
          </a:p>
        </p:txBody>
      </p:sp>
      <p:sp>
        <p:nvSpPr>
          <p:cNvPr id="68" name="R3Text"/>
          <p:cNvSpPr/>
          <p:nvPr/>
        </p:nvSpPr>
        <p:spPr>
          <a:xfrm>
            <a:off x="6780000" y="3955000"/>
            <a:ext cx="475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</a:rPr>
              <a:t>Reads ServiceNow, Autosys, SSISDB and SSIS package source in parallel.</a:t>
            </a:r>
          </a:p>
        </p:txBody>
      </p:sp>
      <p:sp>
        <p:nvSpPr>
          <p:cNvPr id="69" name="R4Dot"/>
          <p:cNvSpPr/>
          <p:nvPr/>
        </p:nvSpPr>
        <p:spPr>
          <a:xfrm>
            <a:off x="6460000" y="4370000"/>
            <a:ext cx="182880" cy="182880"/>
          </a:xfrm>
          <a:prstGeom prst="ellipse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70" name="R4Time"/>
          <p:cNvSpPr/>
          <p:nvPr/>
        </p:nvSpPr>
        <p:spPr>
          <a:xfrm>
            <a:off x="6780000" y="4315000"/>
            <a:ext cx="11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A8A8A"/>
                </a:solidFill>
                <a:latin typeface="Calibri" pitchFamily="34" charset="0"/>
              </a:rPr>
              <a:t>2:13 AM ET</a:t>
            </a:r>
          </a:p>
        </p:txBody>
      </p:sp>
      <p:sp>
        <p:nvSpPr>
          <p:cNvPr id="71" name="R4Text"/>
          <p:cNvSpPr/>
          <p:nvPr/>
        </p:nvSpPr>
        <p:spPr>
          <a:xfrm>
            <a:off x="6780000" y="4555000"/>
            <a:ext cx="475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</a:rPr>
              <a:t>Diagnosis with confidence score emailed to L2, offshore EGS, and US teams simultaneously.</a:t>
            </a:r>
          </a:p>
        </p:txBody>
      </p:sp>
      <p:sp>
        <p:nvSpPr>
          <p:cNvPr id="72" name="R5Dot"/>
          <p:cNvSpPr/>
          <p:nvPr/>
        </p:nvSpPr>
        <p:spPr>
          <a:xfrm>
            <a:off x="6460000" y="5180000"/>
            <a:ext cx="182880" cy="182880"/>
          </a:xfrm>
          <a:prstGeom prst="ellipse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73" name="R5Time"/>
          <p:cNvSpPr/>
          <p:nvPr/>
        </p:nvSpPr>
        <p:spPr>
          <a:xfrm>
            <a:off x="6780000" y="5125000"/>
            <a:ext cx="11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A8A8A"/>
                </a:solidFill>
                <a:latin typeface="Calibri" pitchFamily="34" charset="0"/>
              </a:rPr>
              <a:t>2:13 AM ET</a:t>
            </a:r>
          </a:p>
        </p:txBody>
      </p:sp>
      <p:sp>
        <p:nvSpPr>
          <p:cNvPr id="74" name="R5Text"/>
          <p:cNvSpPr/>
          <p:nvPr/>
        </p:nvSpPr>
        <p:spPr>
          <a:xfrm>
            <a:off x="6780000" y="5365000"/>
            <a:ext cx="475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</a:rPr>
              <a:t>Offshore EGS acts on the diagnosis. Escalates to US DBAs only when SAR access is truly required.</a:t>
            </a:r>
          </a:p>
        </p:txBody>
      </p:sp>
      <p:sp>
        <p:nvSpPr>
          <p:cNvPr id="75" name="R6Dot"/>
          <p:cNvSpPr/>
          <p:nvPr/>
        </p:nvSpPr>
        <p:spPr>
          <a:xfrm>
            <a:off x="6460000" y="5990000"/>
            <a:ext cx="182880" cy="182880"/>
          </a:xfrm>
          <a:prstGeom prst="ellipse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76" name="R6Time"/>
          <p:cNvSpPr/>
          <p:nvPr/>
        </p:nvSpPr>
        <p:spPr>
          <a:xfrm>
            <a:off x="6780000" y="5935000"/>
            <a:ext cx="13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9000"/>
                </a:solidFill>
                <a:latin typeface="Calibri" pitchFamily="34" charset="0"/>
              </a:rPr>
              <a:t>2:15 AM ET</a:t>
            </a:r>
          </a:p>
        </p:txBody>
      </p:sp>
      <p:sp>
        <p:nvSpPr>
          <p:cNvPr id="77" name="R6Text"/>
          <p:cNvSpPr/>
          <p:nvPr/>
        </p:nvSpPr>
        <p:spPr>
          <a:xfrm>
            <a:off x="6780000" y="6175000"/>
            <a:ext cx="475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</a:rPr>
              <a:t>Users updated within 15 minutes  —  any time, any region.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697</Words>
  <Application>Microsoft Office PowerPoint</Application>
  <PresentationFormat>Widescreen</PresentationFormat>
  <Paragraphs>133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ETL Incident Diagnosis</dc:title>
  <dc:subject>PptxGenJS Presentation</dc:subject>
  <dc:creator>L2 Support Automation</dc:creator>
  <cp:lastModifiedBy>Seshu Nuthakki</cp:lastModifiedBy>
  <cp:revision>3</cp:revision>
  <dcterms:created xsi:type="dcterms:W3CDTF">2026-04-28T16:01:33Z</dcterms:created>
  <dcterms:modified xsi:type="dcterms:W3CDTF">2026-05-01T13:58:55Z</dcterms:modified>
</cp:coreProperties>
</file>