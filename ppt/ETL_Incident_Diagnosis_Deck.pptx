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16"/>
    <p:sldId id="257" r:id="rId3"/>
    <p:sldId id="258" r:id="rId4"/>
    <p:sldId id="259" r:id="rId5"/>
    <p:sldId id="264" r:id="rId15"/>
    <p:sldId id="260" r:id="rId6"/>
    <p:sldId id="263" r:id="rId9"/>
    <p:sldId id="266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694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71E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REIMAGINED  ·  PRODUCTION MONITORING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Incident Diagnosis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hours of cross-region debugging to minutes of automated diagnosis.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 failures hit hardest at 2 AM.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run nightly. They fail nightly.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EGS L2 production support teams in India are the first responders.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our databases reside on SAR-restricted servers  —  accessible only from inside the US.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stalls until US teams come online  —  hours later.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engineers and various teams get pulled in to coordinate the wait.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3492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hours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31520" y="6080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worst incidents  —  before real debugging even begins.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NIGHTLY FAILURE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2606040"/>
            <a:ext cx="0" cy="3200400"/>
          </a:xfrm>
          <a:prstGeom prst="line">
            <a:avLst/>
          </a:prstGeom>
          <a:noFill/>
          <a:ln w="25400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75120" y="246888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 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9536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fails/ INC Generated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310896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 AM 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9536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 teams engaged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0" y="3749040"/>
            <a:ext cx="274320" cy="27432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2:15 AM 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by SAR access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75120" y="4389120"/>
            <a:ext cx="274320" cy="27432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4389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AM 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0" y="4389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teams come online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502920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040" y="5029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95360" y="5029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begins/support teams engaged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75120" y="566928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5669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 PM ET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95360" y="5669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complete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TODAY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tools. Multiple teams. Hours of work.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011680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103120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011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0" y="2011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alert. Find the failing Autosys job.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633472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633472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2724912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26334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Autosys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0" y="263347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 SSIS package being executed and its parameters.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255264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255264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3346704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346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32552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SSISDB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114800" y="32552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the execution logs for failure details.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3877056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877056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968496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387705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114800" y="387705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SSIS package source.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20" y="4498848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498848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590288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554480" y="44988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internals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14800" y="4498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failing table, stored procedure, or data-flow task.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5120640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840" y="5212080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5840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554480" y="5120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debug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114800" y="51206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Trace, reproduce, document. Then fix.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step waits for whoever has access  —  often the US DBAs, hours away.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AUTOMATION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investigation. Five minutes. Available 24/7.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32004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 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fails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51960" y="2948940"/>
            <a:ext cx="182880" cy="0"/>
          </a:xfrm>
          <a:prstGeom prst="line">
            <a:avLst/>
          </a:prstGeom>
          <a:noFill/>
          <a:ln w="3810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2103120"/>
            <a:ext cx="3200400" cy="169164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15 minutes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0916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0916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systems, in parallel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26680" y="2948940"/>
            <a:ext cx="182880" cy="0"/>
          </a:xfrm>
          <a:prstGeom prst="line">
            <a:avLst/>
          </a:prstGeom>
          <a:noFill/>
          <a:ln w="3810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55280" y="2103120"/>
            <a:ext cx="32004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8388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2:15 AM 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8388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emailed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18388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Production Support  ·  Application 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1500" y="416052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1500" y="416052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" y="4251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24 / 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5820" y="46177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ready regardless of region or shift.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49340" y="416052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49340" y="416052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3660" y="4251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Action-ready offshore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23660" y="46177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 gets a usable diagnosis  —  confirms scope, preps the fix without waiting.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1500" y="521208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1500" y="521208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5820" y="5303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escalation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5820" y="56692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DBAs engaged only when SAR-restricted server access is truly needed.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49340" y="521208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49340" y="521208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3660" y="5303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accuracy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23660" y="56692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same code, logs, and packages a developer would  —  faster.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</a:rPr>
              <a:t>IMPACT</a:t>
            </a:r>
          </a:p>
        </p:txBody>
      </p:sp>
      <p:sp>
        <p:nvSpPr>
          <p:cNvPr id="4" name="Title"/>
          <p:cNvSpPr/>
          <p:nvPr/>
        </p:nvSpPr>
        <p:spPr>
          <a:xfrm>
            <a:off x="731520" y="900000"/>
            <a:ext cx="10698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1B"/>
                </a:solidFill>
                <a:latin typeface="Calibri" pitchFamily="34" charset="0"/>
              </a:rPr>
              <a:t>Same diagnosis. Real impact. Read-only by design.</a:t>
            </a:r>
          </a:p>
        </p:txBody>
      </p:sp>
      <p:sp>
        <p:nvSpPr>
          <p:cNvPr id="5" name="Subtitle"/>
          <p:cNvSpPr/>
          <p:nvPr/>
        </p:nvSpPr>
        <p:spPr>
          <a:xfrm>
            <a:off x="731520" y="1450000"/>
            <a:ext cx="106984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</a:rPr>
              <a:t>The system reads logs, code, and incidents  —  it cannot modify production data or restart jobs.</a:t>
            </a:r>
          </a:p>
        </p:txBody>
      </p:sp>
      <p:sp>
        <p:nvSpPr>
          <p:cNvPr id="6" name="PageNum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</a:rPr>
              <a:t>7 / 9</a:t>
            </a:r>
          </a:p>
        </p:txBody>
      </p:sp>
      <p:sp>
        <p:nvSpPr>
          <p:cNvPr id="10" name="S1Card"/>
          <p:cNvSpPr/>
          <p:nvPr/>
        </p:nvSpPr>
        <p:spPr>
          <a:xfrm>
            <a:off x="571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1" name="S1Stripe"/>
          <p:cNvSpPr/>
          <p:nvPr/>
        </p:nvSpPr>
        <p:spPr>
          <a:xfrm>
            <a:off x="571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2" name="S1Num"/>
          <p:cNvSpPr/>
          <p:nvPr/>
        </p:nvSpPr>
        <p:spPr>
          <a:xfrm>
            <a:off x="845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10 hours</a:t>
            </a:r>
          </a:p>
        </p:txBody>
      </p:sp>
      <p:sp>
        <p:nvSpPr>
          <p:cNvPr id="13" name="S1Desc"/>
          <p:cNvSpPr/>
          <p:nvPr/>
        </p:nvSpPr>
        <p:spPr>
          <a:xfrm>
            <a:off x="845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saved on worst-case incidents</a:t>
            </a:r>
          </a:p>
        </p:txBody>
      </p:sp>
      <p:sp>
        <p:nvSpPr>
          <p:cNvPr id="20" name="S2Card"/>
          <p:cNvSpPr/>
          <p:nvPr/>
        </p:nvSpPr>
        <p:spPr>
          <a:xfrm>
            <a:off x="3356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1" name="S2Stripe"/>
          <p:cNvSpPr/>
          <p:nvPr/>
        </p:nvSpPr>
        <p:spPr>
          <a:xfrm>
            <a:off x="3356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2" name="S2Num"/>
          <p:cNvSpPr/>
          <p:nvPr/>
        </p:nvSpPr>
        <p:spPr>
          <a:xfrm>
            <a:off x="3630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15 min</a:t>
            </a:r>
          </a:p>
        </p:txBody>
      </p:sp>
      <p:sp>
        <p:nvSpPr>
          <p:cNvPr id="23" name="S2Desc"/>
          <p:cNvSpPr/>
          <p:nvPr/>
        </p:nvSpPr>
        <p:spPr>
          <a:xfrm>
            <a:off x="3630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alert to diagnosis</a:t>
            </a:r>
          </a:p>
        </p:txBody>
      </p:sp>
      <p:sp>
        <p:nvSpPr>
          <p:cNvPr id="30" name="S3Card"/>
          <p:cNvSpPr/>
          <p:nvPr/>
        </p:nvSpPr>
        <p:spPr>
          <a:xfrm>
            <a:off x="6141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1" name="S3Stripe"/>
          <p:cNvSpPr/>
          <p:nvPr/>
        </p:nvSpPr>
        <p:spPr>
          <a:xfrm>
            <a:off x="6141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2" name="S3Num"/>
          <p:cNvSpPr/>
          <p:nvPr/>
        </p:nvSpPr>
        <p:spPr>
          <a:xfrm>
            <a:off x="6415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24 / 7</a:t>
            </a:r>
          </a:p>
        </p:txBody>
      </p:sp>
      <p:sp>
        <p:nvSpPr>
          <p:cNvPr id="33" name="S3Desc"/>
          <p:cNvSpPr/>
          <p:nvPr/>
        </p:nvSpPr>
        <p:spPr>
          <a:xfrm>
            <a:off x="6415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diagnosis availability</a:t>
            </a:r>
          </a:p>
        </p:txBody>
      </p:sp>
      <p:sp>
        <p:nvSpPr>
          <p:cNvPr id="40" name="S4Card"/>
          <p:cNvSpPr/>
          <p:nvPr/>
        </p:nvSpPr>
        <p:spPr>
          <a:xfrm>
            <a:off x="8926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41" name="S4Stripe"/>
          <p:cNvSpPr/>
          <p:nvPr/>
        </p:nvSpPr>
        <p:spPr>
          <a:xfrm>
            <a:off x="8926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42" name="S4Num"/>
          <p:cNvSpPr/>
          <p:nvPr/>
        </p:nvSpPr>
        <p:spPr>
          <a:xfrm>
            <a:off x="9200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Surgical</a:t>
            </a:r>
          </a:p>
        </p:txBody>
      </p:sp>
      <p:sp>
        <p:nvSpPr>
          <p:cNvPr id="43" name="S4Desc"/>
          <p:cNvSpPr/>
          <p:nvPr/>
        </p:nvSpPr>
        <p:spPr>
          <a:xfrm>
            <a:off x="9200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escalation, not blanket triage</a:t>
            </a:r>
          </a:p>
        </p:txBody>
      </p:sp>
      <p:sp>
        <p:nvSpPr>
          <p:cNvPr id="50" name="OffCard"/>
          <p:cNvSpPr/>
          <p:nvPr/>
        </p:nvSpPr>
        <p:spPr>
          <a:xfrm>
            <a:off x="571500" y="3550000"/>
            <a:ext cx="5450000" cy="2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OffLabel"/>
          <p:cNvSpPr/>
          <p:nvPr/>
        </p:nvSpPr>
        <p:spPr>
          <a:xfrm>
            <a:off x="845820" y="37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OFFSHORE EGS</a:t>
            </a:r>
          </a:p>
        </p:txBody>
      </p:sp>
      <p:sp>
        <p:nvSpPr>
          <p:cNvPr id="52" name="OffHead"/>
          <p:cNvSpPr/>
          <p:nvPr/>
        </p:nvSpPr>
        <p:spPr>
          <a:xfrm>
            <a:off x="845820" y="40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Frontline coverage 24/7</a:t>
            </a:r>
          </a:p>
        </p:txBody>
      </p:sp>
      <p:sp>
        <p:nvSpPr>
          <p:cNvPr id="53" name="OffBody"/>
          <p:cNvSpPr/>
          <p:nvPr/>
        </p:nvSpPr>
        <p:spPr>
          <a:xfrm>
            <a:off x="845820" y="4470000"/>
            <a:ext cx="49000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</a:rPr>
              <a:t>Receives a usable diagnosis at 2:15 AM. Confirms scope, preps the fix, and escalates only what truly requires US access  —  no more waiting until US morning hours.</a:t>
            </a:r>
          </a:p>
        </p:txBody>
      </p:sp>
      <p:sp>
        <p:nvSpPr>
          <p:cNvPr id="60" name="DbaCard"/>
          <p:cNvSpPr/>
          <p:nvPr/>
        </p:nvSpPr>
        <p:spPr>
          <a:xfrm>
            <a:off x="6172000" y="3550000"/>
            <a:ext cx="5450000" cy="2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1" name="DbaLabel"/>
          <p:cNvSpPr/>
          <p:nvPr/>
        </p:nvSpPr>
        <p:spPr>
          <a:xfrm>
            <a:off x="6446320" y="37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US DBAs</a:t>
            </a:r>
          </a:p>
        </p:txBody>
      </p:sp>
      <p:sp>
        <p:nvSpPr>
          <p:cNvPr id="62" name="DbaHead"/>
          <p:cNvSpPr/>
          <p:nvPr/>
        </p:nvSpPr>
        <p:spPr>
          <a:xfrm>
            <a:off x="6446320" y="40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Engaged surgically</a:t>
            </a:r>
          </a:p>
        </p:txBody>
      </p:sp>
      <p:sp>
        <p:nvSpPr>
          <p:cNvPr id="63" name="DbaBody"/>
          <p:cNvSpPr/>
          <p:nvPr/>
        </p:nvSpPr>
        <p:spPr>
          <a:xfrm>
            <a:off x="6446320" y="4470000"/>
            <a:ext cx="49000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</a:rPr>
              <a:t>Engaged only for tasks that genuinely require SAR-restricted access  —  no more 5 AM wake-ups for routine first-pass triage that could have been handled elsewhere.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small. Prove value. Expand.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3657600" cy="36576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463040" cy="36576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diagnosis emailed to engineers within 15 minutes. No automated changes to production.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69080" y="4023360"/>
            <a:ext cx="137160" cy="0"/>
          </a:xfrm>
          <a:prstGeom prst="line">
            <a:avLst/>
          </a:prstGeom>
          <a:noFill/>
          <a:ln w="3175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51960" y="2194560"/>
            <a:ext cx="3657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514600"/>
            <a:ext cx="1463040" cy="365760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5262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engineer feedback to keep improving accuracy. Expand coverage to additional job types.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55280" y="4023360"/>
            <a:ext cx="137160" cy="0"/>
          </a:xfrm>
          <a:prstGeom prst="line">
            <a:avLst/>
          </a:prstGeom>
          <a:noFill/>
          <a:ln w="3175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38160" y="2194560"/>
            <a:ext cx="3657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0" y="2514600"/>
            <a:ext cx="1463040" cy="365760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Fixes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84124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confidence is high, suggest the actual code change. Engineer still approves and merges.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</a:rPr>
              <a:t>PROCESS COMPARISON</a:t>
            </a:r>
          </a:p>
        </p:txBody>
      </p:sp>
      <p:sp>
        <p:nvSpPr>
          <p:cNvPr id="4" name="Title"/>
          <p:cNvSpPr/>
          <p:nvPr/>
        </p:nvSpPr>
        <p:spPr>
          <a:xfrm>
            <a:off x="731520" y="900000"/>
            <a:ext cx="1069848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1B"/>
                </a:solidFill>
                <a:latin typeface="Calibri" pitchFamily="34" charset="0"/>
              </a:rPr>
              <a:t>From a multi-team relay to a single automated diagnosis.</a:t>
            </a:r>
          </a:p>
        </p:txBody>
      </p:sp>
      <p:sp>
        <p:nvSpPr>
          <p:cNvPr id="5" name="PageNum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</a:rPr>
              <a:t>6 / 9</a:t>
            </a:r>
          </a:p>
        </p:txBody>
      </p:sp>
      <p:sp>
        <p:nvSpPr>
          <p:cNvPr id="10" name="LeftLabel"/>
          <p:cNvSpPr/>
          <p:nvPr/>
        </p:nvSpPr>
        <p:spPr>
          <a:xfrm>
            <a:off x="571500" y="1750000"/>
            <a:ext cx="54406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TODAY  ·  MANUAL RELAY</a:t>
            </a:r>
          </a:p>
        </p:txBody>
      </p:sp>
      <p:sp>
        <p:nvSpPr>
          <p:cNvPr id="11" name="LeftHeading"/>
          <p:cNvSpPr/>
          <p:nvPr/>
        </p:nvSpPr>
        <p:spPr>
          <a:xfrm>
            <a:off x="571500" y="2050000"/>
            <a:ext cx="54406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Up to 10 hours, six handoffs.</a:t>
            </a:r>
          </a:p>
        </p:txBody>
      </p:sp>
      <p:sp>
        <p:nvSpPr>
          <p:cNvPr id="12" name="LeftRail"/>
          <p:cNvSpPr/>
          <p:nvPr/>
        </p:nvSpPr>
        <p:spPr>
          <a:xfrm>
            <a:off x="811000" y="2570000"/>
            <a:ext cx="22860" cy="3640000"/>
          </a:xfrm>
          <a:prstGeom prst="rect">
            <a:avLst/>
          </a:prstGeom>
          <a:solidFill>
            <a:srgbClr val="E5E0D5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0" name="L1Dot"/>
          <p:cNvSpPr/>
          <p:nvPr/>
        </p:nvSpPr>
        <p:spPr>
          <a:xfrm>
            <a:off x="731520" y="25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1" name="L1Time"/>
          <p:cNvSpPr/>
          <p:nvPr/>
        </p:nvSpPr>
        <p:spPr>
          <a:xfrm>
            <a:off x="1050000" y="25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AM ET</a:t>
            </a:r>
          </a:p>
        </p:txBody>
      </p:sp>
      <p:sp>
        <p:nvSpPr>
          <p:cNvPr id="22" name="L1Text"/>
          <p:cNvSpPr/>
          <p:nvPr/>
        </p:nvSpPr>
        <p:spPr>
          <a:xfrm>
            <a:off x="1050000" y="2755000"/>
            <a:ext cx="490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Job fails. ServiceNow incident auto-generated.</a:t>
            </a:r>
          </a:p>
        </p:txBody>
      </p:sp>
      <p:sp>
        <p:nvSpPr>
          <p:cNvPr id="23" name="L2Dot"/>
          <p:cNvSpPr/>
          <p:nvPr/>
        </p:nvSpPr>
        <p:spPr>
          <a:xfrm>
            <a:off x="731520" y="31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4" name="L2Time"/>
          <p:cNvSpPr/>
          <p:nvPr/>
        </p:nvSpPr>
        <p:spPr>
          <a:xfrm>
            <a:off x="1050000" y="31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2:05 AM ET</a:t>
            </a:r>
          </a:p>
        </p:txBody>
      </p:sp>
      <p:sp>
        <p:nvSpPr>
          <p:cNvPr id="25" name="L2Text"/>
          <p:cNvSpPr/>
          <p:nvPr/>
        </p:nvSpPr>
        <p:spPr>
          <a:xfrm>
            <a:off x="1050000" y="3355000"/>
            <a:ext cx="490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Offshore EGS L2 picks up the ticket and starts to investigate.</a:t>
            </a:r>
          </a:p>
        </p:txBody>
      </p:sp>
      <p:sp>
        <p:nvSpPr>
          <p:cNvPr id="26" name="L3Dot"/>
          <p:cNvSpPr/>
          <p:nvPr/>
        </p:nvSpPr>
        <p:spPr>
          <a:xfrm>
            <a:off x="731520" y="37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7" name="L3Time"/>
          <p:cNvSpPr/>
          <p:nvPr/>
        </p:nvSpPr>
        <p:spPr>
          <a:xfrm>
            <a:off x="1050000" y="37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2:30 AM ET</a:t>
            </a:r>
          </a:p>
        </p:txBody>
      </p:sp>
      <p:sp>
        <p:nvSpPr>
          <p:cNvPr id="28" name="L3Text"/>
          <p:cNvSpPr/>
          <p:nvPr/>
        </p:nvSpPr>
        <p:spPr>
          <a:xfrm>
            <a:off x="1050000" y="3955000"/>
            <a:ext cx="490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L2 engages EGS DBAs offshore. DBAs spend time identifying the issue.</a:t>
            </a:r>
          </a:p>
        </p:txBody>
      </p:sp>
      <p:sp>
        <p:nvSpPr>
          <p:cNvPr id="29" name="L4Dot"/>
          <p:cNvSpPr/>
          <p:nvPr/>
        </p:nvSpPr>
        <p:spPr>
          <a:xfrm>
            <a:off x="731520" y="43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0" name="L4Time"/>
          <p:cNvSpPr/>
          <p:nvPr/>
        </p:nvSpPr>
        <p:spPr>
          <a:xfrm>
            <a:off x="1050000" y="43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3:00 AM ET</a:t>
            </a:r>
          </a:p>
        </p:txBody>
      </p:sp>
      <p:sp>
        <p:nvSpPr>
          <p:cNvPr id="31" name="L4Text"/>
          <p:cNvSpPr/>
          <p:nvPr/>
        </p:nvSpPr>
        <p:spPr>
          <a:xfrm>
            <a:off x="1050000" y="4555000"/>
            <a:ext cx="49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Branch by issue type:  SAR server → page US DBAs (may not answer).  Server / permissions → DBAs resolve.  Otherwise → punt to developers.</a:t>
            </a:r>
          </a:p>
        </p:txBody>
      </p:sp>
      <p:sp>
        <p:nvSpPr>
          <p:cNvPr id="32" name="L5Dot"/>
          <p:cNvSpPr/>
          <p:nvPr/>
        </p:nvSpPr>
        <p:spPr>
          <a:xfrm>
            <a:off x="731520" y="518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3" name="L5Time"/>
          <p:cNvSpPr/>
          <p:nvPr/>
        </p:nvSpPr>
        <p:spPr>
          <a:xfrm>
            <a:off x="1050000" y="5125000"/>
            <a:ext cx="18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9:00 - 11:00 AM ET</a:t>
            </a:r>
          </a:p>
        </p:txBody>
      </p:sp>
      <p:sp>
        <p:nvSpPr>
          <p:cNvPr id="34" name="L5Text"/>
          <p:cNvSpPr/>
          <p:nvPr/>
        </p:nvSpPr>
        <p:spPr>
          <a:xfrm>
            <a:off x="1050000" y="5365000"/>
            <a:ext cx="49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US DBAs come online, review jobs and execution reports, then ask app developers to inspect the SSIS packages.</a:t>
            </a:r>
          </a:p>
        </p:txBody>
      </p:sp>
      <p:sp>
        <p:nvSpPr>
          <p:cNvPr id="35" name="L6Dot"/>
          <p:cNvSpPr/>
          <p:nvPr/>
        </p:nvSpPr>
        <p:spPr>
          <a:xfrm>
            <a:off x="731520" y="599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6" name="L6Time"/>
          <p:cNvSpPr/>
          <p:nvPr/>
        </p:nvSpPr>
        <p:spPr>
          <a:xfrm>
            <a:off x="1050000" y="5935000"/>
            <a:ext cx="13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71E28"/>
                </a:solidFill>
                <a:latin typeface="Calibri" pitchFamily="34" charset="0"/>
              </a:rPr>
              <a:t>12:00 PM ET</a:t>
            </a:r>
          </a:p>
        </p:txBody>
      </p:sp>
      <p:sp>
        <p:nvSpPr>
          <p:cNvPr id="37" name="L6Text"/>
          <p:cNvSpPr/>
          <p:nvPr/>
        </p:nvSpPr>
        <p:spPr>
          <a:xfrm>
            <a:off x="1050000" y="6175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D71E28"/>
                </a:solidFill>
                <a:latin typeface="Calibri" pitchFamily="34" charset="0"/>
              </a:rPr>
              <a:t>L2 finally updates users  —  10 hours later.</a:t>
            </a:r>
          </a:p>
        </p:txBody>
      </p:sp>
      <p:sp>
        <p:nvSpPr>
          <p:cNvPr id="40" name="Divider"/>
          <p:cNvSpPr/>
          <p:nvPr/>
        </p:nvSpPr>
        <p:spPr>
          <a:xfrm>
            <a:off x="6096000" y="2050000"/>
            <a:ext cx="12700" cy="4400000"/>
          </a:xfrm>
          <a:prstGeom prst="rect">
            <a:avLst/>
          </a:prstGeom>
          <a:solidFill>
            <a:srgbClr val="EAEAEA"/>
          </a:solidFill>
          <a:ln w="6350">
            <a:solidFill>
              <a:srgbClr val="EAEAEA"/>
            </a:solidFill>
            <a:prstDash val="solid"/>
          </a:ln>
        </p:spPr>
      </p:sp>
      <p:sp>
        <p:nvSpPr>
          <p:cNvPr id="50" name="RightLabel"/>
          <p:cNvSpPr/>
          <p:nvPr/>
        </p:nvSpPr>
        <p:spPr>
          <a:xfrm>
            <a:off x="6300000" y="1750000"/>
            <a:ext cx="54406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B89000"/>
                </a:solidFill>
                <a:latin typeface="Calibri" pitchFamily="34" charset="0"/>
              </a:rPr>
              <a:t>WITH AUTOMATION  ·  AI DIAGNOSIS</a:t>
            </a:r>
          </a:p>
        </p:txBody>
      </p:sp>
      <p:sp>
        <p:nvSpPr>
          <p:cNvPr id="51" name="RightHeading"/>
          <p:cNvSpPr/>
          <p:nvPr/>
        </p:nvSpPr>
        <p:spPr>
          <a:xfrm>
            <a:off x="6300000" y="2050000"/>
            <a:ext cx="54406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15 minutes, no relay.</a:t>
            </a:r>
          </a:p>
        </p:txBody>
      </p:sp>
      <p:sp>
        <p:nvSpPr>
          <p:cNvPr id="52" name="RightRail"/>
          <p:cNvSpPr/>
          <p:nvPr/>
        </p:nvSpPr>
        <p:spPr>
          <a:xfrm>
            <a:off x="6539480" y="2570000"/>
            <a:ext cx="22860" cy="3640000"/>
          </a:xfrm>
          <a:prstGeom prst="rect">
            <a:avLst/>
          </a:prstGeom>
          <a:solidFill>
            <a:srgbClr val="E5E0D5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60" name="R1Dot"/>
          <p:cNvSpPr/>
          <p:nvPr/>
        </p:nvSpPr>
        <p:spPr>
          <a:xfrm>
            <a:off x="6460000" y="25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61" name="R1Time"/>
          <p:cNvSpPr/>
          <p:nvPr/>
        </p:nvSpPr>
        <p:spPr>
          <a:xfrm>
            <a:off x="6780000" y="25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AM ET</a:t>
            </a:r>
          </a:p>
        </p:txBody>
      </p:sp>
      <p:sp>
        <p:nvSpPr>
          <p:cNvPr id="62" name="R1Text"/>
          <p:cNvSpPr/>
          <p:nvPr/>
        </p:nvSpPr>
        <p:spPr>
          <a:xfrm>
            <a:off x="6780000" y="2755000"/>
            <a:ext cx="475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Job fails. ServiceNow incident auto-generated.</a:t>
            </a:r>
          </a:p>
        </p:txBody>
      </p:sp>
      <p:sp>
        <p:nvSpPr>
          <p:cNvPr id="63" name="R2Dot"/>
          <p:cNvSpPr/>
          <p:nvPr/>
        </p:nvSpPr>
        <p:spPr>
          <a:xfrm>
            <a:off x="6460000" y="31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64" name="R2Time"/>
          <p:cNvSpPr/>
          <p:nvPr/>
        </p:nvSpPr>
        <p:spPr>
          <a:xfrm>
            <a:off x="6780000" y="31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AM ET</a:t>
            </a:r>
          </a:p>
        </p:txBody>
      </p:sp>
      <p:sp>
        <p:nvSpPr>
          <p:cNvPr id="65" name="R2Text"/>
          <p:cNvSpPr/>
          <p:nvPr/>
        </p:nvSpPr>
        <p:spPr>
          <a:xfrm>
            <a:off x="6780000" y="3355000"/>
            <a:ext cx="475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AI investigation kicks off automatically  —  no human triage needed.</a:t>
            </a:r>
          </a:p>
        </p:txBody>
      </p:sp>
      <p:sp>
        <p:nvSpPr>
          <p:cNvPr id="66" name="R3Dot"/>
          <p:cNvSpPr/>
          <p:nvPr/>
        </p:nvSpPr>
        <p:spPr>
          <a:xfrm>
            <a:off x="6460000" y="37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67" name="R3Time"/>
          <p:cNvSpPr/>
          <p:nvPr/>
        </p:nvSpPr>
        <p:spPr>
          <a:xfrm>
            <a:off x="6780000" y="3715000"/>
            <a:ext cx="18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2:00 - 2:10 AM ET</a:t>
            </a:r>
          </a:p>
        </p:txBody>
      </p:sp>
      <p:sp>
        <p:nvSpPr>
          <p:cNvPr id="68" name="R3Text"/>
          <p:cNvSpPr/>
          <p:nvPr/>
        </p:nvSpPr>
        <p:spPr>
          <a:xfrm>
            <a:off x="6780000" y="3955000"/>
            <a:ext cx="475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Reads ServiceNow, Autosys, SSISDB and SSIS package source in parallel.</a:t>
            </a:r>
          </a:p>
        </p:txBody>
      </p:sp>
      <p:sp>
        <p:nvSpPr>
          <p:cNvPr id="69" name="R4Dot"/>
          <p:cNvSpPr/>
          <p:nvPr/>
        </p:nvSpPr>
        <p:spPr>
          <a:xfrm>
            <a:off x="6460000" y="43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70" name="R4Time"/>
          <p:cNvSpPr/>
          <p:nvPr/>
        </p:nvSpPr>
        <p:spPr>
          <a:xfrm>
            <a:off x="6780000" y="43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2:13 AM ET</a:t>
            </a:r>
          </a:p>
        </p:txBody>
      </p:sp>
      <p:sp>
        <p:nvSpPr>
          <p:cNvPr id="71" name="R4Text"/>
          <p:cNvSpPr/>
          <p:nvPr/>
        </p:nvSpPr>
        <p:spPr>
          <a:xfrm>
            <a:off x="6780000" y="4555000"/>
            <a:ext cx="47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Diagnosis with confidence score emailed to L2, offshore EGS, and US teams simultaneously.</a:t>
            </a:r>
          </a:p>
        </p:txBody>
      </p:sp>
      <p:sp>
        <p:nvSpPr>
          <p:cNvPr id="72" name="R5Dot"/>
          <p:cNvSpPr/>
          <p:nvPr/>
        </p:nvSpPr>
        <p:spPr>
          <a:xfrm>
            <a:off x="6460000" y="518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73" name="R5Time"/>
          <p:cNvSpPr/>
          <p:nvPr/>
        </p:nvSpPr>
        <p:spPr>
          <a:xfrm>
            <a:off x="6780000" y="512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2:13 AM ET</a:t>
            </a:r>
          </a:p>
        </p:txBody>
      </p:sp>
      <p:sp>
        <p:nvSpPr>
          <p:cNvPr id="74" name="R5Text"/>
          <p:cNvSpPr/>
          <p:nvPr/>
        </p:nvSpPr>
        <p:spPr>
          <a:xfrm>
            <a:off x="6780000" y="5365000"/>
            <a:ext cx="47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Offshore EGS acts on the diagnosis. Escalates to US DBAs only when SAR access is truly required.</a:t>
            </a:r>
          </a:p>
        </p:txBody>
      </p:sp>
      <p:sp>
        <p:nvSpPr>
          <p:cNvPr id="75" name="R6Dot"/>
          <p:cNvSpPr/>
          <p:nvPr/>
        </p:nvSpPr>
        <p:spPr>
          <a:xfrm>
            <a:off x="6460000" y="599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76" name="R6Time"/>
          <p:cNvSpPr/>
          <p:nvPr/>
        </p:nvSpPr>
        <p:spPr>
          <a:xfrm>
            <a:off x="6780000" y="5935000"/>
            <a:ext cx="13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9000"/>
                </a:solidFill>
                <a:latin typeface="Calibri" pitchFamily="34" charset="0"/>
              </a:rPr>
              <a:t>2:15 AM ET</a:t>
            </a:r>
          </a:p>
        </p:txBody>
      </p:sp>
      <p:sp>
        <p:nvSpPr>
          <p:cNvPr id="77" name="R6Text"/>
          <p:cNvSpPr/>
          <p:nvPr/>
        </p:nvSpPr>
        <p:spPr>
          <a:xfrm>
            <a:off x="6780000" y="6175000"/>
            <a:ext cx="475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Users updated within 15 minutes  —  any time, any region.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</a:rPr>
              <a:t>WHERE THIS FITS</a:t>
            </a:r>
          </a:p>
        </p:txBody>
      </p:sp>
      <p:sp>
        <p:nvSpPr>
          <p:cNvPr id="4" name="Title"/>
          <p:cNvSpPr/>
          <p:nvPr/>
        </p:nvSpPr>
        <p:spPr>
          <a:xfrm>
            <a:off x="731520" y="900000"/>
            <a:ext cx="10698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1B"/>
                </a:solidFill>
                <a:latin typeface="Calibri" pitchFamily="34" charset="0"/>
              </a:rPr>
              <a:t>Production Monitoring, made concrete.</a:t>
            </a:r>
          </a:p>
        </p:txBody>
      </p:sp>
      <p:sp>
        <p:nvSpPr>
          <p:cNvPr id="5" name="Subtitle"/>
          <p:cNvSpPr/>
          <p:nvPr/>
        </p:nvSpPr>
        <p:spPr>
          <a:xfrm>
            <a:off x="731520" y="1450000"/>
            <a:ext cx="106984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</a:rPr>
              <a:t>Production Monitoring is one of five focus areas in the Engineering Reimagined initiative. This pilot is the concrete starting point.</a:t>
            </a:r>
          </a:p>
        </p:txBody>
      </p:sp>
      <p:sp>
        <p:nvSpPr>
          <p:cNvPr id="6" name="PageNum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</a:rPr>
              <a:t>2 / 9</a:t>
            </a:r>
          </a:p>
        </p:txBody>
      </p:sp>
      <p:sp>
        <p:nvSpPr>
          <p:cNvPr id="10" name="LeftCard"/>
          <p:cNvSpPr/>
          <p:nvPr/>
        </p:nvSpPr>
        <p:spPr>
          <a:xfrm>
            <a:off x="571500" y="2050000"/>
            <a:ext cx="5450000" cy="395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1" name="LeftStripe"/>
          <p:cNvSpPr/>
          <p:nvPr/>
        </p:nvSpPr>
        <p:spPr>
          <a:xfrm>
            <a:off x="571500" y="2050000"/>
            <a:ext cx="91440" cy="395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2" name="LeftLabel"/>
          <p:cNvSpPr/>
          <p:nvPr/>
        </p:nvSpPr>
        <p:spPr>
          <a:xfrm>
            <a:off x="845820" y="22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FOCUS AREA  ·  PRODUCTION MONITORING</a:t>
            </a:r>
          </a:p>
        </p:txBody>
      </p:sp>
      <p:sp>
        <p:nvSpPr>
          <p:cNvPr id="13" name="LeftHead"/>
          <p:cNvSpPr/>
          <p:nvPr/>
        </p:nvSpPr>
        <p:spPr>
          <a:xfrm>
            <a:off x="845820" y="25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From reactive alerts to intelligent data reliability.</a:t>
            </a:r>
          </a:p>
        </p:txBody>
      </p:sp>
      <p:sp>
        <p:nvSpPr>
          <p:cNvPr id="14" name="LeftGapLabel"/>
          <p:cNvSpPr/>
          <p:nvPr/>
        </p:nvSpPr>
        <p:spPr>
          <a:xfrm>
            <a:off x="845820" y="300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The gap, in the program’s words</a:t>
            </a:r>
          </a:p>
        </p:txBody>
      </p:sp>
      <p:sp>
        <p:nvSpPr>
          <p:cNvPr id="15" name="LeftGapBody"/>
          <p:cNvSpPr/>
          <p:nvPr/>
        </p:nvSpPr>
        <p:spPr>
          <a:xfrm>
            <a:off x="845820" y="3260000"/>
            <a:ext cx="49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Production monitoring today is reactive and metric-centric, not data-centric or intent-aware.</a:t>
            </a:r>
          </a:p>
        </p:txBody>
      </p:sp>
      <p:sp>
        <p:nvSpPr>
          <p:cNvPr id="16" name="LeftNeedsLabel"/>
          <p:cNvSpPr/>
          <p:nvPr/>
        </p:nvSpPr>
        <p:spPr>
          <a:xfrm>
            <a:off x="845820" y="385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Unmet needs called out</a:t>
            </a:r>
          </a:p>
        </p:txBody>
      </p:sp>
      <p:sp>
        <p:nvSpPr>
          <p:cNvPr id="17" name="LeftNeedsBody"/>
          <p:cNvSpPr/>
          <p:nvPr/>
        </p:nvSpPr>
        <p:spPr>
          <a:xfrm>
            <a:off x="845820" y="4110000"/>
            <a:ext cx="4900000" cy="1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Early detection of data quality drift before downstream impact</a:t>
            </a:r>
          </a:p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Correlation between failures, lineage, and consumers</a:t>
            </a:r>
          </a:p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Monitoring that understands expected behavior, not just thresholds</a:t>
            </a:r>
          </a:p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Automated diagnosis rather than alert flooding</a:t>
            </a:r>
          </a:p>
        </p:txBody>
      </p:sp>
      <p:sp>
        <p:nvSpPr>
          <p:cNvPr id="20" name="RightCard"/>
          <p:cNvSpPr/>
          <p:nvPr/>
        </p:nvSpPr>
        <p:spPr>
          <a:xfrm>
            <a:off x="6172000" y="2050000"/>
            <a:ext cx="5450000" cy="3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RightStripe"/>
          <p:cNvSpPr/>
          <p:nvPr/>
        </p:nvSpPr>
        <p:spPr>
          <a:xfrm>
            <a:off x="6172000" y="2050000"/>
            <a:ext cx="91440" cy="395000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2" name="RightLabel"/>
          <p:cNvSpPr/>
          <p:nvPr/>
        </p:nvSpPr>
        <p:spPr>
          <a:xfrm>
            <a:off x="6446320" y="22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THIS PILOT  ·  ETL INCIDENT DIAGNOSIS</a:t>
            </a:r>
          </a:p>
        </p:txBody>
      </p:sp>
      <p:sp>
        <p:nvSpPr>
          <p:cNvPr id="23" name="RightHead"/>
          <p:cNvSpPr/>
          <p:nvPr/>
        </p:nvSpPr>
        <p:spPr>
          <a:xfrm>
            <a:off x="6446320" y="25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A concrete production-monitoring starting point.</a:t>
            </a:r>
          </a:p>
        </p:txBody>
      </p:sp>
      <p:sp>
        <p:nvSpPr>
          <p:cNvPr id="24" name="RightAddrLabel"/>
          <p:cNvSpPr/>
          <p:nvPr/>
        </p:nvSpPr>
        <p:spPr>
          <a:xfrm>
            <a:off x="6446320" y="300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What this pilot directly addresses</a:t>
            </a:r>
          </a:p>
        </p:txBody>
      </p:sp>
      <p:sp>
        <p:nvSpPr>
          <p:cNvPr id="25" name="RightAddrBody"/>
          <p:cNvSpPr/>
          <p:nvPr/>
        </p:nvSpPr>
        <p:spPr>
          <a:xfrm>
            <a:off x="6446320" y="3260000"/>
            <a:ext cx="49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0020" indent="-16002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 xml:space="preserve">Automated diagnosis </a:t>
            </a: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instead of alert flooding for ETL job failures.</a:t>
            </a:r>
          </a:p>
          <a:p>
            <a:pPr marL="160020" indent="-16002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 xml:space="preserve">Correlation across lineage </a:t>
            </a: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by reading ServiceNow, Autosys, SSISDB, and SSIS source together.</a:t>
            </a:r>
          </a:p>
          <a:p>
            <a:pPr marL="160020" indent="-16002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 xml:space="preserve">Reduced MTTD and MTTR </a:t>
            </a: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— from up to 10 hours of cross-region waits to 15 minutes of automated diagnosis.</a:t>
            </a:r>
          </a:p>
        </p:txBody>
      </p:sp>
      <p:sp>
        <p:nvSpPr>
          <p:cNvPr id="26" name="RightProveLabel"/>
          <p:cNvSpPr/>
          <p:nvPr/>
        </p:nvSpPr>
        <p:spPr>
          <a:xfrm>
            <a:off x="6446320" y="475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Why start here</a:t>
            </a:r>
          </a:p>
        </p:txBody>
      </p:sp>
      <p:sp>
        <p:nvSpPr>
          <p:cNvPr id="27" name="RightProveBody"/>
          <p:cNvSpPr/>
          <p:nvPr/>
        </p:nvSpPr>
        <p:spPr>
          <a:xfrm>
            <a:off x="6446320" y="501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Nightly ETL failures are a high-frequency, high-pain pattern with clear MTTD/MTTR baselines  —  the ideal proving ground for context-aware, lineage-driven monitoring before expanding scope.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</a:rPr>
              <a:t>BUILD REQUIREMENTS</a:t>
            </a:r>
          </a:p>
        </p:txBody>
      </p:sp>
      <p:sp>
        <p:nvSpPr>
          <p:cNvPr id="4" name="Title"/>
          <p:cNvSpPr/>
          <p:nvPr/>
        </p:nvSpPr>
        <p:spPr>
          <a:xfrm>
            <a:off x="731520" y="900000"/>
            <a:ext cx="10698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1B"/>
                </a:solidFill>
                <a:latin typeface="Calibri" pitchFamily="34" charset="0"/>
              </a:rPr>
              <a:t>Three integrations to make this work.</a:t>
            </a:r>
          </a:p>
        </p:txBody>
      </p:sp>
      <p:sp>
        <p:nvSpPr>
          <p:cNvPr id="5" name="Subtitle"/>
          <p:cNvSpPr/>
          <p:nvPr/>
        </p:nvSpPr>
        <p:spPr>
          <a:xfrm>
            <a:off x="731520" y="1450000"/>
            <a:ext cx="106984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</a:rPr>
              <a:t>All read-only. The agent reads the same systems an engineer would — nothing more.</a:t>
            </a:r>
          </a:p>
        </p:txBody>
      </p:sp>
      <p:sp>
        <p:nvSpPr>
          <p:cNvPr id="6" name="PageNum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</a:rPr>
              <a:t>9 / 9</a:t>
            </a:r>
          </a:p>
        </p:txBody>
      </p:sp>
      <p:sp>
        <p:nvSpPr>
          <p:cNvPr id="10" name="C1Card"/>
          <p:cNvSpPr/>
          <p:nvPr/>
        </p:nvSpPr>
        <p:spPr>
          <a:xfrm>
            <a:off x="571500" y="2000000"/>
            <a:ext cx="3540000" cy="28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1" name="C1Stripe"/>
          <p:cNvSpPr/>
          <p:nvPr/>
        </p:nvSpPr>
        <p:spPr>
          <a:xfrm>
            <a:off x="571500" y="2000000"/>
            <a:ext cx="91440" cy="28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2" name="C1Label"/>
          <p:cNvSpPr/>
          <p:nvPr/>
        </p:nvSpPr>
        <p:spPr>
          <a:xfrm>
            <a:off x="845820" y="2150000"/>
            <a:ext cx="3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1  ·  SERVICENOW</a:t>
            </a:r>
          </a:p>
        </p:txBody>
      </p:sp>
      <p:sp>
        <p:nvSpPr>
          <p:cNvPr id="13" name="C1Head"/>
          <p:cNvSpPr/>
          <p:nvPr/>
        </p:nvSpPr>
        <p:spPr>
          <a:xfrm>
            <a:off x="845820" y="2450000"/>
            <a:ext cx="30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Incident data</a:t>
            </a:r>
          </a:p>
        </p:txBody>
      </p:sp>
      <p:sp>
        <p:nvSpPr>
          <p:cNvPr id="14" name="C1Body"/>
          <p:cNvSpPr/>
          <p:nvPr/>
        </p:nvSpPr>
        <p:spPr>
          <a:xfrm>
            <a:off x="845820" y="2920000"/>
            <a:ext cx="3000000" cy="1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Pull the alert payload, affected job and server, and ticket routing the moment a failure fires — this is what triggers the agent.</a:t>
            </a:r>
          </a:p>
        </p:txBody>
      </p:sp>
      <p:sp>
        <p:nvSpPr>
          <p:cNvPr id="15" name="C1Foot"/>
          <p:cNvSpPr/>
          <p:nvPr/>
        </p:nvSpPr>
        <p:spPr>
          <a:xfrm>
            <a:off x="845820" y="4450000"/>
            <a:ext cx="3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8A8A"/>
                </a:solidFill>
                <a:latin typeface="Calibri" pitchFamily="34" charset="0"/>
              </a:rPr>
              <a:t xml:space="preserve">HOW   </a:t>
            </a: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REST API, read-only</a:t>
            </a:r>
          </a:p>
        </p:txBody>
      </p:sp>
      <p:sp>
        <p:nvSpPr>
          <p:cNvPr id="20" name="C2Card"/>
          <p:cNvSpPr/>
          <p:nvPr/>
        </p:nvSpPr>
        <p:spPr>
          <a:xfrm>
            <a:off x="4311500" y="2000000"/>
            <a:ext cx="3540000" cy="28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1" name="C2Stripe"/>
          <p:cNvSpPr/>
          <p:nvPr/>
        </p:nvSpPr>
        <p:spPr>
          <a:xfrm>
            <a:off x="4311500" y="2000000"/>
            <a:ext cx="91440" cy="28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2" name="C2Label"/>
          <p:cNvSpPr/>
          <p:nvPr/>
        </p:nvSpPr>
        <p:spPr>
          <a:xfrm>
            <a:off x="4585820" y="2150000"/>
            <a:ext cx="3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2  ·  GITHUB</a:t>
            </a:r>
          </a:p>
        </p:txBody>
      </p:sp>
      <p:sp>
        <p:nvSpPr>
          <p:cNvPr id="23" name="C2Head"/>
          <p:cNvSpPr/>
          <p:nvPr/>
        </p:nvSpPr>
        <p:spPr>
          <a:xfrm>
            <a:off x="4585820" y="2450000"/>
            <a:ext cx="30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Code for analysis</a:t>
            </a:r>
          </a:p>
        </p:txBody>
      </p:sp>
      <p:sp>
        <p:nvSpPr>
          <p:cNvPr id="24" name="C2Body"/>
          <p:cNvSpPr/>
          <p:nvPr/>
        </p:nvSpPr>
        <p:spPr>
          <a:xfrm>
            <a:off x="4585820" y="2920000"/>
            <a:ext cx="3000000" cy="1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Repository access to Autosys agent JIL files and SSIS package XML, so the agent can reason about job dependencies, transformations, and connections.</a:t>
            </a:r>
          </a:p>
        </p:txBody>
      </p:sp>
      <p:sp>
        <p:nvSpPr>
          <p:cNvPr id="25" name="C2Foot"/>
          <p:cNvSpPr/>
          <p:nvPr/>
        </p:nvSpPr>
        <p:spPr>
          <a:xfrm>
            <a:off x="4585820" y="4450000"/>
            <a:ext cx="3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8A8A"/>
                </a:solidFill>
                <a:latin typeface="Calibri" pitchFamily="34" charset="0"/>
              </a:rPr>
              <a:t xml:space="preserve">HOW   </a:t>
            </a: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Repo read access</a:t>
            </a:r>
          </a:p>
        </p:txBody>
      </p:sp>
      <p:sp>
        <p:nvSpPr>
          <p:cNvPr id="30" name="C3Card"/>
          <p:cNvSpPr/>
          <p:nvPr/>
        </p:nvSpPr>
        <p:spPr>
          <a:xfrm>
            <a:off x="8051500" y="2000000"/>
            <a:ext cx="3540000" cy="28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1" name="C3Stripe"/>
          <p:cNvSpPr/>
          <p:nvPr/>
        </p:nvSpPr>
        <p:spPr>
          <a:xfrm>
            <a:off x="8051500" y="2000000"/>
            <a:ext cx="91440" cy="28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2" name="C3Label"/>
          <p:cNvSpPr/>
          <p:nvPr/>
        </p:nvSpPr>
        <p:spPr>
          <a:xfrm>
            <a:off x="8325820" y="2150000"/>
            <a:ext cx="31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3  ·  SSIS &amp; SQL DATABASES</a:t>
            </a:r>
          </a:p>
        </p:txBody>
      </p:sp>
      <p:sp>
        <p:nvSpPr>
          <p:cNvPr id="33" name="C3Head"/>
          <p:cNvSpPr/>
          <p:nvPr/>
        </p:nvSpPr>
        <p:spPr>
          <a:xfrm>
            <a:off x="8325820" y="2450000"/>
            <a:ext cx="31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Runtime state</a:t>
            </a:r>
          </a:p>
        </p:txBody>
      </p:sp>
      <p:sp>
        <p:nvSpPr>
          <p:cNvPr id="34" name="C3Body"/>
          <p:cNvSpPr/>
          <p:nvPr/>
        </p:nvSpPr>
        <p:spPr>
          <a:xfrm>
            <a:off x="8325820" y="2920000"/>
            <a:ext cx="3100000" cy="1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Read SSIS server parameters, execution logs and environment variables, plus the database tables, views, and stored procedures the failing job touches.</a:t>
            </a:r>
          </a:p>
        </p:txBody>
      </p:sp>
      <p:sp>
        <p:nvSpPr>
          <p:cNvPr id="35" name="C3Foot"/>
          <p:cNvSpPr/>
          <p:nvPr/>
        </p:nvSpPr>
        <p:spPr>
          <a:xfrm>
            <a:off x="8325820" y="4450000"/>
            <a:ext cx="31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8A8A"/>
                </a:solidFill>
                <a:latin typeface="Calibri" pitchFamily="34" charset="0"/>
              </a:rPr>
              <a:t xml:space="preserve">HOW   </a:t>
            </a:r>
            <a:r>
              <a:rPr lang="en-US" sz="1100" dirty="0">
                <a:solidFill>
                  <a:srgbClr val="1B1B1B"/>
                </a:solidFill>
                <a:latin typeface="Calibri" pitchFamily="34" charset="0"/>
              </a:rPr>
              <a:t>Python executes; LLM passes parameters</a:t>
            </a:r>
          </a:p>
        </p:txBody>
      </p:sp>
      <p:sp>
        <p:nvSpPr>
          <p:cNvPr id="50" name="NoteCard"/>
          <p:cNvSpPr/>
          <p:nvPr/>
        </p:nvSpPr>
        <p:spPr>
          <a:xfrm>
            <a:off x="571500" y="4980000"/>
            <a:ext cx="11020000" cy="12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51" name="NoteStripe"/>
          <p:cNvSpPr/>
          <p:nvPr/>
        </p:nvSpPr>
        <p:spPr>
          <a:xfrm>
            <a:off x="571500" y="4980000"/>
            <a:ext cx="91440" cy="128000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52" name="NoteLabel"/>
          <p:cNvSpPr/>
          <p:nvPr/>
        </p:nvSpPr>
        <p:spPr>
          <a:xfrm>
            <a:off x="845820" y="5100000"/>
            <a:ext cx="6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OPEN QUESTION  ·  TO CONFIRM</a:t>
            </a:r>
          </a:p>
        </p:txBody>
      </p:sp>
      <p:sp>
        <p:nvSpPr>
          <p:cNvPr id="53" name="NoteHead"/>
          <p:cNvSpPr/>
          <p:nvPr/>
        </p:nvSpPr>
        <p:spPr>
          <a:xfrm>
            <a:off x="845820" y="5400000"/>
            <a:ext cx="105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</a:rPr>
              <a:t>Tachyon does not appear to support direct LLM-to-database connectivity today.</a:t>
            </a:r>
          </a:p>
        </p:txBody>
      </p:sp>
      <p:sp>
        <p:nvSpPr>
          <p:cNvPr id="54" name="NoteBody"/>
          <p:cNvSpPr/>
          <p:nvPr/>
        </p:nvSpPr>
        <p:spPr>
          <a:xfrm>
            <a:off x="845820" y="5750000"/>
            <a:ext cx="105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Workaround: the LLM emits structured query parameters and Python runs the queries  —  keeping all DB I/O in code, not in the model. Lower risk, easier to audit, and unblocks us regardless of how this constraint resolves.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697</Words>
  <Application>Microsoft Office PowerPoint</Application>
  <PresentationFormat>Widescreen</PresentationFormat>
  <Paragraphs>133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ETL Incident Diagnosis</dc:title>
  <dc:subject>PptxGenJS Presentation</dc:subject>
  <dc:creator>L2 Support Automation</dc:creator>
  <cp:lastModifiedBy>Seshu Nuthakki</cp:lastModifiedBy>
  <cp:revision>3</cp:revision>
  <dcterms:created xsi:type="dcterms:W3CDTF">2026-04-28T16:01:33Z</dcterms:created>
  <dcterms:modified xsi:type="dcterms:W3CDTF">2026-05-01T13:58:55Z</dcterms:modified>
</cp:coreProperties>
</file>